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2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3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d97feab767148f8" /><Relationship Type="http://schemas.openxmlformats.org/officeDocument/2006/relationships/extended-properties" Target="/docProps/app.xml" Id="R393c2f2b37ab4b75" /><Relationship Type="http://schemas.openxmlformats.org/officeDocument/2006/relationships/officeDocument" Target="/ppt/presentation.xml" Id="Rf4a4f62acdb3449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864572e29e04b7e"/>
  </p:sldMasterIdLst>
  <p:notesMasterIdLst>
    <p:notesMasterId xmlns:r="http://schemas.openxmlformats.org/officeDocument/2006/relationships" r:id="R078d44b5b6d443a8"/>
  </p:notesMasterIdLst>
  <p:sldIdLst>
    <p:sldId xmlns:r="http://schemas.openxmlformats.org/officeDocument/2006/relationships" id="256" r:id="R0c3858244f0946db"/>
    <p:sldId xmlns:r="http://schemas.openxmlformats.org/officeDocument/2006/relationships" id="257" r:id="Rc4cb11010df54fbf"/>
    <p:sldId xmlns:r="http://schemas.openxmlformats.org/officeDocument/2006/relationships" id="258" r:id="Rdf2b1bc1ab08442d"/>
    <p:sldId xmlns:r="http://schemas.openxmlformats.org/officeDocument/2006/relationships" id="259" r:id="R8d7e3e4d251e4dfa"/>
    <p:sldId xmlns:r="http://schemas.openxmlformats.org/officeDocument/2006/relationships" id="260" r:id="Rf5d872fb3e17471e"/>
    <p:sldId xmlns:r="http://schemas.openxmlformats.org/officeDocument/2006/relationships" id="261" r:id="R6c5e60b06c234b12"/>
    <p:sldId xmlns:r="http://schemas.openxmlformats.org/officeDocument/2006/relationships" id="262" r:id="R2fc8cffacfc2462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53da0493134425a" /><Relationship Type="http://schemas.openxmlformats.org/officeDocument/2006/relationships/slideMaster" Target="/ppt/slideMasters/slideMaster1.xml" Id="R7864572e29e04b7e" /><Relationship Type="http://schemas.openxmlformats.org/officeDocument/2006/relationships/notesMaster" Target="/ppt/notesMasters/notesMaster1.xml" Id="R078d44b5b6d443a8" /><Relationship Type="http://schemas.openxmlformats.org/officeDocument/2006/relationships/presProps" Target="/ppt/presProps.xml" Id="R927adf2f9847475e" /><Relationship Type="http://schemas.openxmlformats.org/officeDocument/2006/relationships/tableStyles" Target="/ppt/tableStyles.xml" Id="R44190665870f466a" /><Relationship Type="http://schemas.openxmlformats.org/officeDocument/2006/relationships/slide" Target="/ppt/slides/slide1.xml" Id="R0c3858244f0946db" /><Relationship Type="http://schemas.openxmlformats.org/officeDocument/2006/relationships/slide" Target="/ppt/slides/slide2.xml" Id="Rc4cb11010df54fbf" /><Relationship Type="http://schemas.openxmlformats.org/officeDocument/2006/relationships/slide" Target="/ppt/slides/slide3.xml" Id="Rdf2b1bc1ab08442d" /><Relationship Type="http://schemas.openxmlformats.org/officeDocument/2006/relationships/slide" Target="/ppt/slides/slide4.xml" Id="R8d7e3e4d251e4dfa" /><Relationship Type="http://schemas.openxmlformats.org/officeDocument/2006/relationships/slide" Target="/ppt/slides/slide5.xml" Id="Rf5d872fb3e17471e" /><Relationship Type="http://schemas.openxmlformats.org/officeDocument/2006/relationships/slide" Target="/ppt/slides/slide6.xml" Id="R6c5e60b06c234b12" /><Relationship Type="http://schemas.openxmlformats.org/officeDocument/2006/relationships/slide" Target="/ppt/slides/slide7.xml" Id="R2fc8cffacfc2462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5762ffd2607431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c69508da02f4d51" /><Relationship Type="http://schemas.openxmlformats.org/officeDocument/2006/relationships/notesMaster" Target="/ppt/notesMasters/notesMaster1.xml" Id="R22b8b729f67540d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567495e94834a6d" /><Relationship Type="http://schemas.openxmlformats.org/officeDocument/2006/relationships/notesMaster" Target="/ppt/notesMasters/notesMaster1.xml" Id="R448faefd1d11499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6042a39ea524470" /><Relationship Type="http://schemas.openxmlformats.org/officeDocument/2006/relationships/notesMaster" Target="/ppt/notesMasters/notesMaster1.xml" Id="Ra47d7949c07c453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b69c09bdf0941e3" /><Relationship Type="http://schemas.openxmlformats.org/officeDocument/2006/relationships/notesMaster" Target="/ppt/notesMasters/notesMaster1.xml" Id="R73f30b35662f4f9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2188d6af55643e3" /><Relationship Type="http://schemas.openxmlformats.org/officeDocument/2006/relationships/notesMaster" Target="/ppt/notesMasters/notesMaster1.xml" Id="R6f53962a0bad41c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12731d9790a422f" /><Relationship Type="http://schemas.openxmlformats.org/officeDocument/2006/relationships/notesMaster" Target="/ppt/notesMasters/notesMaster1.xml" Id="R081b1904391e4f2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a233dcbb4264500" /><Relationship Type="http://schemas.openxmlformats.org/officeDocument/2006/relationships/notesMaster" Target="/ppt/notesMasters/notesMaster1.xml" Id="Rf52a153fbf1640e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BLUF/Ask. State the complete request immediately. Approve SAR 40M; release initial SAR 10M only after approval of metric, baseline, comparison design, service plans and cost; hold SAR 30M for review. Big Idea: target the adoption gap with phased funding, validating the metric and demand before any intervention or release.</a:t>
            </a:r>
          </a:p>
          <a:p xmlns:a="http://schemas.openxmlformats.org/drawingml/2006/main">
            <a:r>
              <a:t>Source: https://drive.google.com/file/d/1T6pweFV4EjBxZ75gge775OOYMYx2aKX0/view</a:t>
            </a:r>
          </a:p>
          <a:p xmlns:a="http://schemas.openxmlformats.org/drawingml/2006/main">
            <a:r>
              <a:t>Method: Arithmetic mean of digital_adoption_pct, matching supplied labs. This is a course index, not digital transactions / total transactions.</a:t>
            </a:r>
          </a:p>
          <a:p xmlns:a="http://schemas.openxmlformats.org/drawingml/2006/main">
            <a:r>
              <a:t>Period: December 2025 unless the chart is a monthly trend.</a:t>
            </a:r>
          </a:p>
          <a:p xmlns:a="http://schemas.openxmlformats.org/drawingml/2006/main">
            <a:r>
              <a:t>All data are synthetic.</a:t>
            </a:r>
          </a:p>
          <a:p xmlns:a="http://schemas.openxmlformats.org/drawingml/2006/main">
            <a:r>
              <a:t>Source definitions: https://drive.google.com/file/d/1htqVTYconACXDD28CACXOpz8VAyz8Xm5/view</a:t>
            </a:r>
          </a:p>
          <a:p xmlns:a="http://schemas.openxmlformats.org/drawingml/2006/main">
            <a:r>
              <a:t>Course calculation reference: https://drive.google.com/file/d/1_DAzbKnnIl4dn1JN2hffwhCueJOoqPOh/view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Situation. Orient the audience to monthly dates, a 0–100% axis and the 65% target. January 2022: 51.40%; December 2025: 63.33%; increase: 11.93 percentage points. No unsupported date for future target attainment.</a:t>
            </a:r>
          </a:p>
          <a:p xmlns:a="http://schemas.openxmlformats.org/drawingml/2006/main">
            <a:r>
              <a:t>Source: https://drive.google.com/file/d/1T6pweFV4EjBxZ75gge775OOYMYx2aKX0/view</a:t>
            </a:r>
          </a:p>
          <a:p xmlns:a="http://schemas.openxmlformats.org/drawingml/2006/main">
            <a:r>
              <a:t>Method: Arithmetic mean of digital_adoption_pct, matching supplied labs. This is a course index, not digital transactions / total transactions.</a:t>
            </a:r>
          </a:p>
          <a:p xmlns:a="http://schemas.openxmlformats.org/drawingml/2006/main">
            <a:r>
              <a:t>Period: December 2025 unless the chart is a monthly trend.</a:t>
            </a:r>
          </a:p>
          <a:p xmlns:a="http://schemas.openxmlformats.org/drawingml/2006/main">
            <a:r>
              <a:t>All data are synthetic.</a:t>
            </a:r>
          </a:p>
          <a:p xmlns:a="http://schemas.openxmlformats.org/drawingml/2006/main">
            <a:r>
              <a:t>Source definitions: https://drive.google.com/file/d/1htqVTYconACXDD28CACXOpz8VAyz8Xm5/view</a:t>
            </a:r>
          </a:p>
          <a:p xmlns:a="http://schemas.openxmlformats.org/drawingml/2006/main">
            <a:r>
              <a:t>Course calculation reference: https://drive.google.com/file/d/1_DAzbKnnIl4dn1JN2hffwhCueJOoqPOh/view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Complication. Orient to horizontal region bars, 0–100% scale, December 2025 and 65% reference. Nine below and four at/above target. Najran is lowest at 58.89%. Funding requires both gap and activity, not the lowest rate alone. Orange reference is 65%.</a:t>
            </a:r>
          </a:p>
          <a:p xmlns:a="http://schemas.openxmlformats.org/drawingml/2006/main">
            <a:r>
              <a:t>Source: https://drive.google.com/file/d/1T6pweFV4EjBxZ75gge775OOYMYx2aKX0/view</a:t>
            </a:r>
          </a:p>
          <a:p xmlns:a="http://schemas.openxmlformats.org/drawingml/2006/main">
            <a:r>
              <a:t>Method: Arithmetic mean of digital_adoption_pct, matching supplied labs. This is a course index, not digital transactions / total transactions.</a:t>
            </a:r>
          </a:p>
          <a:p xmlns:a="http://schemas.openxmlformats.org/drawingml/2006/main">
            <a:r>
              <a:t>Period: December 2025 unless the chart is a monthly trend.</a:t>
            </a:r>
          </a:p>
          <a:p xmlns:a="http://schemas.openxmlformats.org/drawingml/2006/main">
            <a:r>
              <a:t>All data are synthetic.</a:t>
            </a:r>
          </a:p>
          <a:p xmlns:a="http://schemas.openxmlformats.org/drawingml/2006/main">
            <a:r>
              <a:t>Source definitions: https://drive.google.com/file/d/1htqVTYconACXDD28CACXOpz8VAyz8Xm5/view</a:t>
            </a:r>
          </a:p>
          <a:p xmlns:a="http://schemas.openxmlformats.org/drawingml/2006/main">
            <a:r>
              <a:t>Course calculation reference: https://drive.google.com/file/d/1_DAzbKnnIl4dn1JN2hffwhCueJOoqPOh/view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Evidence. Orient to December 2025, nine region bars, the 0–600 priority index and the target-gap annotations. Index = max(65 - regional arithmetic mean, 0)/100 × latest-month transactions. Scores: Najran 570.1185, Jazan 455.0824, Northern Borders 446.2597, Al-Baha 445.6012. Third and fourth differ by only 0.6585 index units; that is not a robust separation. Combined top-three share of nine laggard priority scores: 42.6146%. Alternative transaction weighting gives national 66.1186% and ranks Najran, Northern Borders, Al-Baha. These are material sensitivities. Fix the metric and validate demand before scaling. Descriptive data do not prove causes or returns. Chart uses source CSV and the workbook field definitions; it is not a Tableau-export screenshot.</a:t>
            </a:r>
          </a:p>
          <a:p xmlns:a="http://schemas.openxmlformats.org/drawingml/2006/main">
            <a:r>
              <a:t>Source: https://drive.google.com/file/d/1T6pweFV4EjBxZ75gge775OOYMYx2aKX0/view</a:t>
            </a:r>
          </a:p>
          <a:p xmlns:a="http://schemas.openxmlformats.org/drawingml/2006/main">
            <a:r>
              <a:t>Method: Arithmetic mean of digital_adoption_pct, matching supplied labs. This is a course index, not digital transactions / total transactions.</a:t>
            </a:r>
          </a:p>
          <a:p xmlns:a="http://schemas.openxmlformats.org/drawingml/2006/main">
            <a:r>
              <a:t>Period: December 2025 unless the chart is a monthly trend.</a:t>
            </a:r>
          </a:p>
          <a:p xmlns:a="http://schemas.openxmlformats.org/drawingml/2006/main">
            <a:r>
              <a:t>All data are synthetic.</a:t>
            </a:r>
          </a:p>
          <a:p xmlns:a="http://schemas.openxmlformats.org/drawingml/2006/main">
            <a:r>
              <a:t>Source definitions: https://drive.google.com/file/d/1htqVTYconACXDD28CACXOpz8VAyz8Xm5/view</a:t>
            </a:r>
          </a:p>
          <a:p xmlns:a="http://schemas.openxmlformats.org/drawingml/2006/main">
            <a:r>
              <a:t>Course calculation reference: https://drive.google.com/file/d/1_DAzbKnnIl4dn1JN2hffwhCueJOoqPOh/view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Options. Compare equal nine-region coverage, full concentration and staged investment. Select staged because metric sensitivity and the lack of a causal response model warrant learning before the full release. Equal allocation 40/9 = 4.444M, rounded for display only.</a:t>
            </a:r>
          </a:p>
          <a:p xmlns:a="http://schemas.openxmlformats.org/drawingml/2006/main">
            <a:r>
              <a:t>Source: https://drive.google.com/file/d/1T6pweFV4EjBxZ75gge775OOYMYx2aKX0/view</a:t>
            </a:r>
          </a:p>
          <a:p xmlns:a="http://schemas.openxmlformats.org/drawingml/2006/main">
            <a:r>
              <a:t>Method: Arithmetic mean of digital_adoption_pct, matching supplied labs. This is a course index, not digital transactions / total transactions.</a:t>
            </a:r>
          </a:p>
          <a:p xmlns:a="http://schemas.openxmlformats.org/drawingml/2006/main">
            <a:r>
              <a:t>Period: December 2025 unless the chart is a monthly trend.</a:t>
            </a:r>
          </a:p>
          <a:p xmlns:a="http://schemas.openxmlformats.org/drawingml/2006/main">
            <a:r>
              <a:t>All data are synthetic.</a:t>
            </a:r>
          </a:p>
          <a:p xmlns:a="http://schemas.openxmlformats.org/drawingml/2006/main">
            <a:r>
              <a:t>Source definitions: https://drive.google.com/file/d/1htqVTYconACXDD28CACXOpz8VAyz8Xm5/view</a:t>
            </a:r>
          </a:p>
          <a:p xmlns:a="http://schemas.openxmlformats.org/drawingml/2006/main">
            <a:r>
              <a:t>Course calculation reference: https://drive.google.com/file/d/1_DAzbKnnIl4dn1JN2hffwhCueJOoqPOh/view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Recommendation. SAR 35M proportional to the current top-three score, rounded using largest remainders, plus SAR 5M reserve. Intended effect: raise selected-region adoption without degrading service. Illustrative national scenario: 63.328346 + (6.11125+4.33825+4.08775)/13 = 64.44660%. This is conditional arithmetic, not a forecast or causal return. A next wave would still be needed. No observed investment-response coefficients are available.</a:t>
            </a:r>
          </a:p>
          <a:p xmlns:a="http://schemas.openxmlformats.org/drawingml/2006/main">
            <a:r>
              <a:t>Source: https://drive.google.com/file/d/1T6pweFV4EjBxZ75gge775OOYMYx2aKX0/view</a:t>
            </a:r>
          </a:p>
          <a:p xmlns:a="http://schemas.openxmlformats.org/drawingml/2006/main">
            <a:r>
              <a:t>Method: Arithmetic mean of digital_adoption_pct, matching supplied labs. This is a course index, not digital transactions / total transactions.</a:t>
            </a:r>
          </a:p>
          <a:p xmlns:a="http://schemas.openxmlformats.org/drawingml/2006/main">
            <a:r>
              <a:t>Period: December 2025 unless the chart is a monthly trend.</a:t>
            </a:r>
          </a:p>
          <a:p xmlns:a="http://schemas.openxmlformats.org/drawingml/2006/main">
            <a:r>
              <a:t>All data are synthetic.</a:t>
            </a:r>
          </a:p>
          <a:p xmlns:a="http://schemas.openxmlformats.org/drawingml/2006/main">
            <a:r>
              <a:t>Source definitions: https://drive.google.com/file/d/1htqVTYconACXDD28CACXOpz8VAyz8Xm5/view</a:t>
            </a:r>
          </a:p>
          <a:p xmlns:a="http://schemas.openxmlformats.org/drawingml/2006/main">
            <a:r>
              <a:t>Course calculation reference: https://drive.google.com/file/d/1_DAzbKnnIl4dn1JN2hffwhCueJOoqPOh/view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Ask and next step. Approve 40M, authorize initial 10M only after approval of metric, baseline, comparison design, service plan and cost; hold 30M. Nominate owner on approval Day 0. Validate shortlist and approve baseline before any intervention or release; launch within 30 days if ready. Day 90 is counted from envelope approval; report pilot exposure and extend review if insufficient. Suggested +2pp is a management goal, not a causal forecast. Assess matched CSAT/SLA, costs and comparison design. Rerank if metric changes.</a:t>
            </a:r>
          </a:p>
          <a:p xmlns:a="http://schemas.openxmlformats.org/drawingml/2006/main">
            <a:r>
              <a:t>Source: https://drive.google.com/file/d/1T6pweFV4EjBxZ75gge775OOYMYx2aKX0/view</a:t>
            </a:r>
          </a:p>
          <a:p xmlns:a="http://schemas.openxmlformats.org/drawingml/2006/main">
            <a:r>
              <a:t>Method: Arithmetic mean of digital_adoption_pct, matching supplied labs. This is a course index, not digital transactions / total transactions.</a:t>
            </a:r>
          </a:p>
          <a:p xmlns:a="http://schemas.openxmlformats.org/drawingml/2006/main">
            <a:r>
              <a:t>Period: December 2025 unless the chart is a monthly trend.</a:t>
            </a:r>
          </a:p>
          <a:p xmlns:a="http://schemas.openxmlformats.org/drawingml/2006/main">
            <a:r>
              <a:t>All data are synthetic.</a:t>
            </a:r>
          </a:p>
          <a:p xmlns:a="http://schemas.openxmlformats.org/drawingml/2006/main">
            <a:r>
              <a:t>Source definitions: https://drive.google.com/file/d/1htqVTYconACXDD28CACXOpz8VAyz8Xm5/view</a:t>
            </a:r>
          </a:p>
          <a:p xmlns:a="http://schemas.openxmlformats.org/drawingml/2006/main">
            <a:r>
              <a:t>Course calculation reference: https://drive.google.com/file/d/1_DAzbKnnIl4dn1JN2hffwhCueJOoqPOh/view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f0f83c5f5041f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6c7f7c0f2064a81" /><Relationship Type="http://schemas.openxmlformats.org/officeDocument/2006/relationships/slideLayout" Target="/ppt/slideLayouts/slideLayout1.xml" Id="R52908d3b4f6d4b1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2908d3b4f6d4b1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692e6df0d649e4" /><Relationship Type="http://schemas.openxmlformats.org/officeDocument/2006/relationships/notesSlide" Target="/ppt/notesSlides/notesSlide1.xml" Id="R7840def18ad0419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e431df218c4ef7" /><Relationship Type="http://schemas.openxmlformats.org/officeDocument/2006/relationships/chart" Target="/ppt/slides/charts/chart1.xml" Id="R8d7eaa1160c64cdb" /><Relationship Type="http://schemas.openxmlformats.org/officeDocument/2006/relationships/notesSlide" Target="/ppt/notesSlides/notesSlide2.xml" Id="R4609eb0e85524c2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18accd2243462d" /><Relationship Type="http://schemas.openxmlformats.org/officeDocument/2006/relationships/chart" Target="/ppt/slides/charts/chart2.xml" Id="R1d3c14d626b04ada" /><Relationship Type="http://schemas.openxmlformats.org/officeDocument/2006/relationships/notesSlide" Target="/ppt/notesSlides/notesSlide3.xml" Id="Rec65de49edb347e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87a841a86a4287" /><Relationship Type="http://schemas.openxmlformats.org/officeDocument/2006/relationships/chart" Target="/ppt/slides/charts/chart3.xml" Id="R7a85ec0721d84117" /><Relationship Type="http://schemas.openxmlformats.org/officeDocument/2006/relationships/notesSlide" Target="/ppt/notesSlides/notesSlide4.xml" Id="R95897e6afbc8434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bb011a010b4555" /><Relationship Type="http://schemas.openxmlformats.org/officeDocument/2006/relationships/notesSlide" Target="/ppt/notesSlides/notesSlide5.xml" Id="R6fa1108bd17d42e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5518fbdb5c4eea" /><Relationship Type="http://schemas.openxmlformats.org/officeDocument/2006/relationships/notesSlide" Target="/ppt/notesSlides/notesSlide6.xml" Id="R66d26547149d43f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06cd27f1bc456b" /><Relationship Type="http://schemas.openxmlformats.org/officeDocument/2006/relationships/notesSlide" Target="/ppt/notesSlides/notesSlide7.xml" Id="R40c1b096dfe24c5e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ser>
          <c:idx val="0"/>
          <c:order val="0"/>
          <c:tx>
            <c:v>Course adoption index</c:v>
          </c:tx>
          <c:spPr>
            <a:ln xmlns:a="http://schemas.openxmlformats.org/drawingml/2006/main" w="28575">
              <a:solidFill>
                <a:srgbClr val="087D82"/>
              </a:solidFill>
            </a:ln>
          </c:spPr>
          <c:marker>
            <c:symbol val="none"/>
          </c:marker>
          <c:dLbls>
            <c:dLbl>
              <c:idx val="4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575" b="1">
                        <a:latin typeface="Arial"/>
                        <a:ea typeface="Arial"/>
                        <a:cs typeface="Arial"/>
                      </a:rPr>
                      <a:t>63.33%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575" b="1">
                      <a:latin typeface="Arial"/>
                      <a:ea typeface="Arial"/>
                      <a:cs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350">
                    <a:latin typeface="Arial"/>
                    <a:ea typeface="Arial"/>
                    <a:cs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'Chart Data'!$A$2:$A$49</c:f>
              <c:strCache>
                <c:ptCount val="48"/>
                <c:pt idx="0">
                  <c:v>2022-01</c:v>
                </c:pt>
                <c:pt idx="1">
                  <c:v>2022-02</c:v>
                </c:pt>
                <c:pt idx="2">
                  <c:v>2022-03</c:v>
                </c:pt>
                <c:pt idx="3">
                  <c:v>2022-04</c:v>
                </c:pt>
                <c:pt idx="4">
                  <c:v>2022-05</c:v>
                </c:pt>
                <c:pt idx="5">
                  <c:v>2022-06</c:v>
                </c:pt>
                <c:pt idx="6">
                  <c:v>2022-07</c:v>
                </c:pt>
                <c:pt idx="7">
                  <c:v>2022-08</c:v>
                </c:pt>
                <c:pt idx="8">
                  <c:v>2022-09</c:v>
                </c:pt>
                <c:pt idx="9">
                  <c:v>2022-10</c:v>
                </c:pt>
                <c:pt idx="10">
                  <c:v>2022-11</c:v>
                </c:pt>
                <c:pt idx="11">
                  <c:v>2022-12</c:v>
                </c:pt>
                <c:pt idx="12">
                  <c:v>2023-01</c:v>
                </c:pt>
                <c:pt idx="13">
                  <c:v>2023-02</c:v>
                </c:pt>
                <c:pt idx="14">
                  <c:v>2023-03</c:v>
                </c:pt>
                <c:pt idx="15">
                  <c:v>2023-04</c:v>
                </c:pt>
                <c:pt idx="16">
                  <c:v>2023-05</c:v>
                </c:pt>
                <c:pt idx="17">
                  <c:v>2023-06</c:v>
                </c:pt>
                <c:pt idx="18">
                  <c:v>2023-07</c:v>
                </c:pt>
                <c:pt idx="19">
                  <c:v>2023-08</c:v>
                </c:pt>
                <c:pt idx="20">
                  <c:v>2023-09</c:v>
                </c:pt>
                <c:pt idx="21">
                  <c:v>2023-10</c:v>
                </c:pt>
                <c:pt idx="22">
                  <c:v>2023-11</c:v>
                </c:pt>
                <c:pt idx="23">
                  <c:v>2023-12</c:v>
                </c:pt>
                <c:pt idx="24">
                  <c:v>2024-01</c:v>
                </c:pt>
                <c:pt idx="25">
                  <c:v>2024-02</c:v>
                </c:pt>
                <c:pt idx="26">
                  <c:v>2024-03</c:v>
                </c:pt>
                <c:pt idx="27">
                  <c:v>2024-04</c:v>
                </c:pt>
                <c:pt idx="28">
                  <c:v>2024-05</c:v>
                </c:pt>
                <c:pt idx="29">
                  <c:v>2024-06</c:v>
                </c:pt>
                <c:pt idx="30">
                  <c:v>2024-07</c:v>
                </c:pt>
                <c:pt idx="31">
                  <c:v>2024-08</c:v>
                </c:pt>
                <c:pt idx="32">
                  <c:v>2024-09</c:v>
                </c:pt>
                <c:pt idx="33">
                  <c:v>2024-10</c:v>
                </c:pt>
                <c:pt idx="34">
                  <c:v>2024-11</c:v>
                </c:pt>
                <c:pt idx="35">
                  <c:v>2024-12</c:v>
                </c:pt>
                <c:pt idx="36">
                  <c:v>2025-01</c:v>
                </c:pt>
                <c:pt idx="37">
                  <c:v>2025-02</c:v>
                </c:pt>
                <c:pt idx="38">
                  <c:v>2025-03</c:v>
                </c:pt>
                <c:pt idx="39">
                  <c:v>2025-04</c:v>
                </c:pt>
                <c:pt idx="40">
                  <c:v>2025-05</c:v>
                </c:pt>
                <c:pt idx="41">
                  <c:v>2025-06</c:v>
                </c:pt>
                <c:pt idx="42">
                  <c:v>2025-07</c:v>
                </c:pt>
                <c:pt idx="43">
                  <c:v>2025-08</c:v>
                </c:pt>
                <c:pt idx="44">
                  <c:v>2025-09</c:v>
                </c:pt>
                <c:pt idx="45">
                  <c:v>2025-10</c:v>
                </c:pt>
                <c:pt idx="46">
                  <c:v>2025-11</c:v>
                </c:pt>
                <c:pt idx="47">
                  <c:v>2025-12</c:v>
                </c:pt>
              </c:strCache>
            </c:strRef>
          </c:cat>
          <c:val>
            <c:numRef>
              <c:f>'Chart Data'!$B$2:$B$49</c:f>
              <c:numCache>
                <c:formatCode>0"%"</c:formatCode>
                <c:ptCount val="48"/>
                <c:pt idx="0">
                  <c:v>51.4</c:v>
                </c:pt>
                <c:pt idx="1">
                  <c:v>51.43</c:v>
                </c:pt>
                <c:pt idx="2">
                  <c:v>51.89</c:v>
                </c:pt>
                <c:pt idx="3">
                  <c:v>52.04</c:v>
                </c:pt>
                <c:pt idx="4">
                  <c:v>52.49</c:v>
                </c:pt>
                <c:pt idx="5">
                  <c:v>52.4</c:v>
                </c:pt>
                <c:pt idx="6">
                  <c:v>52.83</c:v>
                </c:pt>
                <c:pt idx="7">
                  <c:v>53.29</c:v>
                </c:pt>
                <c:pt idx="8">
                  <c:v>53.07</c:v>
                </c:pt>
                <c:pt idx="9">
                  <c:v>53.67</c:v>
                </c:pt>
                <c:pt idx="10">
                  <c:v>54.1</c:v>
                </c:pt>
                <c:pt idx="11">
                  <c:v>53.87</c:v>
                </c:pt>
                <c:pt idx="12">
                  <c:v>54.25</c:v>
                </c:pt>
                <c:pt idx="13">
                  <c:v>54.68</c:v>
                </c:pt>
                <c:pt idx="14">
                  <c:v>54.83</c:v>
                </c:pt>
                <c:pt idx="15">
                  <c:v>55.09</c:v>
                </c:pt>
                <c:pt idx="16">
                  <c:v>55.66</c:v>
                </c:pt>
                <c:pt idx="17">
                  <c:v>55.72</c:v>
                </c:pt>
                <c:pt idx="18">
                  <c:v>56.04</c:v>
                </c:pt>
                <c:pt idx="19">
                  <c:v>56.23</c:v>
                </c:pt>
                <c:pt idx="20">
                  <c:v>56.58</c:v>
                </c:pt>
                <c:pt idx="21">
                  <c:v>56.52</c:v>
                </c:pt>
                <c:pt idx="22">
                  <c:v>56.92</c:v>
                </c:pt>
                <c:pt idx="23">
                  <c:v>57.12</c:v>
                </c:pt>
                <c:pt idx="24">
                  <c:v>57.68</c:v>
                </c:pt>
                <c:pt idx="25">
                  <c:v>57.77</c:v>
                </c:pt>
                <c:pt idx="26">
                  <c:v>57.94</c:v>
                </c:pt>
                <c:pt idx="27">
                  <c:v>58.21</c:v>
                </c:pt>
                <c:pt idx="28">
                  <c:v>58.61</c:v>
                </c:pt>
                <c:pt idx="29">
                  <c:v>58.75</c:v>
                </c:pt>
                <c:pt idx="30">
                  <c:v>59.2</c:v>
                </c:pt>
                <c:pt idx="31">
                  <c:v>59.18</c:v>
                </c:pt>
                <c:pt idx="32">
                  <c:v>59.72</c:v>
                </c:pt>
                <c:pt idx="33">
                  <c:v>60</c:v>
                </c:pt>
                <c:pt idx="34">
                  <c:v>59.88</c:v>
                </c:pt>
                <c:pt idx="35">
                  <c:v>60.28</c:v>
                </c:pt>
                <c:pt idx="36">
                  <c:v>60.69</c:v>
                </c:pt>
                <c:pt idx="37">
                  <c:v>60.95</c:v>
                </c:pt>
                <c:pt idx="38">
                  <c:v>60.96</c:v>
                </c:pt>
                <c:pt idx="39">
                  <c:v>61.27</c:v>
                </c:pt>
                <c:pt idx="40">
                  <c:v>61.35</c:v>
                </c:pt>
                <c:pt idx="41">
                  <c:v>61.94</c:v>
                </c:pt>
                <c:pt idx="42">
                  <c:v>62.16</c:v>
                </c:pt>
                <c:pt idx="43">
                  <c:v>62.41</c:v>
                </c:pt>
                <c:pt idx="44">
                  <c:v>62.72</c:v>
                </c:pt>
                <c:pt idx="45">
                  <c:v>62.88</c:v>
                </c:pt>
                <c:pt idx="46">
                  <c:v>63.13</c:v>
                </c:pt>
                <c:pt idx="47">
                  <c:v>63.33</c:v>
                </c:pt>
              </c:numCache>
            </c:numRef>
          </c:val>
        </c:ser>
        <c:ser>
          <c:idx val="1"/>
          <c:order val="1"/>
          <c:tx>
            <c:v>65% target</c:v>
          </c:tx>
          <c:spPr>
            <a:ln xmlns:a="http://schemas.openxmlformats.org/drawingml/2006/main" w="19050">
              <a:solidFill>
                <a:srgbClr val="B45C16"/>
              </a:solidFill>
              <a:prstDash val="dash"/>
            </a:ln>
          </c:spPr>
          <c:marker>
            <c:symbol val="none"/>
          </c:marker>
          <c:dLbls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575" b="1">
                        <a:latin typeface="Arial"/>
                        <a:ea typeface="Arial"/>
                        <a:cs typeface="Arial"/>
                      </a:rPr>
                      <a:t>65% target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575" b="1">
                      <a:latin typeface="Arial"/>
                      <a:ea typeface="Arial"/>
                      <a:cs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350">
                    <a:latin typeface="Arial"/>
                    <a:ea typeface="Arial"/>
                    <a:cs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'Chart Data'!$C$2:$C$49</c:f>
              <c:strCache>
                <c:ptCount val="48"/>
                <c:pt idx="0">
                  <c:v>2022-01</c:v>
                </c:pt>
                <c:pt idx="1">
                  <c:v>2022-02</c:v>
                </c:pt>
                <c:pt idx="2">
                  <c:v>2022-03</c:v>
                </c:pt>
                <c:pt idx="3">
                  <c:v>2022-04</c:v>
                </c:pt>
                <c:pt idx="4">
                  <c:v>2022-05</c:v>
                </c:pt>
                <c:pt idx="5">
                  <c:v>2022-06</c:v>
                </c:pt>
                <c:pt idx="6">
                  <c:v>2022-07</c:v>
                </c:pt>
                <c:pt idx="7">
                  <c:v>2022-08</c:v>
                </c:pt>
                <c:pt idx="8">
                  <c:v>2022-09</c:v>
                </c:pt>
                <c:pt idx="9">
                  <c:v>2022-10</c:v>
                </c:pt>
                <c:pt idx="10">
                  <c:v>2022-11</c:v>
                </c:pt>
                <c:pt idx="11">
                  <c:v>2022-12</c:v>
                </c:pt>
                <c:pt idx="12">
                  <c:v>2023-01</c:v>
                </c:pt>
                <c:pt idx="13">
                  <c:v>2023-02</c:v>
                </c:pt>
                <c:pt idx="14">
                  <c:v>2023-03</c:v>
                </c:pt>
                <c:pt idx="15">
                  <c:v>2023-04</c:v>
                </c:pt>
                <c:pt idx="16">
                  <c:v>2023-05</c:v>
                </c:pt>
                <c:pt idx="17">
                  <c:v>2023-06</c:v>
                </c:pt>
                <c:pt idx="18">
                  <c:v>2023-07</c:v>
                </c:pt>
                <c:pt idx="19">
                  <c:v>2023-08</c:v>
                </c:pt>
                <c:pt idx="20">
                  <c:v>2023-09</c:v>
                </c:pt>
                <c:pt idx="21">
                  <c:v>2023-10</c:v>
                </c:pt>
                <c:pt idx="22">
                  <c:v>2023-11</c:v>
                </c:pt>
                <c:pt idx="23">
                  <c:v>2023-12</c:v>
                </c:pt>
                <c:pt idx="24">
                  <c:v>2024-01</c:v>
                </c:pt>
                <c:pt idx="25">
                  <c:v>2024-02</c:v>
                </c:pt>
                <c:pt idx="26">
                  <c:v>2024-03</c:v>
                </c:pt>
                <c:pt idx="27">
                  <c:v>2024-04</c:v>
                </c:pt>
                <c:pt idx="28">
                  <c:v>2024-05</c:v>
                </c:pt>
                <c:pt idx="29">
                  <c:v>2024-06</c:v>
                </c:pt>
                <c:pt idx="30">
                  <c:v>2024-07</c:v>
                </c:pt>
                <c:pt idx="31">
                  <c:v>2024-08</c:v>
                </c:pt>
                <c:pt idx="32">
                  <c:v>2024-09</c:v>
                </c:pt>
                <c:pt idx="33">
                  <c:v>2024-10</c:v>
                </c:pt>
                <c:pt idx="34">
                  <c:v>2024-11</c:v>
                </c:pt>
                <c:pt idx="35">
                  <c:v>2024-12</c:v>
                </c:pt>
                <c:pt idx="36">
                  <c:v>2025-01</c:v>
                </c:pt>
                <c:pt idx="37">
                  <c:v>2025-02</c:v>
                </c:pt>
                <c:pt idx="38">
                  <c:v>2025-03</c:v>
                </c:pt>
                <c:pt idx="39">
                  <c:v>2025-04</c:v>
                </c:pt>
                <c:pt idx="40">
                  <c:v>2025-05</c:v>
                </c:pt>
                <c:pt idx="41">
                  <c:v>2025-06</c:v>
                </c:pt>
                <c:pt idx="42">
                  <c:v>2025-07</c:v>
                </c:pt>
                <c:pt idx="43">
                  <c:v>2025-08</c:v>
                </c:pt>
                <c:pt idx="44">
                  <c:v>2025-09</c:v>
                </c:pt>
                <c:pt idx="45">
                  <c:v>2025-10</c:v>
                </c:pt>
                <c:pt idx="46">
                  <c:v>2025-11</c:v>
                </c:pt>
                <c:pt idx="47">
                  <c:v>2025-12</c:v>
                </c:pt>
              </c:strCache>
            </c:strRef>
          </c:cat>
          <c:val>
            <c:numRef>
              <c:f>'Chart Data'!$D$2:$D$49</c:f>
              <c:numCache>
                <c:formatCode>0"%"</c:formatCode>
                <c:ptCount val="48"/>
                <c:pt idx="0">
                  <c:v>65</c:v>
                </c:pt>
                <c:pt idx="1">
                  <c:v>65</c:v>
                </c:pt>
                <c:pt idx="2">
                  <c:v>65</c:v>
                </c:pt>
                <c:pt idx="3">
                  <c:v>65</c:v>
                </c:pt>
                <c:pt idx="4">
                  <c:v>65</c:v>
                </c:pt>
                <c:pt idx="5">
                  <c:v>65</c:v>
                </c:pt>
                <c:pt idx="6">
                  <c:v>65</c:v>
                </c:pt>
                <c:pt idx="7">
                  <c:v>65</c:v>
                </c:pt>
                <c:pt idx="8">
                  <c:v>65</c:v>
                </c:pt>
                <c:pt idx="9">
                  <c:v>65</c:v>
                </c:pt>
                <c:pt idx="10">
                  <c:v>65</c:v>
                </c:pt>
                <c:pt idx="11">
                  <c:v>65</c:v>
                </c:pt>
                <c:pt idx="12">
                  <c:v>65</c:v>
                </c:pt>
                <c:pt idx="13">
                  <c:v>65</c:v>
                </c:pt>
                <c:pt idx="14">
                  <c:v>65</c:v>
                </c:pt>
                <c:pt idx="15">
                  <c:v>65</c:v>
                </c:pt>
                <c:pt idx="16">
                  <c:v>65</c:v>
                </c:pt>
                <c:pt idx="17">
                  <c:v>65</c:v>
                </c:pt>
                <c:pt idx="18">
                  <c:v>65</c:v>
                </c:pt>
                <c:pt idx="19">
                  <c:v>65</c:v>
                </c:pt>
                <c:pt idx="20">
                  <c:v>65</c:v>
                </c:pt>
                <c:pt idx="21">
                  <c:v>65</c:v>
                </c:pt>
                <c:pt idx="22">
                  <c:v>65</c:v>
                </c:pt>
                <c:pt idx="23">
                  <c:v>65</c:v>
                </c:pt>
                <c:pt idx="24">
                  <c:v>65</c:v>
                </c:pt>
                <c:pt idx="25">
                  <c:v>65</c:v>
                </c:pt>
                <c:pt idx="26">
                  <c:v>65</c:v>
                </c:pt>
                <c:pt idx="27">
                  <c:v>65</c:v>
                </c:pt>
                <c:pt idx="28">
                  <c:v>65</c:v>
                </c:pt>
                <c:pt idx="29">
                  <c:v>65</c:v>
                </c:pt>
                <c:pt idx="30">
                  <c:v>65</c:v>
                </c:pt>
                <c:pt idx="31">
                  <c:v>65</c:v>
                </c:pt>
                <c:pt idx="32">
                  <c:v>65</c:v>
                </c:pt>
                <c:pt idx="33">
                  <c:v>65</c:v>
                </c:pt>
                <c:pt idx="34">
                  <c:v>65</c:v>
                </c:pt>
                <c:pt idx="35">
                  <c:v>65</c:v>
                </c:pt>
                <c:pt idx="36">
                  <c:v>65</c:v>
                </c:pt>
                <c:pt idx="37">
                  <c:v>65</c:v>
                </c:pt>
                <c:pt idx="38">
                  <c:v>65</c:v>
                </c:pt>
                <c:pt idx="39">
                  <c:v>65</c:v>
                </c:pt>
                <c:pt idx="40">
                  <c:v>65</c:v>
                </c:pt>
                <c:pt idx="41">
                  <c:v>65</c:v>
                </c:pt>
                <c:pt idx="42">
                  <c:v>65</c:v>
                </c:pt>
                <c:pt idx="43">
                  <c:v>65</c:v>
                </c:pt>
                <c:pt idx="44">
                  <c:v>65</c:v>
                </c:pt>
                <c:pt idx="45">
                  <c:v>65</c:v>
                </c:pt>
                <c:pt idx="46">
                  <c:v>65</c:v>
                </c:pt>
                <c:pt idx="47">
                  <c:v>65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350"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3E9EA"/>
              </a:solidFill>
            </a:ln>
          </c:spPr>
        </c:majorGridlines>
        <c:numFmt formatCode="0&quot;%&quot;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25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Regional adoption</c:v>
          </c:tx>
          <c:spPr>
            <a:solidFill xmlns:a="http://schemas.openxmlformats.org/drawingml/2006/main">
              <a:srgbClr val="D7E5E6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D7E5E6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D7E5E6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D7E5E6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D7E5E6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D7E5E6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D7E5E6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D7E5E6"/>
              </a:solidFill>
            </c:spPr>
          </c:dPt>
          <c:dPt>
            <c:idx val="7"/>
            <c:invertIfNegative val="0"/>
            <c:spPr>
              <a:solidFill xmlns:a="http://schemas.openxmlformats.org/drawingml/2006/main">
                <a:srgbClr val="D7E5E6"/>
              </a:solidFill>
            </c:spPr>
          </c:dPt>
          <c:dPt>
            <c:idx val="8"/>
            <c:invertIfNegative val="0"/>
            <c:spPr>
              <a:solidFill xmlns:a="http://schemas.openxmlformats.org/drawingml/2006/main">
                <a:srgbClr val="D7E5E6"/>
              </a:solidFill>
            </c:spPr>
          </c:dPt>
          <c:dPt>
            <c:idx val="9"/>
            <c:invertIfNegative val="0"/>
            <c:spPr>
              <a:solidFill xmlns:a="http://schemas.openxmlformats.org/drawingml/2006/main">
                <a:srgbClr val="087D82"/>
              </a:solidFill>
            </c:spPr>
          </c:dPt>
          <c:dPt>
            <c:idx val="10"/>
            <c:invertIfNegative val="0"/>
            <c:spPr>
              <a:solidFill xmlns:a="http://schemas.openxmlformats.org/drawingml/2006/main">
                <a:srgbClr val="087D82"/>
              </a:solidFill>
            </c:spPr>
          </c:dPt>
          <c:dPt>
            <c:idx val="11"/>
            <c:invertIfNegative val="0"/>
            <c:spPr>
              <a:solidFill xmlns:a="http://schemas.openxmlformats.org/drawingml/2006/main">
                <a:srgbClr val="D7E5E6"/>
              </a:solidFill>
            </c:spPr>
          </c:dPt>
          <c:dPt>
            <c:idx val="12"/>
            <c:invertIfNegative val="0"/>
            <c:spPr>
              <a:solidFill xmlns:a="http://schemas.openxmlformats.org/drawingml/2006/main">
                <a:srgbClr val="087D82"/>
              </a:solidFill>
            </c:spPr>
          </c:dPt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425">
                        <a:solidFill>
                          <a:srgbClr val="15363D"/>
                        </a:solidFill>
                        <a:latin typeface="Arial"/>
                        <a:ea typeface="Arial"/>
                        <a:cs typeface="Arial"/>
                      </a:rPr>
                      <a:t>69.13%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425">
                      <a:solidFill>
                        <a:srgbClr val="15363D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425">
                        <a:solidFill>
                          <a:srgbClr val="15363D"/>
                        </a:solidFill>
                        <a:latin typeface="Arial"/>
                        <a:ea typeface="Arial"/>
                        <a:cs typeface="Arial"/>
                      </a:rPr>
                      <a:t>68.07%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425">
                      <a:solidFill>
                        <a:srgbClr val="15363D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425">
                        <a:solidFill>
                          <a:srgbClr val="15363D"/>
                        </a:solidFill>
                        <a:latin typeface="Arial"/>
                        <a:ea typeface="Arial"/>
                        <a:cs typeface="Arial"/>
                      </a:rPr>
                      <a:t>66.62%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425">
                      <a:solidFill>
                        <a:srgbClr val="15363D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425">
                        <a:solidFill>
                          <a:srgbClr val="15363D"/>
                        </a:solidFill>
                        <a:latin typeface="Arial"/>
                        <a:ea typeface="Arial"/>
                        <a:cs typeface="Arial"/>
                      </a:rPr>
                      <a:t>65.84%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425">
                      <a:solidFill>
                        <a:srgbClr val="15363D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425">
                        <a:solidFill>
                          <a:srgbClr val="15363D"/>
                        </a:solidFill>
                        <a:latin typeface="Arial"/>
                        <a:ea typeface="Arial"/>
                        <a:cs typeface="Arial"/>
                      </a:rPr>
                      <a:t>63.90%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425">
                      <a:solidFill>
                        <a:srgbClr val="15363D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425">
                        <a:solidFill>
                          <a:srgbClr val="15363D"/>
                        </a:solidFill>
                        <a:latin typeface="Arial"/>
                        <a:ea typeface="Arial"/>
                        <a:cs typeface="Arial"/>
                      </a:rPr>
                      <a:t>62.54%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425">
                      <a:solidFill>
                        <a:srgbClr val="15363D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425">
                        <a:solidFill>
                          <a:srgbClr val="15363D"/>
                        </a:solidFill>
                        <a:latin typeface="Arial"/>
                        <a:ea typeface="Arial"/>
                        <a:cs typeface="Arial"/>
                      </a:rPr>
                      <a:t>62.25%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425">
                      <a:solidFill>
                        <a:srgbClr val="15363D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425">
                        <a:solidFill>
                          <a:srgbClr val="15363D"/>
                        </a:solidFill>
                        <a:latin typeface="Arial"/>
                        <a:ea typeface="Arial"/>
                        <a:cs typeface="Arial"/>
                      </a:rPr>
                      <a:t>62.18%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425">
                      <a:solidFill>
                        <a:srgbClr val="15363D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425">
                        <a:solidFill>
                          <a:srgbClr val="15363D"/>
                        </a:solidFill>
                        <a:latin typeface="Arial"/>
                        <a:ea typeface="Arial"/>
                        <a:cs typeface="Arial"/>
                      </a:rPr>
                      <a:t>61.79%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425">
                      <a:solidFill>
                        <a:srgbClr val="15363D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425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</a:rPr>
                      <a:t>60.91%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425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425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</a:rPr>
                      <a:t>60.66%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425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425">
                        <a:solidFill>
                          <a:srgbClr val="15363D"/>
                        </a:solidFill>
                        <a:latin typeface="Arial"/>
                        <a:ea typeface="Arial"/>
                        <a:cs typeface="Arial"/>
                      </a:rPr>
                      <a:t>60.50%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425">
                      <a:solidFill>
                        <a:srgbClr val="15363D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425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</a:rPr>
                      <a:t>58.89%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425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Ref>
              <c:f>'Chart Data'!$A$2:$A$14</c:f>
              <c:strCache>
                <c:ptCount val="13"/>
                <c:pt idx="0">
                  <c:v>Riyadh</c:v>
                </c:pt>
                <c:pt idx="1">
                  <c:v>Makkah</c:v>
                </c:pt>
                <c:pt idx="2">
                  <c:v>Eastern Province</c:v>
                </c:pt>
                <c:pt idx="3">
                  <c:v>Madinah</c:v>
                </c:pt>
                <c:pt idx="4">
                  <c:v>Qassim</c:v>
                </c:pt>
                <c:pt idx="5">
                  <c:v>Hail</c:v>
                </c:pt>
                <c:pt idx="6">
                  <c:v>Asir</c:v>
                </c:pt>
                <c:pt idx="7">
                  <c:v>Al-Jouf</c:v>
                </c:pt>
                <c:pt idx="8">
                  <c:v>Tabuk</c:v>
                </c:pt>
                <c:pt idx="9">
                  <c:v>Northern Borders</c:v>
                </c:pt>
                <c:pt idx="10">
                  <c:v>Jazan</c:v>
                </c:pt>
                <c:pt idx="11">
                  <c:v>Al-Baha</c:v>
                </c:pt>
                <c:pt idx="12">
                  <c:v>Najran</c:v>
                </c:pt>
              </c:strCache>
            </c:strRef>
          </c:cat>
          <c:val>
            <c:numRef>
              <c:f>'Chart Data'!$B$2:$B$14</c:f>
              <c:numCache>
                <c:formatCode>0"%"</c:formatCode>
                <c:ptCount val="13"/>
                <c:pt idx="0">
                  <c:v>69.13</c:v>
                </c:pt>
                <c:pt idx="1">
                  <c:v>68.07</c:v>
                </c:pt>
                <c:pt idx="2">
                  <c:v>66.62</c:v>
                </c:pt>
                <c:pt idx="3">
                  <c:v>65.84</c:v>
                </c:pt>
                <c:pt idx="4">
                  <c:v>63.9</c:v>
                </c:pt>
                <c:pt idx="5">
                  <c:v>62.54</c:v>
                </c:pt>
                <c:pt idx="6">
                  <c:v>62.25</c:v>
                </c:pt>
                <c:pt idx="7">
                  <c:v>62.18</c:v>
                </c:pt>
                <c:pt idx="8">
                  <c:v>61.79</c:v>
                </c:pt>
                <c:pt idx="9">
                  <c:v>60.91</c:v>
                </c:pt>
                <c:pt idx="10">
                  <c:v>60.66</c:v>
                </c:pt>
                <c:pt idx="11">
                  <c:v>60.5</c:v>
                </c:pt>
                <c:pt idx="12">
                  <c:v>58.89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100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E3E9EA"/>
              </a:solidFill>
            </a:ln>
          </c:spPr>
        </c:majorGridlines>
        <c:numFmt formatCode="0&quot;%&quot;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2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Gap and activity priority index</c:v>
          </c:tx>
          <c:spPr>
            <a:solidFill xmlns:a="http://schemas.openxmlformats.org/drawingml/2006/main">
              <a:srgbClr val="D7E5E6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D7E5E6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D7E5E6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D7E5E6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D7E5E6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D7E5E6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E6B687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087D82"/>
              </a:solidFill>
            </c:spPr>
          </c:dPt>
          <c:dPt>
            <c:idx val="7"/>
            <c:invertIfNegative val="0"/>
            <c:spPr>
              <a:solidFill xmlns:a="http://schemas.openxmlformats.org/drawingml/2006/main">
                <a:srgbClr val="087D82"/>
              </a:solidFill>
            </c:spPr>
          </c:dPt>
          <c:dPt>
            <c:idx val="8"/>
            <c:invertIfNegative val="0"/>
            <c:spPr>
              <a:solidFill xmlns:a="http://schemas.openxmlformats.org/drawingml/2006/main">
                <a:srgbClr val="087D82"/>
              </a:solidFill>
            </c:spPr>
          </c:dPt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500">
                        <a:solidFill>
                          <a:srgbClr val="15363D"/>
                        </a:solidFill>
                        <a:latin typeface="Arial"/>
                        <a:ea typeface="Arial"/>
                        <a:cs typeface="Arial"/>
                      </a:rPr>
                      <a:t>156.20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500">
                      <a:solidFill>
                        <a:srgbClr val="15363D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500">
                        <a:solidFill>
                          <a:srgbClr val="15363D"/>
                        </a:solidFill>
                        <a:latin typeface="Arial"/>
                        <a:ea typeface="Arial"/>
                        <a:cs typeface="Arial"/>
                      </a:rPr>
                      <a:t>302.17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500">
                      <a:solidFill>
                        <a:srgbClr val="15363D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500">
                        <a:solidFill>
                          <a:srgbClr val="15363D"/>
                        </a:solidFill>
                        <a:latin typeface="Arial"/>
                        <a:ea typeface="Arial"/>
                        <a:cs typeface="Arial"/>
                      </a:rPr>
                      <a:t>327.80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500">
                      <a:solidFill>
                        <a:srgbClr val="15363D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500">
                        <a:solidFill>
                          <a:srgbClr val="15363D"/>
                        </a:solidFill>
                        <a:latin typeface="Arial"/>
                        <a:ea typeface="Arial"/>
                        <a:cs typeface="Arial"/>
                      </a:rPr>
                      <a:t>360.78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500">
                      <a:solidFill>
                        <a:srgbClr val="15363D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500">
                        <a:solidFill>
                          <a:srgbClr val="15363D"/>
                        </a:solidFill>
                        <a:latin typeface="Arial"/>
                        <a:ea typeface="Arial"/>
                        <a:cs typeface="Arial"/>
                      </a:rPr>
                      <a:t>388.93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500">
                      <a:solidFill>
                        <a:srgbClr val="15363D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500">
                        <a:solidFill>
                          <a:srgbClr val="15363D"/>
                        </a:solidFill>
                        <a:latin typeface="Arial"/>
                        <a:ea typeface="Arial"/>
                        <a:cs typeface="Arial"/>
                      </a:rPr>
                      <a:t>445.60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500">
                      <a:solidFill>
                        <a:srgbClr val="15363D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500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</a:rPr>
                      <a:t>446.26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50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500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</a:rPr>
                      <a:t>455.08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50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500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</a:rPr>
                      <a:t>570.12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50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Ref>
              <c:f>'Chart Data'!$A$2:$A$10</c:f>
              <c:strCache>
                <c:ptCount val="9"/>
                <c:pt idx="0">
                  <c:v>Qassim</c:v>
                </c:pt>
                <c:pt idx="1">
                  <c:v>Hail</c:v>
                </c:pt>
                <c:pt idx="2">
                  <c:v>Al-Jouf</c:v>
                </c:pt>
                <c:pt idx="3">
                  <c:v>Asir</c:v>
                </c:pt>
                <c:pt idx="4">
                  <c:v>Tabuk</c:v>
                </c:pt>
                <c:pt idx="5">
                  <c:v>Al-Baha</c:v>
                </c:pt>
                <c:pt idx="6">
                  <c:v>Northern Borders</c:v>
                </c:pt>
                <c:pt idx="7">
                  <c:v>Jazan</c:v>
                </c:pt>
                <c:pt idx="8">
                  <c:v>Najran</c:v>
                </c:pt>
              </c:strCache>
            </c:strRef>
          </c:cat>
          <c:val>
            <c:numRef>
              <c:f>'Chart Data'!$B$2:$B$10</c:f>
              <c:numCache>
                <c:formatCode>0</c:formatCode>
                <c:ptCount val="9"/>
                <c:pt idx="0">
                  <c:v>156.2</c:v>
                </c:pt>
                <c:pt idx="1">
                  <c:v>302.17</c:v>
                </c:pt>
                <c:pt idx="2">
                  <c:v>327.8</c:v>
                </c:pt>
                <c:pt idx="3">
                  <c:v>360.78</c:v>
                </c:pt>
                <c:pt idx="4">
                  <c:v>388.93</c:v>
                </c:pt>
                <c:pt idx="5">
                  <c:v>445.6</c:v>
                </c:pt>
                <c:pt idx="6">
                  <c:v>446.26</c:v>
                </c:pt>
                <c:pt idx="7">
                  <c:v>455.08</c:v>
                </c:pt>
                <c:pt idx="8">
                  <c:v>570.12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600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E3E9EA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20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3435A2-C523-43FC-843E-F16F04A7E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5363D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5363D"/>
                </a:solidFill>
                <a:latin typeface="Arial"/>
                <a:ea typeface="Arial"/>
                <a:cs typeface="Arial"/>
              </a:rPr>
              <a:t>Phase funding for Najran, Jazan and Northern Borders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5B4271-B454-42D5-91B1-98B01D357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6666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6666B"/>
                </a:solidFill>
                <a:latin typeface="Arial"/>
                <a:ea typeface="Arial"/>
                <a:cs typeface="Arial"/>
              </a:rPr>
              <a:t>1 / 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ADBBAE-672D-4FD9-854A-E5EF448F5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76400"/>
            <a:ext cx="106680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6225" b="1">
                <a:solidFill>
                  <a:srgbClr val="087D82"/>
                </a:solidFill>
                <a:latin typeface="Arial"/>
                <a:ea typeface="Arial"/>
                <a:cs typeface="Arial"/>
              </a:defRPr>
            </a:pPr>
            <a:r>
              <a:rPr sz="6225" b="1">
                <a:solidFill>
                  <a:srgbClr val="087D82"/>
                </a:solidFill>
                <a:latin typeface="Arial"/>
                <a:ea typeface="Arial"/>
                <a:cs typeface="Arial"/>
              </a:rPr>
              <a:t>SAR 40 million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C18432-6342-4596-A63B-D38ED0937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24175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363D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5363D"/>
                </a:solidFill>
                <a:latin typeface="Arial"/>
                <a:ea typeface="Arial"/>
                <a:cs typeface="Arial"/>
              </a:rPr>
              <a:t>Requested funding envelope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1C0AFC-D72E-414E-A6D2-B9CAC8623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76675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5363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5363D"/>
                </a:solidFill>
                <a:latin typeface="Arial"/>
                <a:ea typeface="Arial"/>
                <a:cs typeface="Arial"/>
              </a:rPr>
              <a:t>Release SAR 10M after baseline approval; hold SAR 30M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D7EA40-7CFE-4F8E-9CFA-0185C9096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3395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5363D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5363D"/>
                </a:solidFill>
                <a:latin typeface="Arial"/>
                <a:ea typeface="Arial"/>
                <a:cs typeface="Arial"/>
              </a:rPr>
              <a:t>Move lagging regions toward the 65% adoption target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77F319-9EB0-45B7-A49D-1EAC2F625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6229350"/>
            <a:ext cx="962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666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66B"/>
                </a:solidFill>
                <a:latin typeface="Arial"/>
                <a:ea typeface="Arial"/>
                <a:cs typeface="Arial"/>
              </a:rPr>
              <a:t>SDAIA Academy SDA-DSC-112 · Synthetic training data</a:t>
            </a:r>
          </a:p>
        </p:txBody>
      </p:sp>
    </p:spTree>
    <p:extLst>
      <p:ext uri="{BB962C8B-B14F-4D97-AF65-F5344CB8AC3E}">
        <p14:creationId xmlns:p14="http://schemas.microsoft.com/office/powerpoint/2010/main" val="171175693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B0D458-4220-43CD-996E-5DD473C5C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5363D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5363D"/>
                </a:solidFill>
                <a:latin typeface="Arial"/>
                <a:ea typeface="Arial"/>
                <a:cs typeface="Arial"/>
              </a:rPr>
              <a:t>National course adoption remains below 65%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78F6C4-3A09-4EA2-AE6B-4B8252B1C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6666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6666B"/>
                </a:solidFill>
                <a:latin typeface="Arial"/>
                <a:ea typeface="Arial"/>
                <a:cs typeface="Arial"/>
              </a:rPr>
              <a:t>2 / 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0F33D8-684A-4BE9-8524-89E9E8AA1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552575"/>
            <a:ext cx="38100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4875" b="1">
                <a:solidFill>
                  <a:srgbClr val="087D82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087D82"/>
                </a:solidFill>
                <a:latin typeface="Arial"/>
                <a:ea typeface="Arial"/>
                <a:cs typeface="Arial"/>
              </a:rPr>
              <a:t>63.33%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5E59C1-CDA0-438D-AF24-5DD38AB43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28775"/>
            <a:ext cx="69056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5363D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5363D"/>
                </a:solidFill>
                <a:latin typeface="Arial"/>
                <a:ea typeface="Arial"/>
                <a:cs typeface="Arial"/>
              </a:rPr>
              <a:t>December 2025: a 1.67 percentage point gap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19125" y="2581275"/>
          <a:ext xmlns:a="http://schemas.openxmlformats.org/drawingml/2006/main" cx="10953750" cy="30861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d7eaa1160c64cdb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A525BC-39E1-49D8-9AB6-FD32E5B77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86425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666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6666B"/>
                </a:solidFill>
                <a:latin typeface="Arial"/>
                <a:ea typeface="Arial"/>
                <a:cs typeface="Arial"/>
              </a:rPr>
              <a:t>Jan 2022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B37636-1D28-4B31-9A78-6BA237C3B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5686425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56666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6666B"/>
                </a:solidFill>
                <a:latin typeface="Arial"/>
                <a:ea typeface="Arial"/>
                <a:cs typeface="Arial"/>
              </a:rPr>
              <a:t>Dec 2023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9DA8E5-0DDE-480B-9395-CD500A766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5686425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6666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6666B"/>
                </a:solidFill>
                <a:latin typeface="Arial"/>
                <a:ea typeface="Arial"/>
                <a:cs typeface="Arial"/>
              </a:rPr>
              <a:t>Dec 2025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5AE02C-27D6-4DEA-81E4-7D8DB3BE2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6000750"/>
            <a:ext cx="962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B45C1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45C16"/>
                </a:solidFill>
                <a:latin typeface="Arial"/>
                <a:ea typeface="Arial"/>
                <a:cs typeface="Arial"/>
              </a:rPr>
              <a:t>Transaction-weighted alternative: 66.12% (&gt;65%). Target status depends on the definition.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6D9C59-2A69-4648-9F72-824C48C5A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6229350"/>
            <a:ext cx="962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666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66B"/>
                </a:solidFill>
                <a:latin typeface="Arial"/>
                <a:ea typeface="Arial"/>
                <a:cs typeface="Arial"/>
              </a:rPr>
              <a:t>Course arithmetic-mean index, not the digital transaction share. 48 months of synthetic data.</a:t>
            </a:r>
          </a:p>
        </p:txBody>
      </p:sp>
    </p:spTree>
    <p:extLst>
      <p:ext uri="{BB962C8B-B14F-4D97-AF65-F5344CB8AC3E}">
        <p14:creationId xmlns:p14="http://schemas.microsoft.com/office/powerpoint/2010/main" val="208456948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4F2EFD-E967-4B22-A9BE-B554DC299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5363D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5363D"/>
                </a:solidFill>
                <a:latin typeface="Arial"/>
                <a:ea typeface="Arial"/>
                <a:cs typeface="Arial"/>
              </a:rPr>
              <a:t>Nine regions remain below target in December 2025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4AC3F7-BDA9-4CC0-A3B1-BD7118C3D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6666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6666B"/>
                </a:solidFill>
                <a:latin typeface="Arial"/>
                <a:ea typeface="Arial"/>
                <a:cs typeface="Arial"/>
              </a:rPr>
              <a:t>3 / 7</a:t>
            </a:r>
          </a:p>
        </p:txBody>
      </p:sp>
      <p:graphicFrame>
        <p:nvGraphicFramePr>
          <p:cNvPr id="9" name="Chart"/>
          <p:cNvGraphicFramePr/>
          <p:nvPr/>
        </p:nvGraphicFramePr>
        <p:xfrm>
          <a:off xmlns:a="http://schemas.openxmlformats.org/drawingml/2006/main" x="609600" y="1600200"/>
          <a:ext xmlns:a="http://schemas.openxmlformats.org/drawingml/2006/main" cx="10972800" cy="42672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d3c14d626b04ada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E13E96-3B7D-4D12-9ED0-B0F661EAE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6243" y="1781175"/>
            <a:ext cx="19050" cy="3657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C16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C22908-0C65-4E08-AB46-441B2C933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1524000"/>
            <a:ext cx="1657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B45C1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B45C16"/>
                </a:solidFill>
                <a:latin typeface="Arial"/>
                <a:ea typeface="Arial"/>
                <a:cs typeface="Arial"/>
              </a:rPr>
              <a:t>65% target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D76AD0-B40A-4847-953B-6257CBBE1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6229350"/>
            <a:ext cx="962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666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66B"/>
                </a:solidFill>
                <a:latin typeface="Arial"/>
                <a:ea typeface="Arial"/>
                <a:cs typeface="Arial"/>
              </a:rPr>
              <a:t>Latest-month mean. Teal identifies the proposed pilot regions. Synthetic training data.</a:t>
            </a:r>
          </a:p>
        </p:txBody>
      </p:sp>
    </p:spTree>
    <p:extLst>
      <p:ext uri="{BB962C8B-B14F-4D97-AF65-F5344CB8AC3E}">
        <p14:creationId xmlns:p14="http://schemas.microsoft.com/office/powerpoint/2010/main" val="68231306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A38DB9-44B6-4A59-B4EA-3AEB3B821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5363D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5363D"/>
                </a:solidFill>
                <a:latin typeface="Arial"/>
                <a:ea typeface="Arial"/>
                <a:cs typeface="Arial"/>
              </a:rPr>
              <a:t>Najran leads; third place needs validation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E4637F-FE4E-410D-8C69-E3E9781A1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6666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6666B"/>
                </a:solidFill>
                <a:latin typeface="Arial"/>
                <a:ea typeface="Arial"/>
                <a:cs typeface="Arial"/>
              </a:rPr>
              <a:t>4 / 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79D0CE-AD6C-4126-A15A-EE4F03592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14450"/>
            <a:ext cx="10858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6666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6666B"/>
                </a:solidFill>
                <a:latin typeface="Arial"/>
                <a:ea typeface="Arial"/>
                <a:cs typeface="Arial"/>
              </a:rPr>
              <a:t>December 2025 · Synthetic data · Teal: proposed pilots; orange: Al-Baha alternative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7286625" cy="3429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a85ec0721d84117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1339BB-BE3E-48DF-A9EF-7DD881E53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1781175"/>
            <a:ext cx="32385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1">
                <a:solidFill>
                  <a:srgbClr val="087D82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087D82"/>
                </a:solidFill>
                <a:latin typeface="Arial"/>
                <a:ea typeface="Arial"/>
                <a:cs typeface="Arial"/>
              </a:rPr>
              <a:t>42.61%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40724E-0987-494B-8C67-4DF6E2404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714625"/>
            <a:ext cx="32670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5363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363D"/>
                </a:solidFill>
                <a:latin typeface="Arial"/>
                <a:ea typeface="Arial"/>
                <a:cs typeface="Arial"/>
              </a:rPr>
              <a:t>Selected regions’ share of the laggards’ priority index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679BC7-3275-4C69-94C5-B2ABFB2C8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3743325"/>
            <a:ext cx="32670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5363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5363D"/>
                </a:solidFill>
                <a:latin typeface="Arial"/>
                <a:ea typeface="Arial"/>
                <a:cs typeface="Arial"/>
              </a:rPr>
              <a:t>Target gaps (pp)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8CD12D-9290-43E2-A7F8-218551CF3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4162425"/>
            <a:ext cx="326707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5363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5363D"/>
                </a:solidFill>
                <a:latin typeface="Arial"/>
                <a:ea typeface="Arial"/>
                <a:cs typeface="Arial"/>
              </a:rPr>
              <a:t>Najran 6.11</a:t>
            </a:r>
          </a:p>
          <a:p xmlns:a="http://schemas.openxmlformats.org/drawingml/2006/main">
            <a:pPr algn="l">
              <a:defRPr sz="1725" b="0">
                <a:solidFill>
                  <a:srgbClr val="15363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5363D"/>
                </a:solidFill>
                <a:latin typeface="Arial"/>
                <a:ea typeface="Arial"/>
                <a:cs typeface="Arial"/>
              </a:rPr>
              <a:t>Jazan 4.34</a:t>
            </a:r>
          </a:p>
          <a:p xmlns:a="http://schemas.openxmlformats.org/drawingml/2006/main">
            <a:pPr algn="l">
              <a:defRPr sz="1725" b="0">
                <a:solidFill>
                  <a:srgbClr val="15363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5363D"/>
                </a:solidFill>
                <a:latin typeface="Arial"/>
                <a:ea typeface="Arial"/>
                <a:cs typeface="Arial"/>
              </a:rPr>
              <a:t>Northern Borders 4.09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777C88-543C-4615-AF81-D3A1C6AC9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1970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666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6666B"/>
                </a:solidFill>
                <a:latin typeface="Arial"/>
                <a:ea typeface="Arial"/>
                <a:cs typeface="Arial"/>
              </a:rPr>
              <a:t>Priority proxy = positive gap / 100 × December transactions; not a conversion count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E5554B-CCFB-46DE-B38E-EF7E217EF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3880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B45C16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B45C16"/>
                </a:solidFill>
                <a:latin typeface="Arial"/>
                <a:ea typeface="Arial"/>
                <a:cs typeface="Arial"/>
              </a:rPr>
              <a:t>Near tie: Northern Borders 446.26 vs Al-Baha 445.60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DABFDC-024C-4140-90B3-FFC280F6C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6229350"/>
            <a:ext cx="962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666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66B"/>
                </a:solidFill>
                <a:latin typeface="Arial"/>
                <a:ea typeface="Arial"/>
                <a:cs typeface="Arial"/>
              </a:rPr>
              <a:t>Metric sensitivity: transaction weighting selects Al-Baha instead of Jazan. Agree the definition before release.</a:t>
            </a:r>
          </a:p>
        </p:txBody>
      </p:sp>
    </p:spTree>
    <p:extLst>
      <p:ext uri="{BB962C8B-B14F-4D97-AF65-F5344CB8AC3E}">
        <p14:creationId xmlns:p14="http://schemas.microsoft.com/office/powerpoint/2010/main" val="44158838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FBAB83-6399-4062-9B06-59152EE48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5363D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5363D"/>
                </a:solidFill>
                <a:latin typeface="Arial"/>
                <a:ea typeface="Arial"/>
                <a:cs typeface="Arial"/>
              </a:rPr>
              <a:t>Staged funding allows adjustment after the 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9B43E0-9036-4E42-85A2-024126047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6666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6666B"/>
                </a:solidFill>
                <a:latin typeface="Arial"/>
                <a:ea typeface="Arial"/>
                <a:cs typeface="Arial"/>
              </a:rPr>
              <a:t>5 / 7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619125" y="1762125"/>
          <a:ext xmlns:a="http://schemas.openxmlformats.org/drawingml/2006/main" cx="10953750" cy="36099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90750"/>
                <a:gridCol w="3048000"/>
                <a:gridCol w="2619375"/>
                <a:gridCol w="3095625"/>
              </a:tblGrid>
              <a:tr h="90249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Option</a:t>
                      </a:r>
                    </a:p>
                  </a:txBody>
                  <a:tcPr marL="133350" marR="133350" marT="95250" marB="95250" anchor="ctr">
                    <a:solidFill>
                      <a:srgbClr val="087D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SAR 40M allocation</a:t>
                      </a:r>
                    </a:p>
                  </a:txBody>
                  <a:tcPr marL="133350" marR="133350" marT="95250" marB="95250" anchor="ctr">
                    <a:solidFill>
                      <a:srgbClr val="087D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Benefit</a:t>
                      </a:r>
                    </a:p>
                  </a:txBody>
                  <a:tcPr marL="133350" marR="133350" marT="95250" marB="95250" anchor="ctr">
                    <a:solidFill>
                      <a:srgbClr val="087D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Tradeoff</a:t>
                      </a:r>
                    </a:p>
                  </a:txBody>
                  <a:tcPr marL="133350" marR="133350" marT="95250" marB="95250" anchor="ctr">
                    <a:solidFill>
                      <a:srgbClr val="087D82"/>
                    </a:solidFill>
                  </a:tcPr>
                </a:tc>
              </a:tr>
              <a:tr h="902494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Equal allocation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SAR 40M ÷ 9 (about 4.44M each)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Covers all nine laggards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Ignores differences in gap and activity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</a:tr>
              <a:tr h="902494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Full concentration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SAR 40M in three regions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Focuses on current priorities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Commits all funding before testing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</a:tr>
              <a:tr h="902494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Staged funding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SAR 35M regional + SAR 5M reserve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Focus with a review before scaling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Requires agreed metrics and evaluation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9BFC4E-81E9-4C87-9A64-13F177E9A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543550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87D82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87D82"/>
                </a:solidFill>
                <a:latin typeface="Arial"/>
                <a:ea typeface="Arial"/>
                <a:cs typeface="Arial"/>
              </a:rPr>
              <a:t>Selected: SAR 10M after baseline approval; hold SAR 30M for review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BA465C-A62D-4B1F-B164-B9646FFC7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6229350"/>
            <a:ext cx="962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666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66B"/>
                </a:solidFill>
                <a:latin typeface="Arial"/>
                <a:ea typeface="Arial"/>
                <a:cs typeface="Arial"/>
              </a:rPr>
              <a:t>These are allocation policies. The data do not estimate causal returns for each option.</a:t>
            </a:r>
          </a:p>
        </p:txBody>
      </p:sp>
    </p:spTree>
    <p:extLst>
      <p:ext uri="{BB962C8B-B14F-4D97-AF65-F5344CB8AC3E}">
        <p14:creationId xmlns:p14="http://schemas.microsoft.com/office/powerpoint/2010/main" val="58722256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E4D43F-7CFF-4FF3-A55B-EB9401A01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5363D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5363D"/>
                </a:solidFill>
                <a:latin typeface="Arial"/>
                <a:ea typeface="Arial"/>
                <a:cs typeface="Arial"/>
              </a:rPr>
              <a:t>SAR 35M targets the regions; SAR 5M supports reassessment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E62E52-0AE8-4945-ABFB-75D311683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6666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6666B"/>
                </a:solidFill>
                <a:latin typeface="Arial"/>
                <a:ea typeface="Arial"/>
                <a:cs typeface="Arial"/>
              </a:rPr>
              <a:t>6 / 7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19125" y="1685925"/>
          <a:ext xmlns:a="http://schemas.openxmlformats.org/drawingml/2006/main" cx="5610225" cy="36290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943350"/>
                <a:gridCol w="1666875"/>
              </a:tblGrid>
              <a:tr h="60483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Allocation</a:t>
                      </a:r>
                    </a:p>
                  </a:txBody>
                  <a:tcPr marL="133350" marR="133350" marT="95250" marB="95250" anchor="ctr">
                    <a:solidFill>
                      <a:srgbClr val="087D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SAR million</a:t>
                      </a:r>
                    </a:p>
                  </a:txBody>
                  <a:tcPr marL="133350" marR="133350" marT="95250" marB="95250" anchor="ctr">
                    <a:solidFill>
                      <a:srgbClr val="087D82"/>
                    </a:solidFill>
                  </a:tcPr>
                </a:tc>
              </a:tr>
              <a:tr h="604838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Najran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</a:tr>
              <a:tr h="604838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Jazan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</a:tr>
              <a:tr h="604838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Northern Borders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</a:tr>
              <a:tr h="604838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Evaluation reserve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</a:tr>
              <a:tr h="604838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Total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40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10B9BB-9033-489F-A4B3-5A7CE67F4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095500"/>
            <a:ext cx="4476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5025" b="1">
                <a:solidFill>
                  <a:srgbClr val="087D82"/>
                </a:solidFill>
                <a:latin typeface="Arial"/>
                <a:ea typeface="Arial"/>
                <a:cs typeface="Arial"/>
              </a:defRPr>
            </a:pPr>
            <a:r>
              <a:rPr sz="5025" b="1">
                <a:solidFill>
                  <a:srgbClr val="087D82"/>
                </a:solidFill>
                <a:latin typeface="Arial"/>
                <a:ea typeface="Arial"/>
                <a:cs typeface="Arial"/>
              </a:rPr>
              <a:t>64.45%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8C6A25-2022-40E8-BA52-95E8A7810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219450"/>
            <a:ext cx="4762500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363D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363D"/>
                </a:solidFill>
                <a:latin typeface="Arial"/>
                <a:ea typeface="Arial"/>
                <a:cs typeface="Arial"/>
              </a:rPr>
              <a:t>National index if all three reach 65% and every other region stays unchanged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C7CD7E-154D-4436-8944-E19DD1E9C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010150"/>
            <a:ext cx="4762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B45C16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B45C16"/>
                </a:solidFill>
                <a:latin typeface="Arial"/>
                <a:ea typeface="Arial"/>
                <a:cs typeface="Arial"/>
              </a:rPr>
              <a:t>Conditional arithmetic, not an investment forecast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82CE85-D72F-4010-9E81-0459ED728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6229350"/>
            <a:ext cx="962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666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66B"/>
                </a:solidFill>
                <a:latin typeface="Arial"/>
                <a:ea typeface="Arial"/>
                <a:cs typeface="Arial"/>
              </a:rPr>
              <a:t>Proposed envelopes, not cost estimates. Closing these three gaps alone does not meet the national target.</a:t>
            </a:r>
          </a:p>
        </p:txBody>
      </p:sp>
    </p:spTree>
    <p:extLst>
      <p:ext uri="{BB962C8B-B14F-4D97-AF65-F5344CB8AC3E}">
        <p14:creationId xmlns:p14="http://schemas.microsoft.com/office/powerpoint/2010/main" val="184659012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8DB6E4-874F-47B7-BC44-E23AE4B3D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5363D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5363D"/>
                </a:solidFill>
                <a:latin typeface="Arial"/>
                <a:ea typeface="Arial"/>
                <a:cs typeface="Arial"/>
              </a:rPr>
              <a:t>Approve SAR 40M; review pilots at day 90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41CB70-F7E2-455E-9714-0B663AF24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6666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6666B"/>
                </a:solidFill>
                <a:latin typeface="Arial"/>
                <a:ea typeface="Arial"/>
                <a:cs typeface="Arial"/>
              </a:rPr>
              <a:t>7 / 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7311E6-2032-4CD2-A46C-4EDADE243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47825"/>
            <a:ext cx="108108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87D82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087D82"/>
                </a:solidFill>
                <a:latin typeface="Arial"/>
                <a:ea typeface="Arial"/>
                <a:cs typeface="Arial"/>
              </a:rPr>
              <a:t>Approve SAR 40M; pilot SAR 10M after baseline approval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19125" y="2828925"/>
          <a:ext xmlns:a="http://schemas.openxmlformats.org/drawingml/2006/main" cx="10953750" cy="2514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524250"/>
                <a:gridCol w="7429500"/>
              </a:tblGrid>
              <a:tr h="6286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After approval</a:t>
                      </a:r>
                    </a:p>
                  </a:txBody>
                  <a:tcPr marL="133350" marR="133350" marT="95250" marB="95250" anchor="ctr">
                    <a:solidFill>
                      <a:srgbClr val="087D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Action and decision</a:t>
                      </a:r>
                    </a:p>
                  </a:txBody>
                  <a:tcPr marL="133350" marR="133350" marT="95250" marB="95250" anchor="ctr">
                    <a:solidFill>
                      <a:srgbClr val="087D82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Day 0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Approve the envelope and name an accountable owner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Within 30 days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Approve metric, baseline, comparison and cost; then launch pilots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Day 90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Review impact and cost before releasing further funding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5C1333-A65B-43DC-BB8F-63A43C636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62600"/>
            <a:ext cx="1081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363D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363D"/>
                </a:solidFill>
                <a:latin typeface="Arial"/>
                <a:ea typeface="Arial"/>
                <a:cs typeface="Arial"/>
              </a:rPr>
              <a:t>Proposed continuation goal: +2pp with stable satisfaction and service performance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7B78AD-6CA7-4D98-9690-1E2E8C99A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6229350"/>
            <a:ext cx="962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666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66B"/>
                </a:solidFill>
                <a:latin typeface="Arial"/>
                <a:ea typeface="Arial"/>
                <a:cs typeface="Arial"/>
              </a:rPr>
              <a:t>A management goal, not a prediction. Check comparison groups and service mix before attributing improvement.</a:t>
            </a:r>
          </a:p>
        </p:txBody>
      </p:sp>
    </p:spTree>
    <p:extLst>
      <p:ext uri="{BB962C8B-B14F-4D97-AF65-F5344CB8AC3E}">
        <p14:creationId xmlns:p14="http://schemas.microsoft.com/office/powerpoint/2010/main" val="86667084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2026-10-06T14:00:16.1120000Z</dcterms:created>
  <dcterms:modified xsi:type="dcterms:W3CDTF">2026-10-06T14:00:16.1120000Z</dcterms:modified>
</coreProperties>
</file>