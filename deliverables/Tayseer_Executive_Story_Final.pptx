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85e409e54504eb2" /><Relationship Type="http://schemas.openxmlformats.org/officeDocument/2006/relationships/extended-properties" Target="/docProps/app.xml" Id="Ref7a9407dee64d5a" /><Relationship Type="http://schemas.openxmlformats.org/officeDocument/2006/relationships/officeDocument" Target="/ppt/presentation.xml" Id="R65cdd0985b5d4aaf" /></Relationships>
</file>

<file path=ppt/presentation.xml><?xml version="1.0" encoding="utf-8"?>
<p:presentation xmlns:p="http://schemas.openxmlformats.org/presentationml/2006/main">
  <p:sldMasterIdLst>
    <p:sldMasterId xmlns:r="http://schemas.openxmlformats.org/officeDocument/2006/relationships" id="2147483648" r:id="Rcfcfe6300f8645fa"/>
  </p:sldMasterIdLst>
  <p:notesMasterIdLst>
    <p:notesMasterId xmlns:r="http://schemas.openxmlformats.org/officeDocument/2006/relationships" r:id="Rddbd0501d71d4b72"/>
  </p:notesMasterIdLst>
  <p:sldIdLst>
    <p:sldId xmlns:r="http://schemas.openxmlformats.org/officeDocument/2006/relationships" id="256" r:id="Rad8f7e020653436e"/>
    <p:sldId xmlns:r="http://schemas.openxmlformats.org/officeDocument/2006/relationships" id="257" r:id="R7be30f1de9f34d0b"/>
    <p:sldId xmlns:r="http://schemas.openxmlformats.org/officeDocument/2006/relationships" id="258" r:id="R9413290337294d12"/>
    <p:sldId xmlns:r="http://schemas.openxmlformats.org/officeDocument/2006/relationships" id="259" r:id="Rc43debd6ce5e45e8"/>
    <p:sldId xmlns:r="http://schemas.openxmlformats.org/officeDocument/2006/relationships" id="260" r:id="Rdce23e26ca6d4c56"/>
    <p:sldId xmlns:r="http://schemas.openxmlformats.org/officeDocument/2006/relationships" id="261" r:id="Re2d64cec87794f65"/>
    <p:sldId xmlns:r="http://schemas.openxmlformats.org/officeDocument/2006/relationships" id="262" r:id="Rb817c53ee05b48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76d3ce394f45c0" /><Relationship Type="http://schemas.openxmlformats.org/officeDocument/2006/relationships/slideMaster" Target="/ppt/slideMasters/slideMaster1.xml" Id="Rcfcfe6300f8645fa" /><Relationship Type="http://schemas.openxmlformats.org/officeDocument/2006/relationships/notesMaster" Target="/ppt/notesMasters/notesMaster1.xml" Id="Rddbd0501d71d4b72" /><Relationship Type="http://schemas.openxmlformats.org/officeDocument/2006/relationships/presProps" Target="/ppt/presProps.xml" Id="R2ae5041ae9a345b2" /><Relationship Type="http://schemas.openxmlformats.org/officeDocument/2006/relationships/tableStyles" Target="/ppt/tableStyles.xml" Id="R0e1be40b3ffa4670" /><Relationship Type="http://schemas.openxmlformats.org/officeDocument/2006/relationships/slide" Target="/ppt/slides/slide1.xml" Id="Rad8f7e020653436e" /><Relationship Type="http://schemas.openxmlformats.org/officeDocument/2006/relationships/slide" Target="/ppt/slides/slide2.xml" Id="R7be30f1de9f34d0b" /><Relationship Type="http://schemas.openxmlformats.org/officeDocument/2006/relationships/slide" Target="/ppt/slides/slide3.xml" Id="R9413290337294d12" /><Relationship Type="http://schemas.openxmlformats.org/officeDocument/2006/relationships/slide" Target="/ppt/slides/slide4.xml" Id="Rc43debd6ce5e45e8" /><Relationship Type="http://schemas.openxmlformats.org/officeDocument/2006/relationships/slide" Target="/ppt/slides/slide5.xml" Id="Rdce23e26ca6d4c56" /><Relationship Type="http://schemas.openxmlformats.org/officeDocument/2006/relationships/slide" Target="/ppt/slides/slide6.xml" Id="Re2d64cec87794f65" /><Relationship Type="http://schemas.openxmlformats.org/officeDocument/2006/relationships/slide" Target="/ppt/slides/slide7.xml" Id="Rb817c53ee05b48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7603f048a747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9bbd3888ad4c29" /><Relationship Type="http://schemas.openxmlformats.org/officeDocument/2006/relationships/notesMaster" Target="/ppt/notesMasters/notesMaster1.xml" Id="R9b4e5763e7a6411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8b3dac0dfa446a" /><Relationship Type="http://schemas.openxmlformats.org/officeDocument/2006/relationships/notesMaster" Target="/ppt/notesMasters/notesMaster1.xml" Id="R75ebd3d656764e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aebfd283c6441c" /><Relationship Type="http://schemas.openxmlformats.org/officeDocument/2006/relationships/notesMaster" Target="/ppt/notesMasters/notesMaster1.xml" Id="R7f7c689bccb540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28fb0d8a3b46ad" /><Relationship Type="http://schemas.openxmlformats.org/officeDocument/2006/relationships/notesMaster" Target="/ppt/notesMasters/notesMaster1.xml" Id="R09ba82f513864c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d47cb787f44813" /><Relationship Type="http://schemas.openxmlformats.org/officeDocument/2006/relationships/notesMaster" Target="/ppt/notesMasters/notesMaster1.xml" Id="Rfba801834efe4a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5eb8826207425a" /><Relationship Type="http://schemas.openxmlformats.org/officeDocument/2006/relationships/notesMaster" Target="/ppt/notesMasters/notesMaster1.xml" Id="Re6cd84865e4d46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31cf9daa61419a" /><Relationship Type="http://schemas.openxmlformats.org/officeDocument/2006/relationships/notesMaster" Target="/ppt/notesMasters/notesMaster1.xml" Id="Rbbcbce4c77c847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QUESTION: Which regions should get priority, and what decision do we ask for?</a:t>
            </a:r>
          </a:p>
          <a:p xmlns:a="http://schemas.openxmlformats.org/drawingml/2006/main">
            <a:r>
              <a:t/>
            </a:r>
          </a:p>
          <a:p xmlns:a="http://schemas.openxmlformats.org/drawingml/2006/main">
            <a:r>
              <a:t>SAY: Please approve SAR 40 million for a plan focused on Najran, Jazan and Northern Borders. Release the first SAR 10 million only after we approve the trial plan. Hold SAR 30 million for review. We want to improve adoption where the gap and transaction activity are large, test the results, then expand. The data are synthetic training data.</a:t>
            </a:r>
          </a:p>
          <a:p xmlns:a="http://schemas.openxmlformats.org/drawingml/2006/main">
            <a:r>
              <a:t/>
            </a:r>
          </a:p>
          <a:p xmlns:a="http://schemas.openxmlformats.org/drawingml/2006/main">
            <a:r>
              <a:t>KEY POINT: Say the full request in the first 30 seconds. Trial plan approval includes the measure, starting data, a fair comparison, service plans and costs. Funding has conditions. The amounts are proposed budgets and need local cost checks.</a:t>
            </a:r>
          </a:p>
          <a:p xmlns:a="http://schemas.openxmlformats.org/drawingml/2006/main">
            <a:r>
              <a:t/>
            </a:r>
          </a:p>
          <a:p xmlns:a="http://schemas.openxmlformats.org/drawingml/2006/main">
            <a:r>
              <a:t>SOURCES</a:t>
            </a:r>
          </a:p>
          <a:p xmlns:a="http://schemas.openxmlformats.org/drawingml/2006/main">
            <a:r>
              <a:t>Course CSV: https://drive.google.com/file/d/1T6pweFV4EjBxZ75gge775OOYMYx2aKX0/view</a:t>
            </a:r>
          </a:p>
          <a:p xmlns:a="http://schemas.openxmlformats.org/drawingml/2006/main">
            <a:r>
              <a:t>Data definitions: https://drive.google.com/file/d/1htqVTYconACXDD28CACXOpz8VAyz8Xm5/view</a:t>
            </a:r>
          </a:p>
          <a:p xmlns:a="http://schemas.openxmlformats.org/drawingml/2006/main">
            <a:r>
              <a:t>Course calculation reference: https://drive.google.com/file/d/1_DAzbKnnIl4dn1JN2hffwhCueJOoqPOh/view</a:t>
            </a:r>
          </a:p>
          <a:p xmlns:a="http://schemas.openxmlformats.org/drawingml/2006/main">
            <a:r>
              <a:t>All data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QUESTION: Is Tayseer on track toward 65% nationally? What is the current result and trend?</a:t>
            </a:r>
          </a:p>
          <a:p xmlns:a="http://schemas.openxmlformats.org/drawingml/2006/main">
            <a:r>
              <a:t/>
            </a:r>
          </a:p>
          <a:p xmlns:a="http://schemas.openxmlformats.org/drawingml/2006/main">
            <a:r>
              <a:t>SAY: The chart shows monthly adoption from January 2022 to December 2025. The vertical scale runs from zero to one hundred percent. The orange line is the 65% target. The course average rose from 51.40% to 63.33%, an improvement of 11.93 percentage points. It is still 1.67 points below target. The data show progress but cannot tell us when the target will be reached.</a:t>
            </a:r>
          </a:p>
          <a:p xmlns:a="http://schemas.openxmlformats.org/drawingml/2006/main">
            <a:r>
              <a:t/>
            </a:r>
          </a:p>
          <a:p xmlns:a="http://schemas.openxmlformats.org/drawingml/2006/main">
            <a:r>
              <a:t>IF ASKED: The main measure is a simple average of the supplied adoption percentages. It does not directly count digital transactions as a share of all transactions. Giving more weight to records with more transactions changes the result to 66.12%, above target. Agree the measure before any trial release. A percentage-point change means the difference between two percentages.</a:t>
            </a:r>
          </a:p>
          <a:p xmlns:a="http://schemas.openxmlformats.org/drawingml/2006/main">
            <a:r>
              <a:t/>
            </a:r>
          </a:p>
          <a:p xmlns:a="http://schemas.openxmlformats.org/drawingml/2006/main">
            <a:r>
              <a:t>SOURCES</a:t>
            </a:r>
          </a:p>
          <a:p xmlns:a="http://schemas.openxmlformats.org/drawingml/2006/main">
            <a:r>
              <a:t>Course CSV: https://drive.google.com/file/d/1T6pweFV4EjBxZ75gge775OOYMYx2aKX0/view</a:t>
            </a:r>
          </a:p>
          <a:p xmlns:a="http://schemas.openxmlformats.org/drawingml/2006/main">
            <a:r>
              <a:t>Data definitions: https://drive.google.com/file/d/1htqVTYconACXDD28CACXOpz8VAyz8Xm5/view</a:t>
            </a:r>
          </a:p>
          <a:p xmlns:a="http://schemas.openxmlformats.org/drawingml/2006/main">
            <a:r>
              <a:t>Course calculation reference: https://drive.google.com/file/d/1_DAzbKnnIl4dn1JN2hffwhCueJOoqPOh/view</a:t>
            </a:r>
          </a:p>
          <a:p xmlns:a="http://schemas.openxmlformats.org/drawingml/2006/main">
            <a:r>
              <a:t>All data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QUESTION: Which regions are below 65%, and what is the gap?</a:t>
            </a:r>
          </a:p>
          <a:p xmlns:a="http://schemas.openxmlformats.org/drawingml/2006/main">
            <a:r>
              <a:t/>
            </a:r>
          </a:p>
          <a:p xmlns:a="http://schemas.openxmlformats.org/drawingml/2006/main">
            <a:r>
              <a:t>SAY: Each bar shows a region's December 2025 adoption. The orange line marks 65%. Nine regions are below target: Najran, Al-Baha, Jazan, Northern Borders, Tabuk, Al-Jouf, Asir, Hail and Qassim. Najran has the lowest adoption, 58.89%, with a gap of 6.11 percentage points. Dark teal marks the three regions we propose for the first trials.</a:t>
            </a:r>
          </a:p>
          <a:p xmlns:a="http://schemas.openxmlformats.org/drawingml/2006/main">
            <a:r>
              <a:t/>
            </a:r>
          </a:p>
          <a:p xmlns:a="http://schemas.openxmlformats.org/drawingml/2006/main">
            <a:r>
              <a:t>WHY THE COLORS: We highlight the proposed trial regions so the audience can follow the funding plan. We do not highlight every region below target.</a:t>
            </a:r>
          </a:p>
          <a:p xmlns:a="http://schemas.openxmlformats.org/drawingml/2006/main">
            <a:r>
              <a:t/>
            </a:r>
          </a:p>
          <a:p xmlns:a="http://schemas.openxmlformats.org/drawingml/2006/main">
            <a:r>
              <a:t>WHY AL-BAHA IS NOT DARK TEAL: It has lower adoption than Jazan, but the selection also uses transaction activity. Al-Baha ranks fourth under our priority score. Slide 4 explains the score and the very small gap between third and fourth.</a:t>
            </a:r>
          </a:p>
          <a:p xmlns:a="http://schemas.openxmlformats.org/drawingml/2006/main">
            <a:r>
              <a:t/>
            </a:r>
          </a:p>
          <a:p xmlns:a="http://schemas.openxmlformats.org/drawingml/2006/main">
            <a:r>
              <a:t>SOURCES</a:t>
            </a:r>
          </a:p>
          <a:p xmlns:a="http://schemas.openxmlformats.org/drawingml/2006/main">
            <a:r>
              <a:t>Course CSV: https://drive.google.com/file/d/1T6pweFV4EjBxZ75gge775OOYMYx2aKX0/view</a:t>
            </a:r>
          </a:p>
          <a:p xmlns:a="http://schemas.openxmlformats.org/drawingml/2006/main">
            <a:r>
              <a:t>Data definitions: https://drive.google.com/file/d/1htqVTYconACXDD28CACXOpz8VAyz8Xm5/view</a:t>
            </a:r>
          </a:p>
          <a:p xmlns:a="http://schemas.openxmlformats.org/drawingml/2006/main">
            <a:r>
              <a:t>Course calculation reference: https://drive.google.com/file/d/1_DAzbKnnIl4dn1JN2hffwhCueJOoqPOh/view</a:t>
            </a:r>
          </a:p>
          <a:p xmlns:a="http://schemas.openxmlformats.org/drawingml/2006/main">
            <a:r>
              <a:t>All data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QUESTION: Which regions are the biggest priorities, and what evidence supports them?</a:t>
            </a:r>
          </a:p>
          <a:p xmlns:a="http://schemas.openxmlformats.org/drawingml/2006/main">
            <a:r>
              <a:t/>
            </a:r>
          </a:p>
          <a:p xmlns:a="http://schemas.openxmlformats.org/drawingml/2006/main">
            <a:r>
              <a:t>SAY: We rank the nine regions below target using a priority score. Multiply the positive gap to 65 by December transactions, then divide by 100. Najran ranks first at 570.12, Jazan second at 455.08 and Northern Borders third at 446.26. These three have 42.61% of the total priority score for the nine regions below target.</a:t>
            </a:r>
          </a:p>
          <a:p xmlns:a="http://schemas.openxmlformats.org/drawingml/2006/main">
            <a:r>
              <a:t/>
            </a:r>
          </a:p>
          <a:p xmlns:a="http://schemas.openxmlformats.org/drawingml/2006/main">
            <a:r>
              <a:t>IMPORTANT LIMIT: 42.61% is a score share. It is not a share of users, transactions or budget. The score helps rank regions. It cannot predict extra digital transactions or investment returns.</a:t>
            </a:r>
          </a:p>
          <a:p xmlns:a="http://schemas.openxmlformats.org/drawingml/2006/main">
            <a:r>
              <a:t/>
            </a:r>
          </a:p>
          <a:p xmlns:a="http://schemas.openxmlformats.org/drawingml/2006/main">
            <a:r>
              <a:t>WHY AL-BAHA NEEDS A CHECK: Its score is 445.60, only about 0.66 below Northern Borders. This is almost a tie. Weighting adoption by transaction activity changes the top three to Najran, Northern Borders and Al-Baha, replacing Jazan. Confirm the measure and local service demand before funding.</a:t>
            </a:r>
          </a:p>
          <a:p xmlns:a="http://schemas.openxmlformats.org/drawingml/2006/main">
            <a:r>
              <a:t/>
            </a:r>
          </a:p>
          <a:p xmlns:a="http://schemas.openxmlformats.org/drawingml/2006/main">
            <a:r>
              <a:t>IF ASKED ABOUT TABLEAU: This editable chart uses the supplied CSV and the workbook calculations. The original Day 2 dashboard was not supplied. The reconstructed workbook still needs actual opening and checking in Tableau.</a:t>
            </a:r>
          </a:p>
          <a:p xmlns:a="http://schemas.openxmlformats.org/drawingml/2006/main">
            <a:r>
              <a:t/>
            </a:r>
          </a:p>
          <a:p xmlns:a="http://schemas.openxmlformats.org/drawingml/2006/main">
            <a:r>
              <a:t>SOURCES</a:t>
            </a:r>
          </a:p>
          <a:p xmlns:a="http://schemas.openxmlformats.org/drawingml/2006/main">
            <a:r>
              <a:t>Course CSV: https://drive.google.com/file/d/1T6pweFV4EjBxZ75gge775OOYMYx2aKX0/view</a:t>
            </a:r>
          </a:p>
          <a:p xmlns:a="http://schemas.openxmlformats.org/drawingml/2006/main">
            <a:r>
              <a:t>Data definitions: https://drive.google.com/file/d/1htqVTYconACXDD28CACXOpz8VAyz8Xm5/view</a:t>
            </a:r>
          </a:p>
          <a:p xmlns:a="http://schemas.openxmlformats.org/drawingml/2006/main">
            <a:r>
              <a:t>Course calculation reference: https://drive.google.com/file/d/1_DAzbKnnIl4dn1JN2hffwhCueJOoqPOh/view</a:t>
            </a:r>
          </a:p>
          <a:p xmlns:a="http://schemas.openxmlformats.org/drawingml/2006/main">
            <a:r>
              <a:t>All data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QUESTION: What are the realistic choices for using SAR 40 million?</a:t>
            </a:r>
          </a:p>
          <a:p xmlns:a="http://schemas.openxmlformats.org/drawingml/2006/main">
            <a:r>
              <a:t/>
            </a:r>
          </a:p>
          <a:p xmlns:a="http://schemas.openxmlformats.org/drawingml/2006/main">
            <a:r>
              <a:t>SAY: We compare three choices. Equal funding gives each of the nine regions about SAR 4.44 million, but ignores their different gaps and activity. Using all the money now focuses on three regions but spends the full budget before testing. Funding in steps sets aside SAR 35 million for regions and SAR 5 million for review. We choose this option. Release the first SAR 10 million after trial plan approval and hold SAR 30 million for review.</a:t>
            </a:r>
          </a:p>
          <a:p xmlns:a="http://schemas.openxmlformats.org/drawingml/2006/main">
            <a:r>
              <a:t/>
            </a:r>
          </a:p>
          <a:p xmlns:a="http://schemas.openxmlformats.org/drawingml/2006/main">
            <a:r>
              <a:t>IF ASKED WHY: The region ranking can change with the measure, and the data do not show what return the money will produce. Small trials give us evidence before a larger release.</a:t>
            </a:r>
          </a:p>
          <a:p xmlns:a="http://schemas.openxmlformats.org/drawingml/2006/main">
            <a:r>
              <a:t/>
            </a:r>
          </a:p>
          <a:p xmlns:a="http://schemas.openxmlformats.org/drawingml/2006/main">
            <a:r>
              <a:t>SOURCES</a:t>
            </a:r>
          </a:p>
          <a:p xmlns:a="http://schemas.openxmlformats.org/drawingml/2006/main">
            <a:r>
              <a:t>Course CSV: https://drive.google.com/file/d/1T6pweFV4EjBxZ75gge775OOYMYx2aKX0/view</a:t>
            </a:r>
          </a:p>
          <a:p xmlns:a="http://schemas.openxmlformats.org/drawingml/2006/main">
            <a:r>
              <a:t>Data definitions: https://drive.google.com/file/d/1htqVTYconACXDD28CACXOpz8VAyz8Xm5/view</a:t>
            </a:r>
          </a:p>
          <a:p xmlns:a="http://schemas.openxmlformats.org/drawingml/2006/main">
            <a:r>
              <a:t>Course calculation reference: https://drive.google.com/file/d/1_DAzbKnnIl4dn1JN2hffwhCueJOoqPOh/view</a:t>
            </a:r>
          </a:p>
          <a:p xmlns:a="http://schemas.openxmlformats.org/drawingml/2006/main">
            <a:r>
              <a:t>All data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QUESTION: Which option and regions do we recommend, why, and what effect can we show?</a:t>
            </a:r>
          </a:p>
          <a:p xmlns:a="http://schemas.openxmlformats.org/drawingml/2006/main">
            <a:r>
              <a:t/>
            </a:r>
          </a:p>
          <a:p xmlns:a="http://schemas.openxmlformats.org/drawingml/2006/main">
            <a:r>
              <a:t>SAY: We recommend funding in steps. The proposed budgets are SAR 13 million for Najran, SAR 11 million each for Jazan and Northern Borders, and SAR 5 million for review and reserve. We split the regional SAR 35 million in proportion to the priority scores and round to whole millions. These are proposed budgets, so we must check local costs.</a:t>
            </a:r>
          </a:p>
          <a:p xmlns:a="http://schemas.openxmlformats.org/drawingml/2006/main">
            <a:r>
              <a:t/>
            </a:r>
          </a:p>
          <a:p xmlns:a="http://schemas.openxmlformats.org/drawingml/2006/main">
            <a:r>
              <a:t>EXPLAIN 64.45%: If these three regions reach 65% and all other regions stay unchanged, the national course average becomes 64.45%. It still falls below 65%. This is an example based on those conditions. It does not predict the effect of SAR 40 million.</a:t>
            </a:r>
          </a:p>
          <a:p xmlns:a="http://schemas.openxmlformats.org/drawingml/2006/main">
            <a:r>
              <a:t/>
            </a:r>
          </a:p>
          <a:p xmlns:a="http://schemas.openxmlformats.org/drawingml/2006/main">
            <a:r>
              <a:t>IF ASKED: We round each regional amount down first, then give the remaining millions to the largest decimal parts. This keeps the total at 40 million. The first 10 million splits into 3.72 million for Najran and 3.14 million each for Jazan and Northern Borders. Possible trial work includes helping users sign up or removing steps that delay services. Check the actual barriers before choosing a service plan.</a:t>
            </a:r>
          </a:p>
          <a:p xmlns:a="http://schemas.openxmlformats.org/drawingml/2006/main">
            <a:r>
              <a:t/>
            </a:r>
          </a:p>
          <a:p xmlns:a="http://schemas.openxmlformats.org/drawingml/2006/main">
            <a:r>
              <a:t>SOURCES</a:t>
            </a:r>
          </a:p>
          <a:p xmlns:a="http://schemas.openxmlformats.org/drawingml/2006/main">
            <a:r>
              <a:t>Course CSV: https://drive.google.com/file/d/1T6pweFV4EjBxZ75gge775OOYMYx2aKX0/view</a:t>
            </a:r>
          </a:p>
          <a:p xmlns:a="http://schemas.openxmlformats.org/drawingml/2006/main">
            <a:r>
              <a:t>Data definitions: https://drive.google.com/file/d/1htqVTYconACXDD28CACXOpz8VAyz8Xm5/view</a:t>
            </a:r>
          </a:p>
          <a:p xmlns:a="http://schemas.openxmlformats.org/drawingml/2006/main">
            <a:r>
              <a:t>Course calculation reference: https://drive.google.com/file/d/1_DAzbKnnIl4dn1JN2hffwhCueJOoqPOh/view</a:t>
            </a:r>
          </a:p>
          <a:p xmlns:a="http://schemas.openxmlformats.org/drawingml/2006/main">
            <a:r>
              <a:t>All data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QUESTION: What exactly should the decision-maker approve and do next?</a:t>
            </a:r>
          </a:p>
          <a:p xmlns:a="http://schemas.openxmlformats.org/drawingml/2006/main">
            <a:r>
              <a:t/>
            </a:r>
          </a:p>
          <a:p xmlns:a="http://schemas.openxmlformats.org/drawingml/2006/main">
            <a:r>
              <a:t>SAY: Please approve the SAR 40 million plan. Release the first SAR 10 million only after trial plan approval, and hold SAR 30 million. At budget approval, choose a lead. Before any release or service change, agree the adoption measure, collect starting data, choose a fair comparison, check the region selection and approve service plans and costs. Start within thirty days only if ready.</a:t>
            </a:r>
          </a:p>
          <a:p xmlns:a="http://schemas.openxmlformats.org/drawingml/2006/main">
            <a:r>
              <a:t/>
            </a:r>
          </a:p>
          <a:p xmlns:a="http://schemas.openxmlformats.org/drawingml/2006/main">
            <a:r>
              <a:t>CHECKPOINT: Review results and costs at day ninety from budget approval. Record how long the trials actually ran. Extend the review if that time is too short. A gain of two percentage points, with steady customer satisfaction and service quality, is a proposed goal. It is not a promised result. Pause later releases if evidence is weak.</a:t>
            </a:r>
          </a:p>
          <a:p xmlns:a="http://schemas.openxmlformats.org/drawingml/2006/main">
            <a:r>
              <a:t/>
            </a:r>
          </a:p>
          <a:p xmlns:a="http://schemas.openxmlformats.org/drawingml/2006/main">
            <a:r>
              <a:t>SIMPLE TERMS: Starting data means the values before the trial. A fair comparison helps check whether a change came from the trial or from other factors.</a:t>
            </a:r>
          </a:p>
          <a:p xmlns:a="http://schemas.openxmlformats.org/drawingml/2006/main">
            <a:r>
              <a:t/>
            </a:r>
          </a:p>
          <a:p xmlns:a="http://schemas.openxmlformats.org/drawingml/2006/main">
            <a:r>
              <a:t>SOURCES</a:t>
            </a:r>
          </a:p>
          <a:p xmlns:a="http://schemas.openxmlformats.org/drawingml/2006/main">
            <a:r>
              <a:t>Course CSV: https://drive.google.com/file/d/1T6pweFV4EjBxZ75gge775OOYMYx2aKX0/view</a:t>
            </a:r>
          </a:p>
          <a:p xmlns:a="http://schemas.openxmlformats.org/drawingml/2006/main">
            <a:r>
              <a:t>Data definitions: https://drive.google.com/file/d/1htqVTYconACXDD28CACXOpz8VAyz8Xm5/view</a:t>
            </a:r>
          </a:p>
          <a:p xmlns:a="http://schemas.openxmlformats.org/drawingml/2006/main">
            <a:r>
              <a:t>Course calculation reference: https://drive.google.com/file/d/1_DAzbKnnIl4dn1JN2hffwhCueJOoqPOh/view</a:t>
            </a:r>
          </a:p>
          <a:p xmlns:a="http://schemas.openxmlformats.org/drawingml/2006/main">
            <a:r>
              <a:t>All data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b3bdb700d64a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cd9a3053ce4837" /><Relationship Type="http://schemas.openxmlformats.org/officeDocument/2006/relationships/slideLayout" Target="/ppt/slideLayouts/slideLayout1.xml" Id="Rd60fa139117044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0fa139117044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c0a57631ed641bd" /><Relationship Type="http://schemas.openxmlformats.org/officeDocument/2006/relationships/notesSlide" Target="/ppt/notesSlides/notesSlide1.xml" Id="Rec6279a5d6fc4b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e202d797264d72" /><Relationship Type="http://schemas.openxmlformats.org/officeDocument/2006/relationships/chart" Target="/ppt/slides/charts/chart1.xml" Id="R51e1efa725604f21" /><Relationship Type="http://schemas.openxmlformats.org/officeDocument/2006/relationships/notesSlide" Target="/ppt/notesSlides/notesSlide2.xml" Id="R50c21c66665a4c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cabb376dc0147fb" /><Relationship Type="http://schemas.openxmlformats.org/officeDocument/2006/relationships/chart" Target="/ppt/slides/charts/chart2.xml" Id="R0a7d9a121c2147e5" /><Relationship Type="http://schemas.openxmlformats.org/officeDocument/2006/relationships/notesSlide" Target="/ppt/notesSlides/notesSlide3.xml" Id="Rfe6a6294fdf54b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41229ab64a94a95" /><Relationship Type="http://schemas.openxmlformats.org/officeDocument/2006/relationships/chart" Target="/ppt/slides/charts/chart3.xml" Id="R8a59a4b53cdd4d58" /><Relationship Type="http://schemas.openxmlformats.org/officeDocument/2006/relationships/notesSlide" Target="/ppt/notesSlides/notesSlide4.xml" Id="R75bbd150bbc74c0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a818e5c88ce4f33" /><Relationship Type="http://schemas.openxmlformats.org/officeDocument/2006/relationships/notesSlide" Target="/ppt/notesSlides/notesSlide5.xml" Id="R13163b202d4844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84b18eb04aa4f29" /><Relationship Type="http://schemas.openxmlformats.org/officeDocument/2006/relationships/notesSlide" Target="/ppt/notesSlides/notesSlide6.xml" Id="R5925b68d8b5c4e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36b456403174c8c" /><Relationship Type="http://schemas.openxmlformats.org/officeDocument/2006/relationships/notesSlide" Target="/ppt/notesSlides/notesSlide7.xml" Id="R1d8140848b3841f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Course adoption index</c:v>
          </c:tx>
          <c:spPr>
            <a:ln xmlns:a="http://schemas.openxmlformats.org/drawingml/2006/main" w="28575">
              <a:solidFill>
                <a:srgbClr val="087D82"/>
              </a:solidFill>
            </a:ln>
          </c:spPr>
          <c:marker>
            <c:symbol val="none"/>
          </c:marker>
          <c:dLbls>
            <c:dLbl>
              <c:idx val="47"/>
              <c:tx>
                <c:rich>
                  <a:bodyPr xmlns:a="http://schemas.openxmlformats.org/drawingml/2006/main"/>
                  <a:lstStyle xmlns:a="http://schemas.openxmlformats.org/drawingml/2006/main"/>
                  <a:p xmlns:a="http://schemas.openxmlformats.org/drawingml/2006/main">
                    <a:r>
                      <a:rPr sz="1575" b="1">
                        <a:latin typeface="Arial"/>
                        <a:ea typeface="Arial"/>
                        <a:cs typeface="Arial"/>
                      </a:rPr>
                      <a:t>63.33%</a:t>
                    </a:r>
                  </a:p>
                </c:rich>
              </c:tx>
              <c:txPr>
                <a:bodyPr xmlns:a="http://schemas.openxmlformats.org/drawingml/2006/main" anchorCtr="1"/>
                <a:lstStyle xmlns:a="http://schemas.openxmlformats.org/drawingml/2006/main"/>
                <a:p xmlns:a="http://schemas.openxmlformats.org/drawingml/2006/main">
                  <a:pPr>
                    <a:defRPr sz="1575" b="1">
                      <a:latin typeface="Arial"/>
                      <a:ea typeface="Arial"/>
                      <a:cs typeface="Arial"/>
                    </a:defRPr>
                  </a:pPr>
                </a:p>
              </c:txPr>
              <c:showLegendKey val="0"/>
              <c:showVal val="1"/>
              <c:showCatName val="0"/>
              <c:showSerName val="0"/>
              <c:showPercent val="0"/>
              <c:showBubbleSize val="0"/>
            </c:dLbl>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showLegendKey val="0"/>
            <c:showVal val="0"/>
            <c:showCatName val="0"/>
            <c:showSerName val="0"/>
            <c:showPercent val="0"/>
            <c:showBubbleSize val="0"/>
            <c:showLeaderLines val="0"/>
          </c:dLbls>
          <c:cat>
            <c:strRef>
              <c:f>'Chart Data'!$A$2:$A$49</c:f>
              <c:strCache>
                <c:ptCount val="48"/>
                <c:pt idx="0">
                  <c:v>2022-01</c:v>
                </c:pt>
                <c:pt idx="1">
                  <c:v>2022-02</c:v>
                </c:pt>
                <c:pt idx="2">
                  <c:v>2022-03</c:v>
                </c:pt>
                <c:pt idx="3">
                  <c:v>2022-04</c:v>
                </c:pt>
                <c:pt idx="4">
                  <c:v>2022-05</c:v>
                </c:pt>
                <c:pt idx="5">
                  <c:v>2022-06</c:v>
                </c:pt>
                <c:pt idx="6">
                  <c:v>2022-07</c:v>
                </c:pt>
                <c:pt idx="7">
                  <c:v>2022-08</c:v>
                </c:pt>
                <c:pt idx="8">
                  <c:v>2022-09</c:v>
                </c:pt>
                <c:pt idx="9">
                  <c:v>2022-10</c:v>
                </c:pt>
                <c:pt idx="10">
                  <c:v>2022-11</c:v>
                </c:pt>
                <c:pt idx="11">
                  <c:v>2022-12</c:v>
                </c:pt>
                <c:pt idx="12">
                  <c:v>2023-01</c:v>
                </c:pt>
                <c:pt idx="13">
                  <c:v>2023-02</c:v>
                </c:pt>
                <c:pt idx="14">
                  <c:v>2023-03</c:v>
                </c:pt>
                <c:pt idx="15">
                  <c:v>2023-04</c:v>
                </c:pt>
                <c:pt idx="16">
                  <c:v>2023-05</c:v>
                </c:pt>
                <c:pt idx="17">
                  <c:v>2023-06</c:v>
                </c:pt>
                <c:pt idx="18">
                  <c:v>2023-07</c:v>
                </c:pt>
                <c:pt idx="19">
                  <c:v>2023-08</c:v>
                </c:pt>
                <c:pt idx="20">
                  <c:v>2023-09</c:v>
                </c:pt>
                <c:pt idx="21">
                  <c:v>2023-10</c:v>
                </c:pt>
                <c:pt idx="22">
                  <c:v>2023-11</c:v>
                </c:pt>
                <c:pt idx="23">
                  <c:v>2023-12</c:v>
                </c:pt>
                <c:pt idx="24">
                  <c:v>2024-01</c:v>
                </c:pt>
                <c:pt idx="25">
                  <c:v>2024-02</c:v>
                </c:pt>
                <c:pt idx="26">
                  <c:v>2024-03</c:v>
                </c:pt>
                <c:pt idx="27">
                  <c:v>2024-04</c:v>
                </c:pt>
                <c:pt idx="28">
                  <c:v>2024-05</c:v>
                </c:pt>
                <c:pt idx="29">
                  <c:v>2024-06</c:v>
                </c:pt>
                <c:pt idx="30">
                  <c:v>2024-07</c:v>
                </c:pt>
                <c:pt idx="31">
                  <c:v>2024-08</c:v>
                </c:pt>
                <c:pt idx="32">
                  <c:v>2024-09</c:v>
                </c:pt>
                <c:pt idx="33">
                  <c:v>2024-10</c:v>
                </c:pt>
                <c:pt idx="34">
                  <c:v>2024-11</c:v>
                </c:pt>
                <c:pt idx="35">
                  <c:v>2024-12</c:v>
                </c:pt>
                <c:pt idx="36">
                  <c:v>2025-01</c:v>
                </c:pt>
                <c:pt idx="37">
                  <c:v>2025-02</c:v>
                </c:pt>
                <c:pt idx="38">
                  <c:v>2025-03</c:v>
                </c:pt>
                <c:pt idx="39">
                  <c:v>2025-04</c:v>
                </c:pt>
                <c:pt idx="40">
                  <c:v>2025-05</c:v>
                </c:pt>
                <c:pt idx="41">
                  <c:v>2025-06</c:v>
                </c:pt>
                <c:pt idx="42">
                  <c:v>2025-07</c:v>
                </c:pt>
                <c:pt idx="43">
                  <c:v>2025-08</c:v>
                </c:pt>
                <c:pt idx="44">
                  <c:v>2025-09</c:v>
                </c:pt>
                <c:pt idx="45">
                  <c:v>2025-10</c:v>
                </c:pt>
                <c:pt idx="46">
                  <c:v>2025-11</c:v>
                </c:pt>
                <c:pt idx="47">
                  <c:v>2025-12</c:v>
                </c:pt>
              </c:strCache>
            </c:strRef>
          </c:cat>
          <c:val>
            <c:numRef>
              <c:f>'Chart Data'!$B$2:$B$49</c:f>
              <c:numCache>
                <c:formatCode>0"%"</c:formatCode>
                <c:ptCount val="48"/>
                <c:pt idx="0">
                  <c:v>51.4</c:v>
                </c:pt>
                <c:pt idx="1">
                  <c:v>51.43</c:v>
                </c:pt>
                <c:pt idx="2">
                  <c:v>51.89</c:v>
                </c:pt>
                <c:pt idx="3">
                  <c:v>52.04</c:v>
                </c:pt>
                <c:pt idx="4">
                  <c:v>52.49</c:v>
                </c:pt>
                <c:pt idx="5">
                  <c:v>52.4</c:v>
                </c:pt>
                <c:pt idx="6">
                  <c:v>52.83</c:v>
                </c:pt>
                <c:pt idx="7">
                  <c:v>53.29</c:v>
                </c:pt>
                <c:pt idx="8">
                  <c:v>53.07</c:v>
                </c:pt>
                <c:pt idx="9">
                  <c:v>53.67</c:v>
                </c:pt>
                <c:pt idx="10">
                  <c:v>54.1</c:v>
                </c:pt>
                <c:pt idx="11">
                  <c:v>53.87</c:v>
                </c:pt>
                <c:pt idx="12">
                  <c:v>54.25</c:v>
                </c:pt>
                <c:pt idx="13">
                  <c:v>54.68</c:v>
                </c:pt>
                <c:pt idx="14">
                  <c:v>54.83</c:v>
                </c:pt>
                <c:pt idx="15">
                  <c:v>55.09</c:v>
                </c:pt>
                <c:pt idx="16">
                  <c:v>55.66</c:v>
                </c:pt>
                <c:pt idx="17">
                  <c:v>55.72</c:v>
                </c:pt>
                <c:pt idx="18">
                  <c:v>56.04</c:v>
                </c:pt>
                <c:pt idx="19">
                  <c:v>56.23</c:v>
                </c:pt>
                <c:pt idx="20">
                  <c:v>56.58</c:v>
                </c:pt>
                <c:pt idx="21">
                  <c:v>56.52</c:v>
                </c:pt>
                <c:pt idx="22">
                  <c:v>56.92</c:v>
                </c:pt>
                <c:pt idx="23">
                  <c:v>57.12</c:v>
                </c:pt>
                <c:pt idx="24">
                  <c:v>57.68</c:v>
                </c:pt>
                <c:pt idx="25">
                  <c:v>57.77</c:v>
                </c:pt>
                <c:pt idx="26">
                  <c:v>57.94</c:v>
                </c:pt>
                <c:pt idx="27">
                  <c:v>58.21</c:v>
                </c:pt>
                <c:pt idx="28">
                  <c:v>58.61</c:v>
                </c:pt>
                <c:pt idx="29">
                  <c:v>58.75</c:v>
                </c:pt>
                <c:pt idx="30">
                  <c:v>59.2</c:v>
                </c:pt>
                <c:pt idx="31">
                  <c:v>59.18</c:v>
                </c:pt>
                <c:pt idx="32">
                  <c:v>59.72</c:v>
                </c:pt>
                <c:pt idx="33">
                  <c:v>60</c:v>
                </c:pt>
                <c:pt idx="34">
                  <c:v>59.88</c:v>
                </c:pt>
                <c:pt idx="35">
                  <c:v>60.28</c:v>
                </c:pt>
                <c:pt idx="36">
                  <c:v>60.69</c:v>
                </c:pt>
                <c:pt idx="37">
                  <c:v>60.95</c:v>
                </c:pt>
                <c:pt idx="38">
                  <c:v>60.96</c:v>
                </c:pt>
                <c:pt idx="39">
                  <c:v>61.27</c:v>
                </c:pt>
                <c:pt idx="40">
                  <c:v>61.35</c:v>
                </c:pt>
                <c:pt idx="41">
                  <c:v>61.94</c:v>
                </c:pt>
                <c:pt idx="42">
                  <c:v>62.16</c:v>
                </c:pt>
                <c:pt idx="43">
                  <c:v>62.41</c:v>
                </c:pt>
                <c:pt idx="44">
                  <c:v>62.72</c:v>
                </c:pt>
                <c:pt idx="45">
                  <c:v>62.88</c:v>
                </c:pt>
                <c:pt idx="46">
                  <c:v>63.13</c:v>
                </c:pt>
                <c:pt idx="47">
                  <c:v>63.33</c:v>
                </c:pt>
              </c:numCache>
            </c:numRef>
          </c:val>
        </c:ser>
        <c:ser>
          <c:idx val="1"/>
          <c:order val="1"/>
          <c:tx>
            <c:v>65% target</c:v>
          </c:tx>
          <c:spPr>
            <a:ln xmlns:a="http://schemas.openxmlformats.org/drawingml/2006/main" w="19050">
              <a:solidFill>
                <a:srgbClr val="B45C16"/>
              </a:solidFill>
              <a:prstDash val="dash"/>
            </a:ln>
          </c:spPr>
          <c:marker>
            <c:symbol val="none"/>
          </c:marker>
          <c:dLbls>
            <c:dLbl>
              <c:idx val="5"/>
              <c:tx>
                <c:rich>
                  <a:bodyPr xmlns:a="http://schemas.openxmlformats.org/drawingml/2006/main"/>
                  <a:lstStyle xmlns:a="http://schemas.openxmlformats.org/drawingml/2006/main"/>
                  <a:p xmlns:a="http://schemas.openxmlformats.org/drawingml/2006/main">
                    <a:r>
                      <a:rPr sz="1575" b="1">
                        <a:latin typeface="Arial"/>
                        <a:ea typeface="Arial"/>
                        <a:cs typeface="Arial"/>
                      </a:rPr>
                      <a:t>65% target</a:t>
                    </a:r>
                  </a:p>
                </c:rich>
              </c:tx>
              <c:txPr>
                <a:bodyPr xmlns:a="http://schemas.openxmlformats.org/drawingml/2006/main" anchorCtr="1"/>
                <a:lstStyle xmlns:a="http://schemas.openxmlformats.org/drawingml/2006/main"/>
                <a:p xmlns:a="http://schemas.openxmlformats.org/drawingml/2006/main">
                  <a:pPr>
                    <a:defRPr sz="1575" b="1">
                      <a:latin typeface="Arial"/>
                      <a:ea typeface="Arial"/>
                      <a:cs typeface="Arial"/>
                    </a:defRPr>
                  </a:pPr>
                </a:p>
              </c:txPr>
              <c:showLegendKey val="0"/>
              <c:showVal val="1"/>
              <c:showCatName val="0"/>
              <c:showSerName val="0"/>
              <c:showPercent val="0"/>
              <c:showBubbleSize val="0"/>
            </c:dLbl>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showLegendKey val="0"/>
            <c:showVal val="0"/>
            <c:showCatName val="0"/>
            <c:showSerName val="0"/>
            <c:showPercent val="0"/>
            <c:showBubbleSize val="0"/>
            <c:showLeaderLines val="0"/>
          </c:dLbls>
          <c:cat>
            <c:strRef>
              <c:f>'Chart Data'!$C$2:$C$49</c:f>
              <c:strCache>
                <c:ptCount val="48"/>
                <c:pt idx="0">
                  <c:v>2022-01</c:v>
                </c:pt>
                <c:pt idx="1">
                  <c:v>2022-02</c:v>
                </c:pt>
                <c:pt idx="2">
                  <c:v>2022-03</c:v>
                </c:pt>
                <c:pt idx="3">
                  <c:v>2022-04</c:v>
                </c:pt>
                <c:pt idx="4">
                  <c:v>2022-05</c:v>
                </c:pt>
                <c:pt idx="5">
                  <c:v>2022-06</c:v>
                </c:pt>
                <c:pt idx="6">
                  <c:v>2022-07</c:v>
                </c:pt>
                <c:pt idx="7">
                  <c:v>2022-08</c:v>
                </c:pt>
                <c:pt idx="8">
                  <c:v>2022-09</c:v>
                </c:pt>
                <c:pt idx="9">
                  <c:v>2022-10</c:v>
                </c:pt>
                <c:pt idx="10">
                  <c:v>2022-11</c:v>
                </c:pt>
                <c:pt idx="11">
                  <c:v>2022-12</c:v>
                </c:pt>
                <c:pt idx="12">
                  <c:v>2023-01</c:v>
                </c:pt>
                <c:pt idx="13">
                  <c:v>2023-02</c:v>
                </c:pt>
                <c:pt idx="14">
                  <c:v>2023-03</c:v>
                </c:pt>
                <c:pt idx="15">
                  <c:v>2023-04</c:v>
                </c:pt>
                <c:pt idx="16">
                  <c:v>2023-05</c:v>
                </c:pt>
                <c:pt idx="17">
                  <c:v>2023-06</c:v>
                </c:pt>
                <c:pt idx="18">
                  <c:v>2023-07</c:v>
                </c:pt>
                <c:pt idx="19">
                  <c:v>2023-08</c:v>
                </c:pt>
                <c:pt idx="20">
                  <c:v>2023-09</c:v>
                </c:pt>
                <c:pt idx="21">
                  <c:v>2023-10</c:v>
                </c:pt>
                <c:pt idx="22">
                  <c:v>2023-11</c:v>
                </c:pt>
                <c:pt idx="23">
                  <c:v>2023-12</c:v>
                </c:pt>
                <c:pt idx="24">
                  <c:v>2024-01</c:v>
                </c:pt>
                <c:pt idx="25">
                  <c:v>2024-02</c:v>
                </c:pt>
                <c:pt idx="26">
                  <c:v>2024-03</c:v>
                </c:pt>
                <c:pt idx="27">
                  <c:v>2024-04</c:v>
                </c:pt>
                <c:pt idx="28">
                  <c:v>2024-05</c:v>
                </c:pt>
                <c:pt idx="29">
                  <c:v>2024-06</c:v>
                </c:pt>
                <c:pt idx="30">
                  <c:v>2024-07</c:v>
                </c:pt>
                <c:pt idx="31">
                  <c:v>2024-08</c:v>
                </c:pt>
                <c:pt idx="32">
                  <c:v>2024-09</c:v>
                </c:pt>
                <c:pt idx="33">
                  <c:v>2024-10</c:v>
                </c:pt>
                <c:pt idx="34">
                  <c:v>2024-11</c:v>
                </c:pt>
                <c:pt idx="35">
                  <c:v>2024-12</c:v>
                </c:pt>
                <c:pt idx="36">
                  <c:v>2025-01</c:v>
                </c:pt>
                <c:pt idx="37">
                  <c:v>2025-02</c:v>
                </c:pt>
                <c:pt idx="38">
                  <c:v>2025-03</c:v>
                </c:pt>
                <c:pt idx="39">
                  <c:v>2025-04</c:v>
                </c:pt>
                <c:pt idx="40">
                  <c:v>2025-05</c:v>
                </c:pt>
                <c:pt idx="41">
                  <c:v>2025-06</c:v>
                </c:pt>
                <c:pt idx="42">
                  <c:v>2025-07</c:v>
                </c:pt>
                <c:pt idx="43">
                  <c:v>2025-08</c:v>
                </c:pt>
                <c:pt idx="44">
                  <c:v>2025-09</c:v>
                </c:pt>
                <c:pt idx="45">
                  <c:v>2025-10</c:v>
                </c:pt>
                <c:pt idx="46">
                  <c:v>2025-11</c:v>
                </c:pt>
                <c:pt idx="47">
                  <c:v>2025-12</c:v>
                </c:pt>
              </c:strCache>
            </c:strRef>
          </c:cat>
          <c:val>
            <c:numRef>
              <c:f>'Chart Data'!$D$2:$D$49</c:f>
              <c:numCache>
                <c:formatCode>0"%"</c:formatCode>
                <c:ptCount val="48"/>
                <c:pt idx="0">
                  <c:v>65</c:v>
                </c:pt>
                <c:pt idx="1">
                  <c:v>65</c:v>
                </c:pt>
                <c:pt idx="2">
                  <c:v>65</c:v>
                </c:pt>
                <c:pt idx="3">
                  <c:v>65</c:v>
                </c:pt>
                <c:pt idx="4">
                  <c:v>65</c:v>
                </c:pt>
                <c:pt idx="5">
                  <c:v>65</c:v>
                </c:pt>
                <c:pt idx="6">
                  <c:v>65</c:v>
                </c:pt>
                <c:pt idx="7">
                  <c:v>65</c:v>
                </c:pt>
                <c:pt idx="8">
                  <c:v>65</c:v>
                </c:pt>
                <c:pt idx="9">
                  <c:v>65</c:v>
                </c:pt>
                <c:pt idx="10">
                  <c:v>65</c:v>
                </c:pt>
                <c:pt idx="11">
                  <c:v>65</c:v>
                </c:pt>
                <c:pt idx="12">
                  <c:v>65</c:v>
                </c:pt>
                <c:pt idx="13">
                  <c:v>65</c:v>
                </c:pt>
                <c:pt idx="14">
                  <c:v>65</c:v>
                </c:pt>
                <c:pt idx="15">
                  <c:v>65</c:v>
                </c:pt>
                <c:pt idx="16">
                  <c:v>65</c:v>
                </c:pt>
                <c:pt idx="17">
                  <c:v>65</c:v>
                </c:pt>
                <c:pt idx="18">
                  <c:v>65</c:v>
                </c:pt>
                <c:pt idx="19">
                  <c:v>65</c:v>
                </c:pt>
                <c:pt idx="20">
                  <c:v>65</c:v>
                </c:pt>
                <c:pt idx="21">
                  <c:v>65</c:v>
                </c:pt>
                <c:pt idx="22">
                  <c:v>65</c:v>
                </c:pt>
                <c:pt idx="23">
                  <c:v>65</c:v>
                </c:pt>
                <c:pt idx="24">
                  <c:v>65</c:v>
                </c:pt>
                <c:pt idx="25">
                  <c:v>65</c:v>
                </c:pt>
                <c:pt idx="26">
                  <c:v>65</c:v>
                </c:pt>
                <c:pt idx="27">
                  <c:v>65</c:v>
                </c:pt>
                <c:pt idx="28">
                  <c:v>65</c:v>
                </c:pt>
                <c:pt idx="29">
                  <c:v>65</c:v>
                </c:pt>
                <c:pt idx="30">
                  <c:v>65</c:v>
                </c:pt>
                <c:pt idx="31">
                  <c:v>65</c:v>
                </c:pt>
                <c:pt idx="32">
                  <c:v>65</c:v>
                </c:pt>
                <c:pt idx="33">
                  <c:v>65</c:v>
                </c:pt>
                <c:pt idx="34">
                  <c:v>65</c:v>
                </c:pt>
                <c:pt idx="35">
                  <c:v>65</c:v>
                </c:pt>
                <c:pt idx="36">
                  <c:v>65</c:v>
                </c:pt>
                <c:pt idx="37">
                  <c:v>65</c:v>
                </c:pt>
                <c:pt idx="38">
                  <c:v>65</c:v>
                </c:pt>
                <c:pt idx="39">
                  <c:v>65</c:v>
                </c:pt>
                <c:pt idx="40">
                  <c:v>65</c:v>
                </c:pt>
                <c:pt idx="41">
                  <c:v>65</c:v>
                </c:pt>
                <c:pt idx="42">
                  <c:v>65</c:v>
                </c:pt>
                <c:pt idx="43">
                  <c:v>65</c:v>
                </c:pt>
                <c:pt idx="44">
                  <c:v>65</c:v>
                </c:pt>
                <c:pt idx="45">
                  <c:v>65</c:v>
                </c:pt>
                <c:pt idx="46">
                  <c:v>65</c:v>
                </c:pt>
                <c:pt idx="47">
                  <c:v>65</c:v>
                </c:pt>
              </c:numCache>
            </c:numRef>
          </c:val>
        </c:ser>
        <c:dLbls>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E3E9EA"/>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majorUnit val="2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Regional adoption</c:v>
          </c:tx>
          <c:spPr>
            <a:solidFill xmlns:a="http://schemas.openxmlformats.org/drawingml/2006/main">
              <a:srgbClr val="D7E5E6"/>
            </a:solidFill>
          </c:spPr>
          <c:dPt>
            <c:idx val="0"/>
            <c:invertIfNegative val="0"/>
            <c:spPr>
              <a:solidFill xmlns:a="http://schemas.openxmlformats.org/drawingml/2006/main">
                <a:srgbClr val="D7E5E6"/>
              </a:solidFill>
            </c:spPr>
          </c:dPt>
          <c:dPt>
            <c:idx val="1"/>
            <c:invertIfNegative val="0"/>
            <c:spPr>
              <a:solidFill xmlns:a="http://schemas.openxmlformats.org/drawingml/2006/main">
                <a:srgbClr val="D7E5E6"/>
              </a:solidFill>
            </c:spPr>
          </c:dPt>
          <c:dPt>
            <c:idx val="2"/>
            <c:invertIfNegative val="0"/>
            <c:spPr>
              <a:solidFill xmlns:a="http://schemas.openxmlformats.org/drawingml/2006/main">
                <a:srgbClr val="D7E5E6"/>
              </a:solidFill>
            </c:spPr>
          </c:dPt>
          <c:dPt>
            <c:idx val="3"/>
            <c:invertIfNegative val="0"/>
            <c:spPr>
              <a:solidFill xmlns:a="http://schemas.openxmlformats.org/drawingml/2006/main">
                <a:srgbClr val="D7E5E6"/>
              </a:solidFill>
            </c:spPr>
          </c:dPt>
          <c:dPt>
            <c:idx val="4"/>
            <c:invertIfNegative val="0"/>
            <c:spPr>
              <a:solidFill xmlns:a="http://schemas.openxmlformats.org/drawingml/2006/main">
                <a:srgbClr val="D7E5E6"/>
              </a:solidFill>
            </c:spPr>
          </c:dPt>
          <c:dPt>
            <c:idx val="5"/>
            <c:invertIfNegative val="0"/>
            <c:spPr>
              <a:solidFill xmlns:a="http://schemas.openxmlformats.org/drawingml/2006/main">
                <a:srgbClr val="D7E5E6"/>
              </a:solidFill>
            </c:spPr>
          </c:dPt>
          <c:dPt>
            <c:idx val="6"/>
            <c:invertIfNegative val="0"/>
            <c:spPr>
              <a:solidFill xmlns:a="http://schemas.openxmlformats.org/drawingml/2006/main">
                <a:srgbClr val="D7E5E6"/>
              </a:solidFill>
            </c:spPr>
          </c:dPt>
          <c:dPt>
            <c:idx val="7"/>
            <c:invertIfNegative val="0"/>
            <c:spPr>
              <a:solidFill xmlns:a="http://schemas.openxmlformats.org/drawingml/2006/main">
                <a:srgbClr val="D7E5E6"/>
              </a:solidFill>
            </c:spPr>
          </c:dPt>
          <c:dPt>
            <c:idx val="8"/>
            <c:invertIfNegative val="0"/>
            <c:spPr>
              <a:solidFill xmlns:a="http://schemas.openxmlformats.org/drawingml/2006/main">
                <a:srgbClr val="D7E5E6"/>
              </a:solidFill>
            </c:spPr>
          </c:dPt>
          <c:dPt>
            <c:idx val="9"/>
            <c:invertIfNegative val="0"/>
            <c:spPr>
              <a:solidFill xmlns:a="http://schemas.openxmlformats.org/drawingml/2006/main">
                <a:srgbClr val="087D82"/>
              </a:solidFill>
            </c:spPr>
          </c:dPt>
          <c:dPt>
            <c:idx val="10"/>
            <c:invertIfNegative val="0"/>
            <c:spPr>
              <a:solidFill xmlns:a="http://schemas.openxmlformats.org/drawingml/2006/main">
                <a:srgbClr val="087D82"/>
              </a:solidFill>
            </c:spPr>
          </c:dPt>
          <c:dPt>
            <c:idx val="11"/>
            <c:invertIfNegative val="0"/>
            <c:spPr>
              <a:solidFill xmlns:a="http://schemas.openxmlformats.org/drawingml/2006/main">
                <a:srgbClr val="D7E5E6"/>
              </a:solidFill>
            </c:spPr>
          </c:dPt>
          <c:dPt>
            <c:idx val="12"/>
            <c:invertIfNegative val="0"/>
            <c:spPr>
              <a:solidFill xmlns:a="http://schemas.openxmlformats.org/drawingml/2006/main">
                <a:srgbClr val="087D82"/>
              </a:solidFill>
            </c:spPr>
          </c:dPt>
          <c:dLbls>
            <c:dLbl>
              <c:idx val="0"/>
              <c:tx>
                <c:rich>
                  <a:bodyPr xmlns:a="http://schemas.openxmlformats.org/drawingml/2006/main"/>
                  <a:lstStyle xmlns:a="http://schemas.openxmlformats.org/drawingml/2006/main"/>
                  <a:p xmlns:a="http://schemas.openxmlformats.org/drawingml/2006/main">
                    <a:r>
                      <a:rPr sz="1425">
                        <a:solidFill>
                          <a:srgbClr val="15363D"/>
                        </a:solidFill>
                        <a:latin typeface="Arial"/>
                        <a:ea typeface="Arial"/>
                        <a:cs typeface="Arial"/>
                      </a:rPr>
                      <a:t>69.13%</a:t>
                    </a:r>
                  </a:p>
                </c:rich>
              </c:tx>
              <c:txPr>
                <a:bodyPr xmlns:a="http://schemas.openxmlformats.org/drawingml/2006/main" anchorCtr="1"/>
                <a:lstStyle xmlns:a="http://schemas.openxmlformats.org/drawingml/2006/main"/>
                <a:p xmlns:a="http://schemas.openxmlformats.org/drawingml/2006/main">
                  <a:pPr>
                    <a:defRPr sz="1425">
                      <a:solidFill>
                        <a:srgbClr val="15363D"/>
                      </a:solidFill>
                      <a:latin typeface="Arial"/>
                      <a:ea typeface="Arial"/>
                      <a:cs typeface="Arial"/>
                    </a:defRPr>
                  </a:pPr>
                </a:p>
              </c:txPr>
              <c:dLblPos val="ct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425">
                        <a:solidFill>
                          <a:srgbClr val="15363D"/>
                        </a:solidFill>
                        <a:latin typeface="Arial"/>
                        <a:ea typeface="Arial"/>
                        <a:cs typeface="Arial"/>
                      </a:rPr>
                      <a:t>68.07%</a:t>
                    </a:r>
                  </a:p>
                </c:rich>
              </c:tx>
              <c:txPr>
                <a:bodyPr xmlns:a="http://schemas.openxmlformats.org/drawingml/2006/main" anchorCtr="1"/>
                <a:lstStyle xmlns:a="http://schemas.openxmlformats.org/drawingml/2006/main"/>
                <a:p xmlns:a="http://schemas.openxmlformats.org/drawingml/2006/main">
                  <a:pPr>
                    <a:defRPr sz="1425">
                      <a:solidFill>
                        <a:srgbClr val="15363D"/>
                      </a:solidFill>
                      <a:latin typeface="Arial"/>
                      <a:ea typeface="Arial"/>
                      <a:cs typeface="Arial"/>
                    </a:defRPr>
                  </a:pPr>
                </a:p>
              </c:txPr>
              <c:dLblPos val="ct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425">
                        <a:solidFill>
                          <a:srgbClr val="15363D"/>
                        </a:solidFill>
                        <a:latin typeface="Arial"/>
                        <a:ea typeface="Arial"/>
                        <a:cs typeface="Arial"/>
                      </a:rPr>
                      <a:t>66.62%</a:t>
                    </a:r>
                  </a:p>
                </c:rich>
              </c:tx>
              <c:txPr>
                <a:bodyPr xmlns:a="http://schemas.openxmlformats.org/drawingml/2006/main" anchorCtr="1"/>
                <a:lstStyle xmlns:a="http://schemas.openxmlformats.org/drawingml/2006/main"/>
                <a:p xmlns:a="http://schemas.openxmlformats.org/drawingml/2006/main">
                  <a:pPr>
                    <a:defRPr sz="1425">
                      <a:solidFill>
                        <a:srgbClr val="15363D"/>
                      </a:solidFill>
                      <a:latin typeface="Arial"/>
                      <a:ea typeface="Arial"/>
                      <a:cs typeface="Arial"/>
                    </a:defRPr>
                  </a:pPr>
                </a:p>
              </c:txPr>
              <c:dLblPos val="ct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425">
                        <a:solidFill>
                          <a:srgbClr val="15363D"/>
                        </a:solidFill>
                        <a:latin typeface="Arial"/>
                        <a:ea typeface="Arial"/>
                        <a:cs typeface="Arial"/>
                      </a:rPr>
                      <a:t>65.84%</a:t>
                    </a:r>
                  </a:p>
                </c:rich>
              </c:tx>
              <c:txPr>
                <a:bodyPr xmlns:a="http://schemas.openxmlformats.org/drawingml/2006/main" anchorCtr="1"/>
                <a:lstStyle xmlns:a="http://schemas.openxmlformats.org/drawingml/2006/main"/>
                <a:p xmlns:a="http://schemas.openxmlformats.org/drawingml/2006/main">
                  <a:pPr>
                    <a:defRPr sz="1425">
                      <a:solidFill>
                        <a:srgbClr val="15363D"/>
                      </a:solidFill>
                      <a:latin typeface="Arial"/>
                      <a:ea typeface="Arial"/>
                      <a:cs typeface="Arial"/>
                    </a:defRPr>
                  </a:pPr>
                </a:p>
              </c:txPr>
              <c:dLblPos val="ct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425">
                        <a:solidFill>
                          <a:srgbClr val="15363D"/>
                        </a:solidFill>
                        <a:latin typeface="Arial"/>
                        <a:ea typeface="Arial"/>
                        <a:cs typeface="Arial"/>
                      </a:rPr>
                      <a:t>63.90%</a:t>
                    </a:r>
                  </a:p>
                </c:rich>
              </c:tx>
              <c:txPr>
                <a:bodyPr xmlns:a="http://schemas.openxmlformats.org/drawingml/2006/main" anchorCtr="1"/>
                <a:lstStyle xmlns:a="http://schemas.openxmlformats.org/drawingml/2006/main"/>
                <a:p xmlns:a="http://schemas.openxmlformats.org/drawingml/2006/main">
                  <a:pPr>
                    <a:defRPr sz="1425">
                      <a:solidFill>
                        <a:srgbClr val="15363D"/>
                      </a:solidFill>
                      <a:latin typeface="Arial"/>
                      <a:ea typeface="Arial"/>
                      <a:cs typeface="Arial"/>
                    </a:defRPr>
                  </a:pPr>
                </a:p>
              </c:txPr>
              <c:dLblPos val="ctr"/>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425">
                        <a:solidFill>
                          <a:srgbClr val="15363D"/>
                        </a:solidFill>
                        <a:latin typeface="Arial"/>
                        <a:ea typeface="Arial"/>
                        <a:cs typeface="Arial"/>
                      </a:rPr>
                      <a:t>62.54%</a:t>
                    </a:r>
                  </a:p>
                </c:rich>
              </c:tx>
              <c:txPr>
                <a:bodyPr xmlns:a="http://schemas.openxmlformats.org/drawingml/2006/main" anchorCtr="1"/>
                <a:lstStyle xmlns:a="http://schemas.openxmlformats.org/drawingml/2006/main"/>
                <a:p xmlns:a="http://schemas.openxmlformats.org/drawingml/2006/main">
                  <a:pPr>
                    <a:defRPr sz="1425">
                      <a:solidFill>
                        <a:srgbClr val="15363D"/>
                      </a:solidFill>
                      <a:latin typeface="Arial"/>
                      <a:ea typeface="Arial"/>
                      <a:cs typeface="Arial"/>
                    </a:defRPr>
                  </a:pPr>
                </a:p>
              </c:txPr>
              <c:dLblPos val="ctr"/>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425">
                        <a:solidFill>
                          <a:srgbClr val="15363D"/>
                        </a:solidFill>
                        <a:latin typeface="Arial"/>
                        <a:ea typeface="Arial"/>
                        <a:cs typeface="Arial"/>
                      </a:rPr>
                      <a:t>62.25%</a:t>
                    </a:r>
                  </a:p>
                </c:rich>
              </c:tx>
              <c:txPr>
                <a:bodyPr xmlns:a="http://schemas.openxmlformats.org/drawingml/2006/main" anchorCtr="1"/>
                <a:lstStyle xmlns:a="http://schemas.openxmlformats.org/drawingml/2006/main"/>
                <a:p xmlns:a="http://schemas.openxmlformats.org/drawingml/2006/main">
                  <a:pPr>
                    <a:defRPr sz="1425">
                      <a:solidFill>
                        <a:srgbClr val="15363D"/>
                      </a:solidFill>
                      <a:latin typeface="Arial"/>
                      <a:ea typeface="Arial"/>
                      <a:cs typeface="Arial"/>
                    </a:defRPr>
                  </a:pPr>
                </a:p>
              </c:txPr>
              <c:dLblPos val="ctr"/>
              <c:showLegendKey val="0"/>
              <c:showVal val="1"/>
              <c:showCatName val="0"/>
              <c:showSerName val="0"/>
              <c:showPercent val="0"/>
              <c:showBubbleSize val="0"/>
            </c:dLbl>
            <c:dLbl>
              <c:idx val="7"/>
              <c:tx>
                <c:rich>
                  <a:bodyPr xmlns:a="http://schemas.openxmlformats.org/drawingml/2006/main"/>
                  <a:lstStyle xmlns:a="http://schemas.openxmlformats.org/drawingml/2006/main"/>
                  <a:p xmlns:a="http://schemas.openxmlformats.org/drawingml/2006/main">
                    <a:r>
                      <a:rPr sz="1425">
                        <a:solidFill>
                          <a:srgbClr val="15363D"/>
                        </a:solidFill>
                        <a:latin typeface="Arial"/>
                        <a:ea typeface="Arial"/>
                        <a:cs typeface="Arial"/>
                      </a:rPr>
                      <a:t>62.18%</a:t>
                    </a:r>
                  </a:p>
                </c:rich>
              </c:tx>
              <c:txPr>
                <a:bodyPr xmlns:a="http://schemas.openxmlformats.org/drawingml/2006/main" anchorCtr="1"/>
                <a:lstStyle xmlns:a="http://schemas.openxmlformats.org/drawingml/2006/main"/>
                <a:p xmlns:a="http://schemas.openxmlformats.org/drawingml/2006/main">
                  <a:pPr>
                    <a:defRPr sz="1425">
                      <a:solidFill>
                        <a:srgbClr val="15363D"/>
                      </a:solidFill>
                      <a:latin typeface="Arial"/>
                      <a:ea typeface="Arial"/>
                      <a:cs typeface="Arial"/>
                    </a:defRPr>
                  </a:pPr>
                </a:p>
              </c:txPr>
              <c:dLblPos val="ctr"/>
              <c:showLegendKey val="0"/>
              <c:showVal val="1"/>
              <c:showCatName val="0"/>
              <c:showSerName val="0"/>
              <c:showPercent val="0"/>
              <c:showBubbleSize val="0"/>
            </c:dLbl>
            <c:dLbl>
              <c:idx val="8"/>
              <c:tx>
                <c:rich>
                  <a:bodyPr xmlns:a="http://schemas.openxmlformats.org/drawingml/2006/main"/>
                  <a:lstStyle xmlns:a="http://schemas.openxmlformats.org/drawingml/2006/main"/>
                  <a:p xmlns:a="http://schemas.openxmlformats.org/drawingml/2006/main">
                    <a:r>
                      <a:rPr sz="1425">
                        <a:solidFill>
                          <a:srgbClr val="15363D"/>
                        </a:solidFill>
                        <a:latin typeface="Arial"/>
                        <a:ea typeface="Arial"/>
                        <a:cs typeface="Arial"/>
                      </a:rPr>
                      <a:t>61.79%</a:t>
                    </a:r>
                  </a:p>
                </c:rich>
              </c:tx>
              <c:txPr>
                <a:bodyPr xmlns:a="http://schemas.openxmlformats.org/drawingml/2006/main" anchorCtr="1"/>
                <a:lstStyle xmlns:a="http://schemas.openxmlformats.org/drawingml/2006/main"/>
                <a:p xmlns:a="http://schemas.openxmlformats.org/drawingml/2006/main">
                  <a:pPr>
                    <a:defRPr sz="1425">
                      <a:solidFill>
                        <a:srgbClr val="15363D"/>
                      </a:solidFill>
                      <a:latin typeface="Arial"/>
                      <a:ea typeface="Arial"/>
                      <a:cs typeface="Arial"/>
                    </a:defRPr>
                  </a:pPr>
                </a:p>
              </c:txPr>
              <c:dLblPos val="ctr"/>
              <c:showLegendKey val="0"/>
              <c:showVal val="1"/>
              <c:showCatName val="0"/>
              <c:showSerName val="0"/>
              <c:showPercent val="0"/>
              <c:showBubbleSize val="0"/>
            </c:dLbl>
            <c:dLbl>
              <c:idx val="9"/>
              <c:tx>
                <c:rich>
                  <a:bodyPr xmlns:a="http://schemas.openxmlformats.org/drawingml/2006/main"/>
                  <a:lstStyle xmlns:a="http://schemas.openxmlformats.org/drawingml/2006/main"/>
                  <a:p xmlns:a="http://schemas.openxmlformats.org/drawingml/2006/main">
                    <a:r>
                      <a:rPr sz="1425">
                        <a:solidFill>
                          <a:srgbClr val="FFFFFF"/>
                        </a:solidFill>
                        <a:latin typeface="Arial"/>
                        <a:ea typeface="Arial"/>
                        <a:cs typeface="Arial"/>
                      </a:rPr>
                      <a:t>60.91%</a:t>
                    </a:r>
                  </a:p>
                </c:rich>
              </c:tx>
              <c:txPr>
                <a:bodyPr xmlns:a="http://schemas.openxmlformats.org/drawingml/2006/main" anchorCtr="1"/>
                <a:lstStyle xmlns:a="http://schemas.openxmlformats.org/drawingml/2006/main"/>
                <a:p xmlns:a="http://schemas.openxmlformats.org/drawingml/2006/main">
                  <a:pPr>
                    <a:defRPr sz="1425">
                      <a:solidFill>
                        <a:srgbClr val="FFFFFF"/>
                      </a:solidFill>
                      <a:latin typeface="Arial"/>
                      <a:ea typeface="Arial"/>
                      <a:cs typeface="Arial"/>
                    </a:defRPr>
                  </a:pPr>
                </a:p>
              </c:txPr>
              <c:dLblPos val="ctr"/>
              <c:showLegendKey val="0"/>
              <c:showVal val="1"/>
              <c:showCatName val="0"/>
              <c:showSerName val="0"/>
              <c:showPercent val="0"/>
              <c:showBubbleSize val="0"/>
            </c:dLbl>
            <c:dLbl>
              <c:idx val="10"/>
              <c:tx>
                <c:rich>
                  <a:bodyPr xmlns:a="http://schemas.openxmlformats.org/drawingml/2006/main"/>
                  <a:lstStyle xmlns:a="http://schemas.openxmlformats.org/drawingml/2006/main"/>
                  <a:p xmlns:a="http://schemas.openxmlformats.org/drawingml/2006/main">
                    <a:r>
                      <a:rPr sz="1425">
                        <a:solidFill>
                          <a:srgbClr val="FFFFFF"/>
                        </a:solidFill>
                        <a:latin typeface="Arial"/>
                        <a:ea typeface="Arial"/>
                        <a:cs typeface="Arial"/>
                      </a:rPr>
                      <a:t>60.66%</a:t>
                    </a:r>
                  </a:p>
                </c:rich>
              </c:tx>
              <c:txPr>
                <a:bodyPr xmlns:a="http://schemas.openxmlformats.org/drawingml/2006/main" anchorCtr="1"/>
                <a:lstStyle xmlns:a="http://schemas.openxmlformats.org/drawingml/2006/main"/>
                <a:p xmlns:a="http://schemas.openxmlformats.org/drawingml/2006/main">
                  <a:pPr>
                    <a:defRPr sz="1425">
                      <a:solidFill>
                        <a:srgbClr val="FFFFFF"/>
                      </a:solidFill>
                      <a:latin typeface="Arial"/>
                      <a:ea typeface="Arial"/>
                      <a:cs typeface="Arial"/>
                    </a:defRPr>
                  </a:pPr>
                </a:p>
              </c:txPr>
              <c:dLblPos val="ctr"/>
              <c:showLegendKey val="0"/>
              <c:showVal val="1"/>
              <c:showCatName val="0"/>
              <c:showSerName val="0"/>
              <c:showPercent val="0"/>
              <c:showBubbleSize val="0"/>
            </c:dLbl>
            <c:dLbl>
              <c:idx val="11"/>
              <c:tx>
                <c:rich>
                  <a:bodyPr xmlns:a="http://schemas.openxmlformats.org/drawingml/2006/main"/>
                  <a:lstStyle xmlns:a="http://schemas.openxmlformats.org/drawingml/2006/main"/>
                  <a:p xmlns:a="http://schemas.openxmlformats.org/drawingml/2006/main">
                    <a:r>
                      <a:rPr sz="1425">
                        <a:solidFill>
                          <a:srgbClr val="15363D"/>
                        </a:solidFill>
                        <a:latin typeface="Arial"/>
                        <a:ea typeface="Arial"/>
                        <a:cs typeface="Arial"/>
                      </a:rPr>
                      <a:t>60.50%</a:t>
                    </a:r>
                  </a:p>
                </c:rich>
              </c:tx>
              <c:txPr>
                <a:bodyPr xmlns:a="http://schemas.openxmlformats.org/drawingml/2006/main" anchorCtr="1"/>
                <a:lstStyle xmlns:a="http://schemas.openxmlformats.org/drawingml/2006/main"/>
                <a:p xmlns:a="http://schemas.openxmlformats.org/drawingml/2006/main">
                  <a:pPr>
                    <a:defRPr sz="1425">
                      <a:solidFill>
                        <a:srgbClr val="15363D"/>
                      </a:solidFill>
                      <a:latin typeface="Arial"/>
                      <a:ea typeface="Arial"/>
                      <a:cs typeface="Arial"/>
                    </a:defRPr>
                  </a:pPr>
                </a:p>
              </c:txPr>
              <c:dLblPos val="ctr"/>
              <c:showLegendKey val="0"/>
              <c:showVal val="1"/>
              <c:showCatName val="0"/>
              <c:showSerName val="0"/>
              <c:showPercent val="0"/>
              <c:showBubbleSize val="0"/>
            </c:dLbl>
            <c:dLbl>
              <c:idx val="12"/>
              <c:tx>
                <c:rich>
                  <a:bodyPr xmlns:a="http://schemas.openxmlformats.org/drawingml/2006/main"/>
                  <a:lstStyle xmlns:a="http://schemas.openxmlformats.org/drawingml/2006/main"/>
                  <a:p xmlns:a="http://schemas.openxmlformats.org/drawingml/2006/main">
                    <a:r>
                      <a:rPr sz="1425">
                        <a:solidFill>
                          <a:srgbClr val="FFFFFF"/>
                        </a:solidFill>
                        <a:latin typeface="Arial"/>
                        <a:ea typeface="Arial"/>
                        <a:cs typeface="Arial"/>
                      </a:rPr>
                      <a:t>58.89%</a:t>
                    </a:r>
                  </a:p>
                </c:rich>
              </c:tx>
              <c:txPr>
                <a:bodyPr xmlns:a="http://schemas.openxmlformats.org/drawingml/2006/main" anchorCtr="1"/>
                <a:lstStyle xmlns:a="http://schemas.openxmlformats.org/drawingml/2006/main"/>
                <a:p xmlns:a="http://schemas.openxmlformats.org/drawingml/2006/main">
                  <a:pPr>
                    <a:defRPr sz="1425">
                      <a:solidFill>
                        <a:srgbClr val="FFFFFF"/>
                      </a:solidFill>
                      <a:latin typeface="Arial"/>
                      <a:ea typeface="Arial"/>
                      <a:cs typeface="Arial"/>
                    </a:defRPr>
                  </a:pPr>
                </a:p>
              </c:txPr>
              <c:dLblPos val="ctr"/>
              <c:showLegendKey val="0"/>
              <c:showVal val="1"/>
              <c:showCatName val="0"/>
              <c:showSerName val="0"/>
              <c:showPercent val="0"/>
              <c:showBubbleSize val="0"/>
            </c:dLbl>
          </c:dLbls>
          <c:cat>
            <c:strRef>
              <c:f>'Chart Data'!$A$2:$A$14</c:f>
              <c:strCache>
                <c:ptCount val="13"/>
                <c:pt idx="0">
                  <c:v>Riyadh</c:v>
                </c:pt>
                <c:pt idx="1">
                  <c:v>Makkah</c:v>
                </c:pt>
                <c:pt idx="2">
                  <c:v>Eastern Province</c:v>
                </c:pt>
                <c:pt idx="3">
                  <c:v>Madinah</c:v>
                </c:pt>
                <c:pt idx="4">
                  <c:v>Qassim</c:v>
                </c:pt>
                <c:pt idx="5">
                  <c:v>Hail</c:v>
                </c:pt>
                <c:pt idx="6">
                  <c:v>Asir</c:v>
                </c:pt>
                <c:pt idx="7">
                  <c:v>Al-Jouf</c:v>
                </c:pt>
                <c:pt idx="8">
                  <c:v>Tabuk</c:v>
                </c:pt>
                <c:pt idx="9">
                  <c:v>Northern Borders</c:v>
                </c:pt>
                <c:pt idx="10">
                  <c:v>Jazan</c:v>
                </c:pt>
                <c:pt idx="11">
                  <c:v>Al-Baha</c:v>
                </c:pt>
                <c:pt idx="12">
                  <c:v>Najran</c:v>
                </c:pt>
              </c:strCache>
            </c:strRef>
          </c:cat>
          <c:val>
            <c:numRef>
              <c:f>'Chart Data'!$B$2:$B$14</c:f>
              <c:numCache>
                <c:formatCode>0"%"</c:formatCode>
                <c:ptCount val="13"/>
                <c:pt idx="0">
                  <c:v>69.13</c:v>
                </c:pt>
                <c:pt idx="1">
                  <c:v>68.07</c:v>
                </c:pt>
                <c:pt idx="2">
                  <c:v>66.62</c:v>
                </c:pt>
                <c:pt idx="3">
                  <c:v>65.84</c:v>
                </c:pt>
                <c:pt idx="4">
                  <c:v>63.9</c:v>
                </c:pt>
                <c:pt idx="5">
                  <c:v>62.54</c:v>
                </c:pt>
                <c:pt idx="6">
                  <c:v>62.25</c:v>
                </c:pt>
                <c:pt idx="7">
                  <c:v>62.18</c:v>
                </c:pt>
                <c:pt idx="8">
                  <c:v>61.79</c:v>
                </c:pt>
                <c:pt idx="9">
                  <c:v>60.91</c:v>
                </c:pt>
                <c:pt idx="10">
                  <c:v>60.66</c:v>
                </c:pt>
                <c:pt idx="11">
                  <c:v>60.5</c:v>
                </c:pt>
                <c:pt idx="12">
                  <c:v>58.89</c:v>
                </c:pt>
              </c:numCache>
            </c:numRef>
          </c:val>
        </c:ser>
        <c:dLbls>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ctr"/>
          <c:showLegendKey val="0"/>
          <c:showVal val="1"/>
          <c:showCatName val="0"/>
          <c:showSerName val="0"/>
          <c:showPercent val="0"/>
          <c:showBubbleSize val="0"/>
          <c:showLeaderLines val="0"/>
        </c:dLbls>
        <c:gapWidth val="38"/>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max val="100"/>
          <c:min val="0"/>
        </c:scaling>
        <c:delete val="0"/>
        <c:axPos val="b"/>
        <c:majorGridlines>
          <c:spPr>
            <a:ln xmlns:a="http://schemas.openxmlformats.org/drawingml/2006/main" w="9525">
              <a:solidFill>
                <a:srgbClr val="E3E9EA"/>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Gap and activity priority index</c:v>
          </c:tx>
          <c:spPr>
            <a:solidFill xmlns:a="http://schemas.openxmlformats.org/drawingml/2006/main">
              <a:srgbClr val="D7E5E6"/>
            </a:solidFill>
          </c:spPr>
          <c:dPt>
            <c:idx val="0"/>
            <c:invertIfNegative val="0"/>
            <c:spPr>
              <a:solidFill xmlns:a="http://schemas.openxmlformats.org/drawingml/2006/main">
                <a:srgbClr val="D7E5E6"/>
              </a:solidFill>
            </c:spPr>
          </c:dPt>
          <c:dPt>
            <c:idx val="1"/>
            <c:invertIfNegative val="0"/>
            <c:spPr>
              <a:solidFill xmlns:a="http://schemas.openxmlformats.org/drawingml/2006/main">
                <a:srgbClr val="D7E5E6"/>
              </a:solidFill>
            </c:spPr>
          </c:dPt>
          <c:dPt>
            <c:idx val="2"/>
            <c:invertIfNegative val="0"/>
            <c:spPr>
              <a:solidFill xmlns:a="http://schemas.openxmlformats.org/drawingml/2006/main">
                <a:srgbClr val="D7E5E6"/>
              </a:solidFill>
            </c:spPr>
          </c:dPt>
          <c:dPt>
            <c:idx val="3"/>
            <c:invertIfNegative val="0"/>
            <c:spPr>
              <a:solidFill xmlns:a="http://schemas.openxmlformats.org/drawingml/2006/main">
                <a:srgbClr val="D7E5E6"/>
              </a:solidFill>
            </c:spPr>
          </c:dPt>
          <c:dPt>
            <c:idx val="4"/>
            <c:invertIfNegative val="0"/>
            <c:spPr>
              <a:solidFill xmlns:a="http://schemas.openxmlformats.org/drawingml/2006/main">
                <a:srgbClr val="D7E5E6"/>
              </a:solidFill>
            </c:spPr>
          </c:dPt>
          <c:dPt>
            <c:idx val="5"/>
            <c:invertIfNegative val="0"/>
            <c:spPr>
              <a:solidFill xmlns:a="http://schemas.openxmlformats.org/drawingml/2006/main">
                <a:srgbClr val="E6B687"/>
              </a:solidFill>
            </c:spPr>
          </c:dPt>
          <c:dPt>
            <c:idx val="6"/>
            <c:invertIfNegative val="0"/>
            <c:spPr>
              <a:solidFill xmlns:a="http://schemas.openxmlformats.org/drawingml/2006/main">
                <a:srgbClr val="087D82"/>
              </a:solidFill>
            </c:spPr>
          </c:dPt>
          <c:dPt>
            <c:idx val="7"/>
            <c:invertIfNegative val="0"/>
            <c:spPr>
              <a:solidFill xmlns:a="http://schemas.openxmlformats.org/drawingml/2006/main">
                <a:srgbClr val="087D82"/>
              </a:solidFill>
            </c:spPr>
          </c:dPt>
          <c:dPt>
            <c:idx val="8"/>
            <c:invertIfNegative val="0"/>
            <c:spPr>
              <a:solidFill xmlns:a="http://schemas.openxmlformats.org/drawingml/2006/main">
                <a:srgbClr val="087D82"/>
              </a:solidFill>
            </c:spPr>
          </c:dPt>
          <c:dLbls>
            <c:dLbl>
              <c:idx val="0"/>
              <c:tx>
                <c:rich>
                  <a:bodyPr xmlns:a="http://schemas.openxmlformats.org/drawingml/2006/main"/>
                  <a:lstStyle xmlns:a="http://schemas.openxmlformats.org/drawingml/2006/main"/>
                  <a:p xmlns:a="http://schemas.openxmlformats.org/drawingml/2006/main">
                    <a:r>
                      <a:rPr sz="1500">
                        <a:solidFill>
                          <a:srgbClr val="15363D"/>
                        </a:solidFill>
                        <a:latin typeface="Arial"/>
                        <a:ea typeface="Arial"/>
                        <a:cs typeface="Arial"/>
                      </a:rPr>
                      <a:t>156.20</a:t>
                    </a:r>
                  </a:p>
                </c:rich>
              </c:tx>
              <c:txPr>
                <a:bodyPr xmlns:a="http://schemas.openxmlformats.org/drawingml/2006/main" anchorCtr="1"/>
                <a:lstStyle xmlns:a="http://schemas.openxmlformats.org/drawingml/2006/main"/>
                <a:p xmlns:a="http://schemas.openxmlformats.org/drawingml/2006/main">
                  <a:pPr>
                    <a:defRPr sz="1500">
                      <a:solidFill>
                        <a:srgbClr val="15363D"/>
                      </a:solidFill>
                      <a:latin typeface="Arial"/>
                      <a:ea typeface="Arial"/>
                      <a:cs typeface="Arial"/>
                    </a:defRPr>
                  </a:pPr>
                </a:p>
              </c:txPr>
              <c:dLblPos val="ct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00">
                        <a:solidFill>
                          <a:srgbClr val="15363D"/>
                        </a:solidFill>
                        <a:latin typeface="Arial"/>
                        <a:ea typeface="Arial"/>
                        <a:cs typeface="Arial"/>
                      </a:rPr>
                      <a:t>302.17</a:t>
                    </a:r>
                  </a:p>
                </c:rich>
              </c:tx>
              <c:txPr>
                <a:bodyPr xmlns:a="http://schemas.openxmlformats.org/drawingml/2006/main" anchorCtr="1"/>
                <a:lstStyle xmlns:a="http://schemas.openxmlformats.org/drawingml/2006/main"/>
                <a:p xmlns:a="http://schemas.openxmlformats.org/drawingml/2006/main">
                  <a:pPr>
                    <a:defRPr sz="1500">
                      <a:solidFill>
                        <a:srgbClr val="15363D"/>
                      </a:solidFill>
                      <a:latin typeface="Arial"/>
                      <a:ea typeface="Arial"/>
                      <a:cs typeface="Arial"/>
                    </a:defRPr>
                  </a:pPr>
                </a:p>
              </c:txPr>
              <c:dLblPos val="ct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500">
                        <a:solidFill>
                          <a:srgbClr val="15363D"/>
                        </a:solidFill>
                        <a:latin typeface="Arial"/>
                        <a:ea typeface="Arial"/>
                        <a:cs typeface="Arial"/>
                      </a:rPr>
                      <a:t>327.80</a:t>
                    </a:r>
                  </a:p>
                </c:rich>
              </c:tx>
              <c:txPr>
                <a:bodyPr xmlns:a="http://schemas.openxmlformats.org/drawingml/2006/main" anchorCtr="1"/>
                <a:lstStyle xmlns:a="http://schemas.openxmlformats.org/drawingml/2006/main"/>
                <a:p xmlns:a="http://schemas.openxmlformats.org/drawingml/2006/main">
                  <a:pPr>
                    <a:defRPr sz="1500">
                      <a:solidFill>
                        <a:srgbClr val="15363D"/>
                      </a:solidFill>
                      <a:latin typeface="Arial"/>
                      <a:ea typeface="Arial"/>
                      <a:cs typeface="Arial"/>
                    </a:defRPr>
                  </a:pPr>
                </a:p>
              </c:txPr>
              <c:dLblPos val="ct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500">
                        <a:solidFill>
                          <a:srgbClr val="15363D"/>
                        </a:solidFill>
                        <a:latin typeface="Arial"/>
                        <a:ea typeface="Arial"/>
                        <a:cs typeface="Arial"/>
                      </a:rPr>
                      <a:t>360.78</a:t>
                    </a:r>
                  </a:p>
                </c:rich>
              </c:tx>
              <c:txPr>
                <a:bodyPr xmlns:a="http://schemas.openxmlformats.org/drawingml/2006/main" anchorCtr="1"/>
                <a:lstStyle xmlns:a="http://schemas.openxmlformats.org/drawingml/2006/main"/>
                <a:p xmlns:a="http://schemas.openxmlformats.org/drawingml/2006/main">
                  <a:pPr>
                    <a:defRPr sz="1500">
                      <a:solidFill>
                        <a:srgbClr val="15363D"/>
                      </a:solidFill>
                      <a:latin typeface="Arial"/>
                      <a:ea typeface="Arial"/>
                      <a:cs typeface="Arial"/>
                    </a:defRPr>
                  </a:pPr>
                </a:p>
              </c:txPr>
              <c:dLblPos val="ct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500">
                        <a:solidFill>
                          <a:srgbClr val="15363D"/>
                        </a:solidFill>
                        <a:latin typeface="Arial"/>
                        <a:ea typeface="Arial"/>
                        <a:cs typeface="Arial"/>
                      </a:rPr>
                      <a:t>388.93</a:t>
                    </a:r>
                  </a:p>
                </c:rich>
              </c:tx>
              <c:txPr>
                <a:bodyPr xmlns:a="http://schemas.openxmlformats.org/drawingml/2006/main" anchorCtr="1"/>
                <a:lstStyle xmlns:a="http://schemas.openxmlformats.org/drawingml/2006/main"/>
                <a:p xmlns:a="http://schemas.openxmlformats.org/drawingml/2006/main">
                  <a:pPr>
                    <a:defRPr sz="1500">
                      <a:solidFill>
                        <a:srgbClr val="15363D"/>
                      </a:solidFill>
                      <a:latin typeface="Arial"/>
                      <a:ea typeface="Arial"/>
                      <a:cs typeface="Arial"/>
                    </a:defRPr>
                  </a:pPr>
                </a:p>
              </c:txPr>
              <c:dLblPos val="ctr"/>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500">
                        <a:solidFill>
                          <a:srgbClr val="15363D"/>
                        </a:solidFill>
                        <a:latin typeface="Arial"/>
                        <a:ea typeface="Arial"/>
                        <a:cs typeface="Arial"/>
                      </a:rPr>
                      <a:t>445.60</a:t>
                    </a:r>
                  </a:p>
                </c:rich>
              </c:tx>
              <c:txPr>
                <a:bodyPr xmlns:a="http://schemas.openxmlformats.org/drawingml/2006/main" anchorCtr="1"/>
                <a:lstStyle xmlns:a="http://schemas.openxmlformats.org/drawingml/2006/main"/>
                <a:p xmlns:a="http://schemas.openxmlformats.org/drawingml/2006/main">
                  <a:pPr>
                    <a:defRPr sz="1500">
                      <a:solidFill>
                        <a:srgbClr val="15363D"/>
                      </a:solidFill>
                      <a:latin typeface="Arial"/>
                      <a:ea typeface="Arial"/>
                      <a:cs typeface="Arial"/>
                    </a:defRPr>
                  </a:pPr>
                </a:p>
              </c:txPr>
              <c:dLblPos val="ctr"/>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500">
                        <a:solidFill>
                          <a:srgbClr val="FFFFFF"/>
                        </a:solidFill>
                        <a:latin typeface="Arial"/>
                        <a:ea typeface="Arial"/>
                        <a:cs typeface="Arial"/>
                      </a:rPr>
                      <a:t>446.26</a:t>
                    </a:r>
                  </a:p>
                </c:rich>
              </c:tx>
              <c:txPr>
                <a:bodyPr xmlns:a="http://schemas.openxmlformats.org/drawingml/2006/main" anchorCtr="1"/>
                <a:lstStyle xmlns:a="http://schemas.openxmlformats.org/drawingml/2006/main"/>
                <a:p xmlns:a="http://schemas.openxmlformats.org/drawingml/2006/main">
                  <a:pPr>
                    <a:defRPr sz="1500">
                      <a:solidFill>
                        <a:srgbClr val="FFFFFF"/>
                      </a:solidFill>
                      <a:latin typeface="Arial"/>
                      <a:ea typeface="Arial"/>
                      <a:cs typeface="Arial"/>
                    </a:defRPr>
                  </a:pPr>
                </a:p>
              </c:txPr>
              <c:dLblPos val="ctr"/>
              <c:showLegendKey val="0"/>
              <c:showVal val="1"/>
              <c:showCatName val="0"/>
              <c:showSerName val="0"/>
              <c:showPercent val="0"/>
              <c:showBubbleSize val="0"/>
            </c:dLbl>
            <c:dLbl>
              <c:idx val="7"/>
              <c:tx>
                <c:rich>
                  <a:bodyPr xmlns:a="http://schemas.openxmlformats.org/drawingml/2006/main"/>
                  <a:lstStyle xmlns:a="http://schemas.openxmlformats.org/drawingml/2006/main"/>
                  <a:p xmlns:a="http://schemas.openxmlformats.org/drawingml/2006/main">
                    <a:r>
                      <a:rPr sz="1500">
                        <a:solidFill>
                          <a:srgbClr val="FFFFFF"/>
                        </a:solidFill>
                        <a:latin typeface="Arial"/>
                        <a:ea typeface="Arial"/>
                        <a:cs typeface="Arial"/>
                      </a:rPr>
                      <a:t>455.08</a:t>
                    </a:r>
                  </a:p>
                </c:rich>
              </c:tx>
              <c:txPr>
                <a:bodyPr xmlns:a="http://schemas.openxmlformats.org/drawingml/2006/main" anchorCtr="1"/>
                <a:lstStyle xmlns:a="http://schemas.openxmlformats.org/drawingml/2006/main"/>
                <a:p xmlns:a="http://schemas.openxmlformats.org/drawingml/2006/main">
                  <a:pPr>
                    <a:defRPr sz="1500">
                      <a:solidFill>
                        <a:srgbClr val="FFFFFF"/>
                      </a:solidFill>
                      <a:latin typeface="Arial"/>
                      <a:ea typeface="Arial"/>
                      <a:cs typeface="Arial"/>
                    </a:defRPr>
                  </a:pPr>
                </a:p>
              </c:txPr>
              <c:dLblPos val="ctr"/>
              <c:showLegendKey val="0"/>
              <c:showVal val="1"/>
              <c:showCatName val="0"/>
              <c:showSerName val="0"/>
              <c:showPercent val="0"/>
              <c:showBubbleSize val="0"/>
            </c:dLbl>
            <c:dLbl>
              <c:idx val="8"/>
              <c:tx>
                <c:rich>
                  <a:bodyPr xmlns:a="http://schemas.openxmlformats.org/drawingml/2006/main"/>
                  <a:lstStyle xmlns:a="http://schemas.openxmlformats.org/drawingml/2006/main"/>
                  <a:p xmlns:a="http://schemas.openxmlformats.org/drawingml/2006/main">
                    <a:r>
                      <a:rPr sz="1500">
                        <a:solidFill>
                          <a:srgbClr val="FFFFFF"/>
                        </a:solidFill>
                        <a:latin typeface="Arial"/>
                        <a:ea typeface="Arial"/>
                        <a:cs typeface="Arial"/>
                      </a:rPr>
                      <a:t>570.12</a:t>
                    </a:r>
                  </a:p>
                </c:rich>
              </c:tx>
              <c:txPr>
                <a:bodyPr xmlns:a="http://schemas.openxmlformats.org/drawingml/2006/main" anchorCtr="1"/>
                <a:lstStyle xmlns:a="http://schemas.openxmlformats.org/drawingml/2006/main"/>
                <a:p xmlns:a="http://schemas.openxmlformats.org/drawingml/2006/main">
                  <a:pPr>
                    <a:defRPr sz="1500">
                      <a:solidFill>
                        <a:srgbClr val="FFFFFF"/>
                      </a:solidFill>
                      <a:latin typeface="Arial"/>
                      <a:ea typeface="Arial"/>
                      <a:cs typeface="Arial"/>
                    </a:defRPr>
                  </a:pPr>
                </a:p>
              </c:txPr>
              <c:dLblPos val="ctr"/>
              <c:showLegendKey val="0"/>
              <c:showVal val="1"/>
              <c:showCatName val="0"/>
              <c:showSerName val="0"/>
              <c:showPercent val="0"/>
              <c:showBubbleSize val="0"/>
            </c:dLbl>
          </c:dLbls>
          <c:cat>
            <c:strRef>
              <c:f>'Chart Data'!$A$2:$A$10</c:f>
              <c:strCache>
                <c:ptCount val="9"/>
                <c:pt idx="0">
                  <c:v>Qassim</c:v>
                </c:pt>
                <c:pt idx="1">
                  <c:v>Hail</c:v>
                </c:pt>
                <c:pt idx="2">
                  <c:v>Al-Jouf</c:v>
                </c:pt>
                <c:pt idx="3">
                  <c:v>Asir</c:v>
                </c:pt>
                <c:pt idx="4">
                  <c:v>Tabuk</c:v>
                </c:pt>
                <c:pt idx="5">
                  <c:v>Al-Baha</c:v>
                </c:pt>
                <c:pt idx="6">
                  <c:v>Northern Borders</c:v>
                </c:pt>
                <c:pt idx="7">
                  <c:v>Jazan</c:v>
                </c:pt>
                <c:pt idx="8">
                  <c:v>Najran</c:v>
                </c:pt>
              </c:strCache>
            </c:strRef>
          </c:cat>
          <c:val>
            <c:numRef>
              <c:f>'Chart Data'!$B$2:$B$10</c:f>
              <c:numCache>
                <c:formatCode>0</c:formatCode>
                <c:ptCount val="9"/>
                <c:pt idx="0">
                  <c:v>156.2</c:v>
                </c:pt>
                <c:pt idx="1">
                  <c:v>302.17</c:v>
                </c:pt>
                <c:pt idx="2">
                  <c:v>327.8</c:v>
                </c:pt>
                <c:pt idx="3">
                  <c:v>360.78</c:v>
                </c:pt>
                <c:pt idx="4">
                  <c:v>388.93</c:v>
                </c:pt>
                <c:pt idx="5">
                  <c:v>445.6</c:v>
                </c:pt>
                <c:pt idx="6">
                  <c:v>446.26</c:v>
                </c:pt>
                <c:pt idx="7">
                  <c:v>455.08</c:v>
                </c:pt>
                <c:pt idx="8">
                  <c:v>570.12</c:v>
                </c:pt>
              </c:numCache>
            </c:numRef>
          </c:val>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ctr"/>
          <c:showLegendKey val="0"/>
          <c:showVal val="1"/>
          <c:showCatName val="0"/>
          <c:showSerName val="0"/>
          <c:showPercent val="0"/>
          <c:showBubbleSize val="0"/>
          <c:showLeaderLines val="0"/>
        </c:dLbls>
        <c:gapWidth val="4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max val="600"/>
          <c:min val="0"/>
        </c:scaling>
        <c:delete val="0"/>
        <c:axPos val="b"/>
        <c:majorGridlines>
          <c:spPr>
            <a:ln xmlns:a="http://schemas.openxmlformats.org/drawingml/2006/main" w="9525">
              <a:solidFill>
                <a:srgbClr val="E3E9EA"/>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majorUnit val="2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3435A2-C523-43FC-843E-F16F04A7EF45}"/>
              </a:ext>
            </a:extLst>
          </p:cNvPr>
          <p:cNvSpPr>
            <a:spLocks xmlns:a="http://schemas.openxmlformats.org/drawingml/2006/main" noGrp="1"/>
          </p:cNvSpPr>
          <p:nvPr/>
        </p:nvSpPr>
        <p:spPr>
          <a:xfrm xmlns:a="http://schemas.openxmlformats.org/drawingml/2006/main">
            <a:off x="609600" y="419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15363D"/>
                </a:solidFill>
                <a:latin typeface="Arial"/>
                <a:ea typeface="Arial"/>
                <a:cs typeface="Arial"/>
              </a:defRPr>
            </a:pPr>
            <a:r>
              <a:rPr sz="3225" b="1">
                <a:solidFill>
                  <a:srgbClr val="15363D"/>
                </a:solidFill>
                <a:latin typeface="Arial"/>
                <a:ea typeface="Arial"/>
                <a:cs typeface="Arial"/>
              </a:rPr>
              <a:t>Trial funding focuses on three regions</a:t>
            </a:r>
          </a:p>
        </p:txBody>
      </p:sp>
      <p:sp>
        <p:nvSpPr>
          <p:cNvPr id="2" name="">
            <a:extLst xmlns:a="http://schemas.openxmlformats.org/drawingml/2006/main">
              <a:ext uri="{FF2B5EF4-FFF2-40B4-BE49-F238E27FC236}">
                <a16:creationId xmlns:a16="http://schemas.microsoft.com/office/drawing/2014/main" id="{D25B4271-B454-42D5-91B1-98B01D357B55}"/>
              </a:ext>
            </a:extLst>
          </p:cNvPr>
          <p:cNvSpPr>
            <a:spLocks xmlns:a="http://schemas.openxmlformats.org/drawingml/2006/main" noGrp="1"/>
          </p:cNvSpPr>
          <p:nvPr/>
        </p:nvSpPr>
        <p:spPr>
          <a:xfrm xmlns:a="http://schemas.openxmlformats.org/drawingml/2006/main">
            <a:off x="6096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75" b="0">
                <a:solidFill>
                  <a:srgbClr val="56666B"/>
                </a:solidFill>
                <a:latin typeface="Arial"/>
                <a:ea typeface="Arial"/>
                <a:cs typeface="Arial"/>
              </a:defRPr>
            </a:pPr>
            <a:r>
              <a:rPr sz="1275" b="0">
                <a:solidFill>
                  <a:srgbClr val="56666B"/>
                </a:solidFill>
                <a:latin typeface="Arial"/>
                <a:ea typeface="Arial"/>
                <a:cs typeface="Arial"/>
              </a:rPr>
              <a:t>1 / 7</a:t>
            </a:r>
          </a:p>
        </p:txBody>
      </p:sp>
      <p:sp>
        <p:nvSpPr>
          <p:cNvPr id="3" name="">
            <a:extLst xmlns:a="http://schemas.openxmlformats.org/drawingml/2006/main">
              <a:ext uri="{FF2B5EF4-FFF2-40B4-BE49-F238E27FC236}">
                <a16:creationId xmlns:a16="http://schemas.microsoft.com/office/drawing/2014/main" id="{66ADBBAE-672D-4FD9-854A-E5EF448F5505}"/>
              </a:ext>
            </a:extLst>
          </p:cNvPr>
          <p:cNvSpPr>
            <a:spLocks xmlns:a="http://schemas.openxmlformats.org/drawingml/2006/main" noGrp="1"/>
          </p:cNvSpPr>
          <p:nvPr/>
        </p:nvSpPr>
        <p:spPr>
          <a:xfrm xmlns:a="http://schemas.openxmlformats.org/drawingml/2006/main">
            <a:off x="666750" y="1676400"/>
            <a:ext cx="1066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6225" b="1">
                <a:solidFill>
                  <a:srgbClr val="087D82"/>
                </a:solidFill>
                <a:latin typeface="Arial"/>
                <a:ea typeface="Arial"/>
                <a:cs typeface="Arial"/>
              </a:defRPr>
            </a:pPr>
            <a:r>
              <a:rPr sz="6225" b="1">
                <a:solidFill>
                  <a:srgbClr val="087D82"/>
                </a:solidFill>
                <a:latin typeface="Arial"/>
                <a:ea typeface="Arial"/>
                <a:cs typeface="Arial"/>
              </a:rPr>
              <a:t>SAR 40 million</a:t>
            </a:r>
          </a:p>
        </p:txBody>
      </p:sp>
      <p:sp>
        <p:nvSpPr>
          <p:cNvPr id="4" name="">
            <a:extLst xmlns:a="http://schemas.openxmlformats.org/drawingml/2006/main">
              <a:ext uri="{FF2B5EF4-FFF2-40B4-BE49-F238E27FC236}">
                <a16:creationId xmlns:a16="http://schemas.microsoft.com/office/drawing/2014/main" id="{40C18432-6342-4596-A63B-D38ED0937173}"/>
              </a:ext>
            </a:extLst>
          </p:cNvPr>
          <p:cNvSpPr>
            <a:spLocks xmlns:a="http://schemas.openxmlformats.org/drawingml/2006/main" noGrp="1"/>
          </p:cNvSpPr>
          <p:nvPr/>
        </p:nvSpPr>
        <p:spPr>
          <a:xfrm xmlns:a="http://schemas.openxmlformats.org/drawingml/2006/main">
            <a:off x="666750" y="2924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325" b="0">
                <a:solidFill>
                  <a:srgbClr val="15363D"/>
                </a:solidFill>
                <a:latin typeface="Arial"/>
                <a:ea typeface="Arial"/>
                <a:cs typeface="Arial"/>
              </a:defRPr>
            </a:pPr>
            <a:r>
              <a:rPr sz="2325" b="0">
                <a:solidFill>
                  <a:srgbClr val="15363D"/>
                </a:solidFill>
                <a:latin typeface="Arial"/>
                <a:ea typeface="Arial"/>
                <a:cs typeface="Arial"/>
              </a:rPr>
              <a:t>Najran, Jazan and Northern Borders</a:t>
            </a:r>
          </a:p>
        </p:txBody>
      </p:sp>
      <p:sp>
        <p:nvSpPr>
          <p:cNvPr id="5" name="">
            <a:extLst xmlns:a="http://schemas.openxmlformats.org/drawingml/2006/main">
              <a:ext uri="{FF2B5EF4-FFF2-40B4-BE49-F238E27FC236}">
                <a16:creationId xmlns:a16="http://schemas.microsoft.com/office/drawing/2014/main" id="{571C0AFC-D72E-414E-A6D2-B9CAC86237F5}"/>
              </a:ext>
            </a:extLst>
          </p:cNvPr>
          <p:cNvSpPr>
            <a:spLocks xmlns:a="http://schemas.openxmlformats.org/drawingml/2006/main" noGrp="1"/>
          </p:cNvSpPr>
          <p:nvPr/>
        </p:nvSpPr>
        <p:spPr>
          <a:xfrm xmlns:a="http://schemas.openxmlformats.org/drawingml/2006/main">
            <a:off x="666750" y="38766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625" b="1">
                <a:solidFill>
                  <a:srgbClr val="15363D"/>
                </a:solidFill>
                <a:latin typeface="Arial"/>
                <a:ea typeface="Arial"/>
                <a:cs typeface="Arial"/>
              </a:defRPr>
            </a:pPr>
            <a:r>
              <a:rPr sz="2625" b="1">
                <a:solidFill>
                  <a:srgbClr val="15363D"/>
                </a:solidFill>
                <a:latin typeface="Arial"/>
                <a:ea typeface="Arial"/>
                <a:cs typeface="Arial"/>
              </a:rPr>
              <a:t>First SAR 10M after trial plan approval.
Hold SAR 30M for review.</a:t>
            </a:r>
          </a:p>
        </p:txBody>
      </p:sp>
      <p:sp>
        <p:nvSpPr>
          <p:cNvPr id="6" name="">
            <a:extLst xmlns:a="http://schemas.openxmlformats.org/drawingml/2006/main">
              <a:ext uri="{FF2B5EF4-FFF2-40B4-BE49-F238E27FC236}">
                <a16:creationId xmlns:a16="http://schemas.microsoft.com/office/drawing/2014/main" id="{91D7EA40-7CFE-4F8E-9CFA-0185C9096D33}"/>
              </a:ext>
            </a:extLst>
          </p:cNvPr>
          <p:cNvSpPr>
            <a:spLocks xmlns:a="http://schemas.openxmlformats.org/drawingml/2006/main" noGrp="1"/>
          </p:cNvSpPr>
          <p:nvPr/>
        </p:nvSpPr>
        <p:spPr>
          <a:xfrm xmlns:a="http://schemas.openxmlformats.org/drawingml/2006/main">
            <a:off x="666750" y="49339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0">
                <a:solidFill>
                  <a:srgbClr val="15363D"/>
                </a:solidFill>
                <a:latin typeface="Arial"/>
                <a:ea typeface="Arial"/>
                <a:cs typeface="Arial"/>
              </a:defRPr>
            </a:pPr>
            <a:r>
              <a:rPr sz="2100" b="0">
                <a:solidFill>
                  <a:srgbClr val="15363D"/>
                </a:solidFill>
                <a:latin typeface="Arial"/>
                <a:ea typeface="Arial"/>
                <a:cs typeface="Arial"/>
              </a:rPr>
              <a:t>Target 65%. Fund large gaps and test before expanding.</a:t>
            </a:r>
          </a:p>
        </p:txBody>
      </p:sp>
      <p:sp>
        <p:nvSpPr>
          <p:cNvPr id="7" name="">
            <a:extLst xmlns:a="http://schemas.openxmlformats.org/drawingml/2006/main">
              <a:ext uri="{FF2B5EF4-FFF2-40B4-BE49-F238E27FC236}">
                <a16:creationId xmlns:a16="http://schemas.microsoft.com/office/drawing/2014/main" id="{1377F319-9EB0-45B7-A49D-1EAC2F625F2E}"/>
              </a:ext>
            </a:extLst>
          </p:cNvPr>
          <p:cNvSpPr>
            <a:spLocks xmlns:a="http://schemas.openxmlformats.org/drawingml/2006/main" noGrp="1"/>
          </p:cNvSpPr>
          <p:nvPr/>
        </p:nvSpPr>
        <p:spPr>
          <a:xfrm xmlns:a="http://schemas.openxmlformats.org/drawingml/2006/main">
            <a:off x="1952625" y="6229350"/>
            <a:ext cx="962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350" b="0">
                <a:solidFill>
                  <a:srgbClr val="56666B"/>
                </a:solidFill>
                <a:latin typeface="Arial"/>
                <a:ea typeface="Arial"/>
                <a:cs typeface="Arial"/>
              </a:defRPr>
            </a:pPr>
            <a:r>
              <a:rPr sz="1350" b="0">
                <a:solidFill>
                  <a:srgbClr val="56666B"/>
                </a:solidFill>
                <a:latin typeface="Arial"/>
                <a:ea typeface="Arial"/>
                <a:cs typeface="Arial"/>
              </a:rPr>
              <a:t>SDAIA Academy SDA-DSC-112. Synthetic training data.</a:t>
            </a:r>
          </a:p>
        </p:txBody>
      </p:sp>
    </p:spTree>
    <p:extLst>
      <p:ext uri="{BB962C8B-B14F-4D97-AF65-F5344CB8AC3E}">
        <p14:creationId xmlns:p14="http://schemas.microsoft.com/office/powerpoint/2010/main" val="17117569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B0D458-4220-43CD-996E-5DD473C5CB51}"/>
              </a:ext>
            </a:extLst>
          </p:cNvPr>
          <p:cNvSpPr>
            <a:spLocks xmlns:a="http://schemas.openxmlformats.org/drawingml/2006/main" noGrp="1"/>
          </p:cNvSpPr>
          <p:nvPr/>
        </p:nvSpPr>
        <p:spPr>
          <a:xfrm xmlns:a="http://schemas.openxmlformats.org/drawingml/2006/main">
            <a:off x="609600" y="419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15363D"/>
                </a:solidFill>
                <a:latin typeface="Arial"/>
                <a:ea typeface="Arial"/>
                <a:cs typeface="Arial"/>
              </a:defRPr>
            </a:pPr>
            <a:r>
              <a:rPr sz="3225" b="1">
                <a:solidFill>
                  <a:srgbClr val="15363D"/>
                </a:solidFill>
                <a:latin typeface="Arial"/>
                <a:ea typeface="Arial"/>
                <a:cs typeface="Arial"/>
              </a:rPr>
              <a:t>Adoption improved but is still below 65%</a:t>
            </a:r>
          </a:p>
        </p:txBody>
      </p:sp>
      <p:sp>
        <p:nvSpPr>
          <p:cNvPr id="2" name="">
            <a:extLst xmlns:a="http://schemas.openxmlformats.org/drawingml/2006/main">
              <a:ext uri="{FF2B5EF4-FFF2-40B4-BE49-F238E27FC236}">
                <a16:creationId xmlns:a16="http://schemas.microsoft.com/office/drawing/2014/main" id="{5078F6C4-3A09-4EA2-AE6B-4B8252B1CA9A}"/>
              </a:ext>
            </a:extLst>
          </p:cNvPr>
          <p:cNvSpPr>
            <a:spLocks xmlns:a="http://schemas.openxmlformats.org/drawingml/2006/main" noGrp="1"/>
          </p:cNvSpPr>
          <p:nvPr/>
        </p:nvSpPr>
        <p:spPr>
          <a:xfrm xmlns:a="http://schemas.openxmlformats.org/drawingml/2006/main">
            <a:off x="6096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75" b="0">
                <a:solidFill>
                  <a:srgbClr val="56666B"/>
                </a:solidFill>
                <a:latin typeface="Arial"/>
                <a:ea typeface="Arial"/>
                <a:cs typeface="Arial"/>
              </a:defRPr>
            </a:pPr>
            <a:r>
              <a:rPr sz="1275" b="0">
                <a:solidFill>
                  <a:srgbClr val="56666B"/>
                </a:solidFill>
                <a:latin typeface="Arial"/>
                <a:ea typeface="Arial"/>
                <a:cs typeface="Arial"/>
              </a:rPr>
              <a:t>2 / 7</a:t>
            </a:r>
          </a:p>
        </p:txBody>
      </p:sp>
      <p:sp>
        <p:nvSpPr>
          <p:cNvPr id="3" name="">
            <a:extLst xmlns:a="http://schemas.openxmlformats.org/drawingml/2006/main">
              <a:ext uri="{FF2B5EF4-FFF2-40B4-BE49-F238E27FC236}">
                <a16:creationId xmlns:a16="http://schemas.microsoft.com/office/drawing/2014/main" id="{960F33D8-684A-4BE9-8524-89E9E8AA1EB7}"/>
              </a:ext>
            </a:extLst>
          </p:cNvPr>
          <p:cNvSpPr>
            <a:spLocks xmlns:a="http://schemas.openxmlformats.org/drawingml/2006/main" noGrp="1"/>
          </p:cNvSpPr>
          <p:nvPr/>
        </p:nvSpPr>
        <p:spPr>
          <a:xfrm xmlns:a="http://schemas.openxmlformats.org/drawingml/2006/main">
            <a:off x="7667625" y="1552575"/>
            <a:ext cx="3810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4875" b="1">
                <a:solidFill>
                  <a:srgbClr val="087D82"/>
                </a:solidFill>
                <a:latin typeface="Arial"/>
                <a:ea typeface="Arial"/>
                <a:cs typeface="Arial"/>
              </a:defRPr>
            </a:pPr>
            <a:r>
              <a:rPr sz="4875" b="1">
                <a:solidFill>
                  <a:srgbClr val="087D82"/>
                </a:solidFill>
                <a:latin typeface="Arial"/>
                <a:ea typeface="Arial"/>
                <a:cs typeface="Arial"/>
              </a:rPr>
              <a:t>63.33%</a:t>
            </a:r>
          </a:p>
        </p:txBody>
      </p:sp>
      <p:sp>
        <p:nvSpPr>
          <p:cNvPr id="4" name="">
            <a:extLst xmlns:a="http://schemas.openxmlformats.org/drawingml/2006/main">
              <a:ext uri="{FF2B5EF4-FFF2-40B4-BE49-F238E27FC236}">
                <a16:creationId xmlns:a16="http://schemas.microsoft.com/office/drawing/2014/main" id="{F15E59C1-CDA0-438D-AF24-5DD38AB43172}"/>
              </a:ext>
            </a:extLst>
          </p:cNvPr>
          <p:cNvSpPr>
            <a:spLocks xmlns:a="http://schemas.openxmlformats.org/drawingml/2006/main" noGrp="1"/>
          </p:cNvSpPr>
          <p:nvPr/>
        </p:nvSpPr>
        <p:spPr>
          <a:xfrm xmlns:a="http://schemas.openxmlformats.org/drawingml/2006/main">
            <a:off x="666750" y="1628775"/>
            <a:ext cx="690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0">
                <a:solidFill>
                  <a:srgbClr val="15363D"/>
                </a:solidFill>
                <a:latin typeface="Arial"/>
                <a:ea typeface="Arial"/>
                <a:cs typeface="Arial"/>
              </a:defRPr>
            </a:pPr>
            <a:r>
              <a:rPr sz="2175" b="0">
                <a:solidFill>
                  <a:srgbClr val="15363D"/>
                </a:solidFill>
                <a:latin typeface="Arial"/>
                <a:ea typeface="Arial"/>
                <a:cs typeface="Arial"/>
              </a:rPr>
              <a:t>December 2025. Gap: 1.67 percentage points</a:t>
            </a:r>
          </a:p>
        </p:txBody>
      </p:sp>
      <p:sp>
        <p:nvSpPr>
          <p:cNvPr id="6" name="">
            <a:extLst xmlns:a="http://schemas.openxmlformats.org/drawingml/2006/main">
              <a:ext uri="{FF2B5EF4-FFF2-40B4-BE49-F238E27FC236}">
                <a16:creationId xmlns:a16="http://schemas.microsoft.com/office/drawing/2014/main" id="{2DA525BC-39E1-49D8-9AB6-FD32E5B773C9}"/>
              </a:ext>
            </a:extLst>
          </p:cNvPr>
          <p:cNvSpPr>
            <a:spLocks xmlns:a="http://schemas.openxmlformats.org/drawingml/2006/main" noGrp="1"/>
          </p:cNvSpPr>
          <p:nvPr/>
        </p:nvSpPr>
        <p:spPr>
          <a:xfrm xmlns:a="http://schemas.openxmlformats.org/drawingml/2006/main">
            <a:off x="876300" y="568642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425" b="0">
                <a:solidFill>
                  <a:srgbClr val="56666B"/>
                </a:solidFill>
                <a:latin typeface="Arial"/>
                <a:ea typeface="Arial"/>
                <a:cs typeface="Arial"/>
              </a:defRPr>
            </a:pPr>
            <a:r>
              <a:rPr sz="1425" b="0">
                <a:solidFill>
                  <a:srgbClr val="56666B"/>
                </a:solidFill>
                <a:latin typeface="Arial"/>
                <a:ea typeface="Arial"/>
                <a:cs typeface="Arial"/>
              </a:rPr>
              <a:t>Jan 2022</a:t>
            </a:r>
          </a:p>
        </p:txBody>
      </p:sp>
      <p:sp>
        <p:nvSpPr>
          <p:cNvPr id="7" name="">
            <a:extLst xmlns:a="http://schemas.openxmlformats.org/drawingml/2006/main">
              <a:ext uri="{FF2B5EF4-FFF2-40B4-BE49-F238E27FC236}">
                <a16:creationId xmlns:a16="http://schemas.microsoft.com/office/drawing/2014/main" id="{64B37636-1D28-4B31-9A78-6BA237C3B74C}"/>
              </a:ext>
            </a:extLst>
          </p:cNvPr>
          <p:cNvSpPr>
            <a:spLocks xmlns:a="http://schemas.openxmlformats.org/drawingml/2006/main" noGrp="1"/>
          </p:cNvSpPr>
          <p:nvPr/>
        </p:nvSpPr>
        <p:spPr>
          <a:xfrm xmlns:a="http://schemas.openxmlformats.org/drawingml/2006/main">
            <a:off x="4905375" y="568642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425" b="0">
                <a:solidFill>
                  <a:srgbClr val="56666B"/>
                </a:solidFill>
                <a:latin typeface="Arial"/>
                <a:ea typeface="Arial"/>
                <a:cs typeface="Arial"/>
              </a:defRPr>
            </a:pPr>
            <a:r>
              <a:rPr sz="1425" b="0">
                <a:solidFill>
                  <a:srgbClr val="56666B"/>
                </a:solidFill>
                <a:latin typeface="Arial"/>
                <a:ea typeface="Arial"/>
                <a:cs typeface="Arial"/>
              </a:rPr>
              <a:t>Dec 2023</a:t>
            </a:r>
          </a:p>
        </p:txBody>
      </p:sp>
      <p:sp>
        <p:nvSpPr>
          <p:cNvPr id="8" name="">
            <a:extLst xmlns:a="http://schemas.openxmlformats.org/drawingml/2006/main">
              <a:ext uri="{FF2B5EF4-FFF2-40B4-BE49-F238E27FC236}">
                <a16:creationId xmlns:a16="http://schemas.microsoft.com/office/drawing/2014/main" id="{519DA8E5-0DDE-480B-9395-CD500A766BF8}"/>
              </a:ext>
            </a:extLst>
          </p:cNvPr>
          <p:cNvSpPr>
            <a:spLocks xmlns:a="http://schemas.openxmlformats.org/drawingml/2006/main" noGrp="1"/>
          </p:cNvSpPr>
          <p:nvPr/>
        </p:nvSpPr>
        <p:spPr>
          <a:xfrm xmlns:a="http://schemas.openxmlformats.org/drawingml/2006/main">
            <a:off x="9486900" y="568642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6666B"/>
                </a:solidFill>
                <a:latin typeface="Arial"/>
                <a:ea typeface="Arial"/>
                <a:cs typeface="Arial"/>
              </a:defRPr>
            </a:pPr>
            <a:r>
              <a:rPr sz="1425" b="0">
                <a:solidFill>
                  <a:srgbClr val="56666B"/>
                </a:solidFill>
                <a:latin typeface="Arial"/>
                <a:ea typeface="Arial"/>
                <a:cs typeface="Arial"/>
              </a:rPr>
              <a:t>Dec 2025</a:t>
            </a:r>
          </a:p>
        </p:txBody>
      </p:sp>
      <p:sp>
        <p:nvSpPr>
          <p:cNvPr id="9" name="">
            <a:extLst xmlns:a="http://schemas.openxmlformats.org/drawingml/2006/main">
              <a:ext uri="{FF2B5EF4-FFF2-40B4-BE49-F238E27FC236}">
                <a16:creationId xmlns:a16="http://schemas.microsoft.com/office/drawing/2014/main" id="{A15AE02C-27D6-4DEA-81E4-7D8DB3BE2BF0}"/>
              </a:ext>
            </a:extLst>
          </p:cNvPr>
          <p:cNvSpPr>
            <a:spLocks xmlns:a="http://schemas.openxmlformats.org/drawingml/2006/main" noGrp="1"/>
          </p:cNvSpPr>
          <p:nvPr/>
        </p:nvSpPr>
        <p:spPr>
          <a:xfrm xmlns:a="http://schemas.openxmlformats.org/drawingml/2006/main">
            <a:off x="1952625" y="6000750"/>
            <a:ext cx="962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75" b="0">
                <a:solidFill>
                  <a:srgbClr val="B45C16"/>
                </a:solidFill>
                <a:latin typeface="Arial"/>
                <a:ea typeface="Arial"/>
                <a:cs typeface="Arial"/>
              </a:defRPr>
            </a:pPr>
            <a:r>
              <a:rPr sz="1275" b="0">
                <a:solidFill>
                  <a:srgbClr val="B45C16"/>
                </a:solidFill>
                <a:latin typeface="Arial"/>
                <a:ea typeface="Arial"/>
                <a:cs typeface="Arial"/>
              </a:rPr>
              <a:t>Using transaction counts as weights gives 66.12%, above 65%.</a:t>
            </a:r>
          </a:p>
        </p:txBody>
      </p:sp>
      <p:sp>
        <p:nvSpPr>
          <p:cNvPr id="10" name="">
            <a:extLst xmlns:a="http://schemas.openxmlformats.org/drawingml/2006/main">
              <a:ext uri="{FF2B5EF4-FFF2-40B4-BE49-F238E27FC236}">
                <a16:creationId xmlns:a16="http://schemas.microsoft.com/office/drawing/2014/main" id="{CD6D9C59-2A69-4648-9F72-824C48C5A028}"/>
              </a:ext>
            </a:extLst>
          </p:cNvPr>
          <p:cNvSpPr>
            <a:spLocks xmlns:a="http://schemas.openxmlformats.org/drawingml/2006/main" noGrp="1"/>
          </p:cNvSpPr>
          <p:nvPr/>
        </p:nvSpPr>
        <p:spPr>
          <a:xfrm xmlns:a="http://schemas.openxmlformats.org/drawingml/2006/main">
            <a:off x="1952625" y="6229350"/>
            <a:ext cx="962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350" b="0">
                <a:solidFill>
                  <a:srgbClr val="56666B"/>
                </a:solidFill>
                <a:latin typeface="Arial"/>
                <a:ea typeface="Arial"/>
                <a:cs typeface="Arial"/>
              </a:defRPr>
            </a:pPr>
            <a:r>
              <a:rPr sz="1350" b="0">
                <a:solidFill>
                  <a:srgbClr val="56666B"/>
                </a:solidFill>
                <a:latin typeface="Arial"/>
                <a:ea typeface="Arial"/>
                <a:cs typeface="Arial"/>
              </a:rPr>
              <a:t>Course measure: simple average of adoption percentages. Synthetic training data.</a:t>
            </a:r>
          </a:p>
        </p:txBody>
      </p:sp>
      <p:graphicFrame>
        <p:nvGraphicFramePr>
          <p:cNvPr id="22" name="Chart"/>
          <p:cNvGraphicFramePr/>
          <p:nvPr/>
        </p:nvGraphicFramePr>
        <p:xfrm>
          <a:off xmlns:a="http://schemas.openxmlformats.org/drawingml/2006/main" x="619125" y="2581275"/>
          <a:ext xmlns:a="http://schemas.openxmlformats.org/drawingml/2006/main" cx="10953750" cy="3086100"/>
        </p:xfrm>
        <a:graphic xmlns:a="http://schemas.openxmlformats.org/drawingml/2006/main">
          <a:graphicData uri="http://schemas.openxmlformats.org/drawingml/2006/chart">
            <c:chart xmlns:r="http://schemas.openxmlformats.org/officeDocument/2006/relationships" xmlns:c="http://schemas.openxmlformats.org/drawingml/2006/chart" r:id="R51e1efa725604f21"/>
          </a:graphicData>
        </a:graphic>
      </p:graphicFrame>
    </p:spTree>
    <p:extLst>
      <p:ext uri="{BB962C8B-B14F-4D97-AF65-F5344CB8AC3E}">
        <p14:creationId xmlns:p14="http://schemas.microsoft.com/office/powerpoint/2010/main" val="208456948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4F2EFD-E967-4B22-A9BE-B554DC299FDE}"/>
              </a:ext>
            </a:extLst>
          </p:cNvPr>
          <p:cNvSpPr>
            <a:spLocks xmlns:a="http://schemas.openxmlformats.org/drawingml/2006/main" noGrp="1"/>
          </p:cNvSpPr>
          <p:nvPr/>
        </p:nvSpPr>
        <p:spPr>
          <a:xfrm xmlns:a="http://schemas.openxmlformats.org/drawingml/2006/main">
            <a:off x="609600" y="419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15363D"/>
                </a:solidFill>
                <a:latin typeface="Arial"/>
                <a:ea typeface="Arial"/>
                <a:cs typeface="Arial"/>
              </a:defRPr>
            </a:pPr>
            <a:r>
              <a:rPr sz="3225" b="1">
                <a:solidFill>
                  <a:srgbClr val="15363D"/>
                </a:solidFill>
                <a:latin typeface="Arial"/>
                <a:ea typeface="Arial"/>
                <a:cs typeface="Arial"/>
              </a:rPr>
              <a:t>Nine regions are below 65% in December 2025</a:t>
            </a:r>
          </a:p>
        </p:txBody>
      </p:sp>
      <p:sp>
        <p:nvSpPr>
          <p:cNvPr id="2" name="">
            <a:extLst xmlns:a="http://schemas.openxmlformats.org/drawingml/2006/main">
              <a:ext uri="{FF2B5EF4-FFF2-40B4-BE49-F238E27FC236}">
                <a16:creationId xmlns:a16="http://schemas.microsoft.com/office/drawing/2014/main" id="{044AC3F7-BDA9-4CC0-A3B1-BD7118C3DE83}"/>
              </a:ext>
            </a:extLst>
          </p:cNvPr>
          <p:cNvSpPr>
            <a:spLocks xmlns:a="http://schemas.openxmlformats.org/drawingml/2006/main" noGrp="1"/>
          </p:cNvSpPr>
          <p:nvPr/>
        </p:nvSpPr>
        <p:spPr>
          <a:xfrm xmlns:a="http://schemas.openxmlformats.org/drawingml/2006/main">
            <a:off x="6096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75" b="0">
                <a:solidFill>
                  <a:srgbClr val="56666B"/>
                </a:solidFill>
                <a:latin typeface="Arial"/>
                <a:ea typeface="Arial"/>
                <a:cs typeface="Arial"/>
              </a:defRPr>
            </a:pPr>
            <a:r>
              <a:rPr sz="1275" b="0">
                <a:solidFill>
                  <a:srgbClr val="56666B"/>
                </a:solidFill>
                <a:latin typeface="Arial"/>
                <a:ea typeface="Arial"/>
                <a:cs typeface="Arial"/>
              </a:rPr>
              <a:t>3 / 7</a:t>
            </a:r>
          </a:p>
        </p:txBody>
      </p:sp>
      <p:sp>
        <p:nvSpPr>
          <p:cNvPr id="6" name="">
            <a:extLst xmlns:a="http://schemas.openxmlformats.org/drawingml/2006/main">
              <a:ext uri="{FF2B5EF4-FFF2-40B4-BE49-F238E27FC236}">
                <a16:creationId xmlns:a16="http://schemas.microsoft.com/office/drawing/2014/main" id="{37D76AD0-B40A-4847-953B-6257CBBE100B}"/>
              </a:ext>
            </a:extLst>
          </p:cNvPr>
          <p:cNvSpPr>
            <a:spLocks xmlns:a="http://schemas.openxmlformats.org/drawingml/2006/main" noGrp="1"/>
          </p:cNvSpPr>
          <p:nvPr/>
        </p:nvSpPr>
        <p:spPr>
          <a:xfrm xmlns:a="http://schemas.openxmlformats.org/drawingml/2006/main">
            <a:off x="1952625" y="6229350"/>
            <a:ext cx="962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350" b="0">
                <a:solidFill>
                  <a:srgbClr val="56666B"/>
                </a:solidFill>
                <a:latin typeface="Arial"/>
                <a:ea typeface="Arial"/>
                <a:cs typeface="Arial"/>
              </a:defRPr>
            </a:pPr>
            <a:r>
              <a:rPr sz="1350" b="0">
                <a:solidFill>
                  <a:srgbClr val="56666B"/>
                </a:solidFill>
                <a:latin typeface="Arial"/>
                <a:ea typeface="Arial"/>
                <a:cs typeface="Arial"/>
              </a:rPr>
              <a:t>Dark teal shows proposed trial regions. Orange marks the 65% target.</a:t>
            </a:r>
          </a:p>
        </p:txBody>
      </p:sp>
      <p:graphicFrame>
        <p:nvGraphicFramePr>
          <p:cNvPr id="14" name="Chart"/>
          <p:cNvGraphicFramePr/>
          <p:nvPr/>
        </p:nvGraphicFramePr>
        <p:xfrm>
          <a:off xmlns:a="http://schemas.openxmlformats.org/drawingml/2006/main" x="609600" y="1600200"/>
          <a:ext xmlns:a="http://schemas.openxmlformats.org/drawingml/2006/main" cx="10972800" cy="4267200"/>
        </p:xfrm>
        <a:graphic xmlns:a="http://schemas.openxmlformats.org/drawingml/2006/main">
          <a:graphicData uri="http://schemas.openxmlformats.org/drawingml/2006/chart">
            <c:chart xmlns:r="http://schemas.openxmlformats.org/officeDocument/2006/relationships" xmlns:c="http://schemas.openxmlformats.org/drawingml/2006/chart" r:id="R0a7d9a121c2147e5"/>
          </a:graphicData>
        </a:graphic>
      </p:graphicFrame>
      <p:sp>
        <p:nvSpPr>
          <p:cNvPr id="9" name="">
            <a:extLst xmlns:a="http://schemas.openxmlformats.org/drawingml/2006/main">
              <a:ext uri="{FF2B5EF4-FFF2-40B4-BE49-F238E27FC236}">
                <a16:creationId xmlns:a16="http://schemas.microsoft.com/office/drawing/2014/main" id="{9D556D53-5D07-40F9-96F0-7848D7327CB7}"/>
              </a:ext>
            </a:extLst>
          </p:cNvPr>
          <p:cNvSpPr>
            <a:spLocks xmlns:a="http://schemas.openxmlformats.org/drawingml/2006/main" noGrp="1"/>
          </p:cNvSpPr>
          <p:nvPr/>
        </p:nvSpPr>
        <p:spPr>
          <a:xfrm xmlns:a="http://schemas.openxmlformats.org/drawingml/2006/main">
            <a:off x="8036243" y="1781175"/>
            <a:ext cx="19050" cy="3657600"/>
          </a:xfrm>
          <a:prstGeom xmlns:a="http://schemas.openxmlformats.org/drawingml/2006/main" prst="rect">
            <a:avLst/>
          </a:prstGeom>
          <a:solidFill xmlns:a="http://schemas.openxmlformats.org/drawingml/2006/main">
            <a:srgbClr val="B45C1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A3BFDCF-3DE2-4A56-B4BD-0ACC636EC3BD}"/>
              </a:ext>
            </a:extLst>
          </p:cNvPr>
          <p:cNvSpPr>
            <a:spLocks xmlns:a="http://schemas.openxmlformats.org/drawingml/2006/main" noGrp="1"/>
          </p:cNvSpPr>
          <p:nvPr/>
        </p:nvSpPr>
        <p:spPr>
          <a:xfrm xmlns:a="http://schemas.openxmlformats.org/drawingml/2006/main">
            <a:off x="7877175" y="1524000"/>
            <a:ext cx="1657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B45C16"/>
                </a:solidFill>
                <a:latin typeface="Arial"/>
                <a:ea typeface="Arial"/>
                <a:cs typeface="Arial"/>
              </a:defRPr>
            </a:pPr>
            <a:r>
              <a:rPr sz="1500" b="1">
                <a:solidFill>
                  <a:srgbClr val="B45C16"/>
                </a:solidFill>
                <a:latin typeface="Arial"/>
                <a:ea typeface="Arial"/>
                <a:cs typeface="Arial"/>
              </a:rPr>
              <a:t>65% target</a:t>
            </a:r>
          </a:p>
        </p:txBody>
      </p:sp>
    </p:spTree>
    <p:extLst>
      <p:ext uri="{BB962C8B-B14F-4D97-AF65-F5344CB8AC3E}">
        <p14:creationId xmlns:p14="http://schemas.microsoft.com/office/powerpoint/2010/main" val="68231306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6A38DB9-44B6-4A59-B4EA-3AEB3B821F8F}"/>
              </a:ext>
            </a:extLst>
          </p:cNvPr>
          <p:cNvSpPr>
            <a:spLocks xmlns:a="http://schemas.openxmlformats.org/drawingml/2006/main" noGrp="1"/>
          </p:cNvSpPr>
          <p:nvPr/>
        </p:nvSpPr>
        <p:spPr>
          <a:xfrm xmlns:a="http://schemas.openxmlformats.org/drawingml/2006/main">
            <a:off x="609600" y="419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15363D"/>
                </a:solidFill>
                <a:latin typeface="Arial"/>
                <a:ea typeface="Arial"/>
                <a:cs typeface="Arial"/>
              </a:defRPr>
            </a:pPr>
            <a:r>
              <a:rPr sz="3225" b="1">
                <a:solidFill>
                  <a:srgbClr val="15363D"/>
                </a:solidFill>
                <a:latin typeface="Arial"/>
                <a:ea typeface="Arial"/>
                <a:cs typeface="Arial"/>
              </a:rPr>
              <a:t>Najran ranks first. Third place is almost a tie</a:t>
            </a:r>
          </a:p>
        </p:txBody>
      </p:sp>
      <p:sp>
        <p:nvSpPr>
          <p:cNvPr id="2" name="">
            <a:extLst xmlns:a="http://schemas.openxmlformats.org/drawingml/2006/main">
              <a:ext uri="{FF2B5EF4-FFF2-40B4-BE49-F238E27FC236}">
                <a16:creationId xmlns:a16="http://schemas.microsoft.com/office/drawing/2014/main" id="{0EE4637F-FE4E-410D-8C69-E3E9781A1A3E}"/>
              </a:ext>
            </a:extLst>
          </p:cNvPr>
          <p:cNvSpPr>
            <a:spLocks xmlns:a="http://schemas.openxmlformats.org/drawingml/2006/main" noGrp="1"/>
          </p:cNvSpPr>
          <p:nvPr/>
        </p:nvSpPr>
        <p:spPr>
          <a:xfrm xmlns:a="http://schemas.openxmlformats.org/drawingml/2006/main">
            <a:off x="6096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75" b="0">
                <a:solidFill>
                  <a:srgbClr val="56666B"/>
                </a:solidFill>
                <a:latin typeface="Arial"/>
                <a:ea typeface="Arial"/>
                <a:cs typeface="Arial"/>
              </a:defRPr>
            </a:pPr>
            <a:r>
              <a:rPr sz="1275" b="0">
                <a:solidFill>
                  <a:srgbClr val="56666B"/>
                </a:solidFill>
                <a:latin typeface="Arial"/>
                <a:ea typeface="Arial"/>
                <a:cs typeface="Arial"/>
              </a:rPr>
              <a:t>4 / 7</a:t>
            </a:r>
          </a:p>
        </p:txBody>
      </p:sp>
      <p:sp>
        <p:nvSpPr>
          <p:cNvPr id="3" name="">
            <a:extLst xmlns:a="http://schemas.openxmlformats.org/drawingml/2006/main">
              <a:ext uri="{FF2B5EF4-FFF2-40B4-BE49-F238E27FC236}">
                <a16:creationId xmlns:a16="http://schemas.microsoft.com/office/drawing/2014/main" id="{7779D0CE-AD6C-4126-A15A-EE4F03592062}"/>
              </a:ext>
            </a:extLst>
          </p:cNvPr>
          <p:cNvSpPr>
            <a:spLocks xmlns:a="http://schemas.openxmlformats.org/drawingml/2006/main" noGrp="1"/>
          </p:cNvSpPr>
          <p:nvPr/>
        </p:nvSpPr>
        <p:spPr>
          <a:xfrm xmlns:a="http://schemas.openxmlformats.org/drawingml/2006/main">
            <a:off x="666750" y="13144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500" b="0">
                <a:solidFill>
                  <a:srgbClr val="56666B"/>
                </a:solidFill>
                <a:latin typeface="Arial"/>
                <a:ea typeface="Arial"/>
                <a:cs typeface="Arial"/>
              </a:defRPr>
            </a:pPr>
            <a:r>
              <a:rPr sz="1500" b="0">
                <a:solidFill>
                  <a:srgbClr val="56666B"/>
                </a:solidFill>
                <a:latin typeface="Arial"/>
                <a:ea typeface="Arial"/>
                <a:cs typeface="Arial"/>
              </a:rPr>
              <a:t>December 2025. Dark teal: trial regions. Orange: Al-Baha.</a:t>
            </a:r>
          </a:p>
        </p:txBody>
      </p:sp>
      <p:sp>
        <p:nvSpPr>
          <p:cNvPr id="5" name="">
            <a:extLst xmlns:a="http://schemas.openxmlformats.org/drawingml/2006/main">
              <a:ext uri="{FF2B5EF4-FFF2-40B4-BE49-F238E27FC236}">
                <a16:creationId xmlns:a16="http://schemas.microsoft.com/office/drawing/2014/main" id="{D71339BB-BE3E-48DF-A9EF-7DD881E533AA}"/>
              </a:ext>
            </a:extLst>
          </p:cNvPr>
          <p:cNvSpPr>
            <a:spLocks xmlns:a="http://schemas.openxmlformats.org/drawingml/2006/main" noGrp="1"/>
          </p:cNvSpPr>
          <p:nvPr/>
        </p:nvSpPr>
        <p:spPr>
          <a:xfrm xmlns:a="http://schemas.openxmlformats.org/drawingml/2006/main">
            <a:off x="8258175" y="1781175"/>
            <a:ext cx="323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4500" b="1">
                <a:solidFill>
                  <a:srgbClr val="087D82"/>
                </a:solidFill>
                <a:latin typeface="Arial"/>
                <a:ea typeface="Arial"/>
                <a:cs typeface="Arial"/>
              </a:defRPr>
            </a:pPr>
            <a:r>
              <a:rPr sz="4500" b="1">
                <a:solidFill>
                  <a:srgbClr val="087D82"/>
                </a:solidFill>
                <a:latin typeface="Arial"/>
                <a:ea typeface="Arial"/>
                <a:cs typeface="Arial"/>
              </a:rPr>
              <a:t>42.61%</a:t>
            </a:r>
          </a:p>
        </p:txBody>
      </p:sp>
      <p:sp>
        <p:nvSpPr>
          <p:cNvPr id="6" name="">
            <a:extLst xmlns:a="http://schemas.openxmlformats.org/drawingml/2006/main">
              <a:ext uri="{FF2B5EF4-FFF2-40B4-BE49-F238E27FC236}">
                <a16:creationId xmlns:a16="http://schemas.microsoft.com/office/drawing/2014/main" id="{0D40724E-0987-494B-8C67-4DF6E240454B}"/>
              </a:ext>
            </a:extLst>
          </p:cNvPr>
          <p:cNvSpPr>
            <a:spLocks xmlns:a="http://schemas.openxmlformats.org/drawingml/2006/main" noGrp="1"/>
          </p:cNvSpPr>
          <p:nvPr/>
        </p:nvSpPr>
        <p:spPr>
          <a:xfrm xmlns:a="http://schemas.openxmlformats.org/drawingml/2006/main">
            <a:off x="8258175" y="2714625"/>
            <a:ext cx="32670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1">
                <a:solidFill>
                  <a:srgbClr val="15363D"/>
                </a:solidFill>
                <a:latin typeface="Arial"/>
                <a:ea typeface="Arial"/>
                <a:cs typeface="Arial"/>
              </a:defRPr>
            </a:pPr>
            <a:r>
              <a:rPr sz="1950" b="1">
                <a:solidFill>
                  <a:srgbClr val="15363D"/>
                </a:solidFill>
                <a:latin typeface="Arial"/>
                <a:ea typeface="Arial"/>
                <a:cs typeface="Arial"/>
              </a:rPr>
              <a:t>Trial regions' share
of the score for all
9 regions below 65%</a:t>
            </a:r>
          </a:p>
        </p:txBody>
      </p:sp>
      <p:sp>
        <p:nvSpPr>
          <p:cNvPr id="7" name="">
            <a:extLst xmlns:a="http://schemas.openxmlformats.org/drawingml/2006/main">
              <a:ext uri="{FF2B5EF4-FFF2-40B4-BE49-F238E27FC236}">
                <a16:creationId xmlns:a16="http://schemas.microsoft.com/office/drawing/2014/main" id="{FD679BC7-3275-4C69-94C5-B2ABFB2C84C8}"/>
              </a:ext>
            </a:extLst>
          </p:cNvPr>
          <p:cNvSpPr>
            <a:spLocks xmlns:a="http://schemas.openxmlformats.org/drawingml/2006/main" noGrp="1"/>
          </p:cNvSpPr>
          <p:nvPr/>
        </p:nvSpPr>
        <p:spPr>
          <a:xfrm xmlns:a="http://schemas.openxmlformats.org/drawingml/2006/main">
            <a:off x="8258175" y="374332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725" b="1">
                <a:solidFill>
                  <a:srgbClr val="15363D"/>
                </a:solidFill>
                <a:latin typeface="Arial"/>
                <a:ea typeface="Arial"/>
                <a:cs typeface="Arial"/>
              </a:defRPr>
            </a:pPr>
            <a:r>
              <a:rPr sz="1725" b="1">
                <a:solidFill>
                  <a:srgbClr val="15363D"/>
                </a:solidFill>
                <a:latin typeface="Arial"/>
                <a:ea typeface="Arial"/>
                <a:cs typeface="Arial"/>
              </a:rPr>
              <a:t>Gap to 65% (points)</a:t>
            </a:r>
          </a:p>
        </p:txBody>
      </p:sp>
      <p:sp>
        <p:nvSpPr>
          <p:cNvPr id="8" name="">
            <a:extLst xmlns:a="http://schemas.openxmlformats.org/drawingml/2006/main">
              <a:ext uri="{FF2B5EF4-FFF2-40B4-BE49-F238E27FC236}">
                <a16:creationId xmlns:a16="http://schemas.microsoft.com/office/drawing/2014/main" id="{3A8CD12D-9290-43E2-A7F8-218551CF3FDC}"/>
              </a:ext>
            </a:extLst>
          </p:cNvPr>
          <p:cNvSpPr>
            <a:spLocks xmlns:a="http://schemas.openxmlformats.org/drawingml/2006/main" noGrp="1"/>
          </p:cNvSpPr>
          <p:nvPr/>
        </p:nvSpPr>
        <p:spPr>
          <a:xfrm xmlns:a="http://schemas.openxmlformats.org/drawingml/2006/main">
            <a:off x="8258175" y="4162425"/>
            <a:ext cx="32670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725" b="0">
                <a:solidFill>
                  <a:srgbClr val="15363D"/>
                </a:solidFill>
                <a:latin typeface="Arial"/>
                <a:ea typeface="Arial"/>
                <a:cs typeface="Arial"/>
              </a:defRPr>
            </a:pPr>
            <a:r>
              <a:rPr sz="1725" b="0">
                <a:solidFill>
                  <a:srgbClr val="15363D"/>
                </a:solidFill>
                <a:latin typeface="Arial"/>
                <a:ea typeface="Arial"/>
                <a:cs typeface="Arial"/>
              </a:rPr>
              <a:t>Najran 6.11</a:t>
            </a:r>
          </a:p>
          <a:p xmlns:a="http://schemas.openxmlformats.org/drawingml/2006/main">
            <a:pPr algn="l">
              <a:buNone/>
              <a:defRPr sz="1725" b="0">
                <a:solidFill>
                  <a:srgbClr val="15363D"/>
                </a:solidFill>
                <a:latin typeface="Arial"/>
                <a:ea typeface="Arial"/>
                <a:cs typeface="Arial"/>
              </a:defRPr>
            </a:pPr>
            <a:r>
              <a:rPr sz="1725" b="0">
                <a:solidFill>
                  <a:srgbClr val="15363D"/>
                </a:solidFill>
                <a:latin typeface="Arial"/>
                <a:ea typeface="Arial"/>
                <a:cs typeface="Arial"/>
              </a:rPr>
              <a:t>Jazan 4.34</a:t>
            </a:r>
          </a:p>
          <a:p xmlns:a="http://schemas.openxmlformats.org/drawingml/2006/main">
            <a:pPr algn="l">
              <a:buNone/>
              <a:defRPr sz="1725" b="0">
                <a:solidFill>
                  <a:srgbClr val="15363D"/>
                </a:solidFill>
                <a:latin typeface="Arial"/>
                <a:ea typeface="Arial"/>
                <a:cs typeface="Arial"/>
              </a:defRPr>
            </a:pPr>
            <a:r>
              <a:rPr sz="1725" b="0">
                <a:solidFill>
                  <a:srgbClr val="15363D"/>
                </a:solidFill>
                <a:latin typeface="Arial"/>
                <a:ea typeface="Arial"/>
                <a:cs typeface="Arial"/>
              </a:rPr>
              <a:t>Northern Borders 4.09</a:t>
            </a:r>
          </a:p>
        </p:txBody>
      </p:sp>
      <p:sp>
        <p:nvSpPr>
          <p:cNvPr id="9" name="">
            <a:extLst xmlns:a="http://schemas.openxmlformats.org/drawingml/2006/main">
              <a:ext uri="{FF2B5EF4-FFF2-40B4-BE49-F238E27FC236}">
                <a16:creationId xmlns:a16="http://schemas.microsoft.com/office/drawing/2014/main" id="{1C777C88-543C-4615-AF81-D3A1C6AC9691}"/>
              </a:ext>
            </a:extLst>
          </p:cNvPr>
          <p:cNvSpPr>
            <a:spLocks xmlns:a="http://schemas.openxmlformats.org/drawingml/2006/main" noGrp="1"/>
          </p:cNvSpPr>
          <p:nvPr/>
        </p:nvSpPr>
        <p:spPr>
          <a:xfrm xmlns:a="http://schemas.openxmlformats.org/drawingml/2006/main">
            <a:off x="666750" y="52197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725" b="0">
                <a:solidFill>
                  <a:srgbClr val="56666B"/>
                </a:solidFill>
                <a:latin typeface="Arial"/>
                <a:ea typeface="Arial"/>
                <a:cs typeface="Arial"/>
              </a:defRPr>
            </a:pPr>
            <a:r>
              <a:rPr sz="1725" b="0">
                <a:solidFill>
                  <a:srgbClr val="56666B"/>
                </a:solidFill>
                <a:latin typeface="Arial"/>
                <a:ea typeface="Arial"/>
                <a:cs typeface="Arial"/>
              </a:rPr>
              <a:t>Priority score = target gap / 100 × December transactions (ranking only)</a:t>
            </a:r>
          </a:p>
        </p:txBody>
      </p:sp>
      <p:sp>
        <p:nvSpPr>
          <p:cNvPr id="10" name="">
            <a:extLst xmlns:a="http://schemas.openxmlformats.org/drawingml/2006/main">
              <a:ext uri="{FF2B5EF4-FFF2-40B4-BE49-F238E27FC236}">
                <a16:creationId xmlns:a16="http://schemas.microsoft.com/office/drawing/2014/main" id="{6AE5554B-CCFB-46DE-B38E-EF7E217EFA39}"/>
              </a:ext>
            </a:extLst>
          </p:cNvPr>
          <p:cNvSpPr>
            <a:spLocks xmlns:a="http://schemas.openxmlformats.org/drawingml/2006/main" noGrp="1"/>
          </p:cNvSpPr>
          <p:nvPr/>
        </p:nvSpPr>
        <p:spPr>
          <a:xfrm xmlns:a="http://schemas.openxmlformats.org/drawingml/2006/main">
            <a:off x="666750" y="56388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B45C16"/>
                </a:solidFill>
                <a:latin typeface="Arial"/>
                <a:ea typeface="Arial"/>
                <a:cs typeface="Arial"/>
              </a:defRPr>
            </a:pPr>
            <a:r>
              <a:rPr sz="2025" b="1">
                <a:solidFill>
                  <a:srgbClr val="B45C16"/>
                </a:solidFill>
                <a:latin typeface="Arial"/>
                <a:ea typeface="Arial"/>
                <a:cs typeface="Arial"/>
              </a:rPr>
              <a:t>Almost a tie: Northern Borders 446.26 and Al-Baha 445.60</a:t>
            </a:r>
          </a:p>
        </p:txBody>
      </p:sp>
      <p:sp>
        <p:nvSpPr>
          <p:cNvPr id="11" name="">
            <a:extLst xmlns:a="http://schemas.openxmlformats.org/drawingml/2006/main">
              <a:ext uri="{FF2B5EF4-FFF2-40B4-BE49-F238E27FC236}">
                <a16:creationId xmlns:a16="http://schemas.microsoft.com/office/drawing/2014/main" id="{92DABFDC-024C-4140-90B3-FFC280F6C18F}"/>
              </a:ext>
            </a:extLst>
          </p:cNvPr>
          <p:cNvSpPr>
            <a:spLocks xmlns:a="http://schemas.openxmlformats.org/drawingml/2006/main" noGrp="1"/>
          </p:cNvSpPr>
          <p:nvPr/>
        </p:nvSpPr>
        <p:spPr>
          <a:xfrm xmlns:a="http://schemas.openxmlformats.org/drawingml/2006/main">
            <a:off x="1952625" y="6229350"/>
            <a:ext cx="962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350" b="0">
                <a:solidFill>
                  <a:srgbClr val="56666B"/>
                </a:solidFill>
                <a:latin typeface="Arial"/>
                <a:ea typeface="Arial"/>
                <a:cs typeface="Arial"/>
              </a:defRPr>
            </a:pPr>
            <a:r>
              <a:rPr sz="1350" b="0">
                <a:solidFill>
                  <a:srgbClr val="56666B"/>
                </a:solidFill>
                <a:latin typeface="Arial"/>
                <a:ea typeface="Arial"/>
                <a:cs typeface="Arial"/>
              </a:rPr>
              <a:t>Transaction weighting puts Al-Baha ahead of Jazan. Confirm the measure before funding.</a:t>
            </a:r>
          </a:p>
        </p:txBody>
      </p:sp>
      <p:graphicFrame>
        <p:nvGraphicFramePr>
          <p:cNvPr id="24" name="Chart"/>
          <p:cNvGraphicFramePr/>
          <p:nvPr/>
        </p:nvGraphicFramePr>
        <p:xfrm>
          <a:off xmlns:a="http://schemas.openxmlformats.org/drawingml/2006/main" x="609600" y="1695450"/>
          <a:ext xmlns:a="http://schemas.openxmlformats.org/drawingml/2006/main" cx="7286625" cy="3429000"/>
        </p:xfrm>
        <a:graphic xmlns:a="http://schemas.openxmlformats.org/drawingml/2006/main">
          <a:graphicData uri="http://schemas.openxmlformats.org/drawingml/2006/chart">
            <c:chart xmlns:r="http://schemas.openxmlformats.org/officeDocument/2006/relationships" xmlns:c="http://schemas.openxmlformats.org/drawingml/2006/chart" r:id="R8a59a4b53cdd4d58"/>
          </a:graphicData>
        </a:graphic>
      </p:graphicFrame>
    </p:spTree>
    <p:extLst>
      <p:ext uri="{BB962C8B-B14F-4D97-AF65-F5344CB8AC3E}">
        <p14:creationId xmlns:p14="http://schemas.microsoft.com/office/powerpoint/2010/main" val="4415883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EFBAB83-6399-4062-9B06-59152EE483EE}"/>
              </a:ext>
            </a:extLst>
          </p:cNvPr>
          <p:cNvSpPr>
            <a:spLocks xmlns:a="http://schemas.openxmlformats.org/drawingml/2006/main" noGrp="1"/>
          </p:cNvSpPr>
          <p:nvPr/>
        </p:nvSpPr>
        <p:spPr>
          <a:xfrm xmlns:a="http://schemas.openxmlformats.org/drawingml/2006/main">
            <a:off x="609600" y="419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15363D"/>
                </a:solidFill>
                <a:latin typeface="Arial"/>
                <a:ea typeface="Arial"/>
                <a:cs typeface="Arial"/>
              </a:defRPr>
            </a:pPr>
            <a:r>
              <a:rPr sz="3225" b="1">
                <a:solidFill>
                  <a:srgbClr val="15363D"/>
                </a:solidFill>
                <a:latin typeface="Arial"/>
                <a:ea typeface="Arial"/>
                <a:cs typeface="Arial"/>
              </a:rPr>
              <a:t>Funding in steps lets us test before spending more</a:t>
            </a:r>
          </a:p>
        </p:txBody>
      </p:sp>
      <p:sp>
        <p:nvSpPr>
          <p:cNvPr id="2" name="">
            <a:extLst xmlns:a="http://schemas.openxmlformats.org/drawingml/2006/main">
              <a:ext uri="{FF2B5EF4-FFF2-40B4-BE49-F238E27FC236}">
                <a16:creationId xmlns:a16="http://schemas.microsoft.com/office/drawing/2014/main" id="{969B43E0-9036-4E42-85A2-0241260476A1}"/>
              </a:ext>
            </a:extLst>
          </p:cNvPr>
          <p:cNvSpPr>
            <a:spLocks xmlns:a="http://schemas.openxmlformats.org/drawingml/2006/main" noGrp="1"/>
          </p:cNvSpPr>
          <p:nvPr/>
        </p:nvSpPr>
        <p:spPr>
          <a:xfrm xmlns:a="http://schemas.openxmlformats.org/drawingml/2006/main">
            <a:off x="6096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75" b="0">
                <a:solidFill>
                  <a:srgbClr val="56666B"/>
                </a:solidFill>
                <a:latin typeface="Arial"/>
                <a:ea typeface="Arial"/>
                <a:cs typeface="Arial"/>
              </a:defRPr>
            </a:pPr>
            <a:r>
              <a:rPr sz="1275" b="0">
                <a:solidFill>
                  <a:srgbClr val="56666B"/>
                </a:solidFill>
                <a:latin typeface="Arial"/>
                <a:ea typeface="Arial"/>
                <a:cs typeface="Arial"/>
              </a:rPr>
              <a:t>5 / 7</a:t>
            </a:r>
          </a:p>
        </p:txBody>
      </p:sp>
      <p:graphicFrame>
        <p:nvGraphicFramePr>
          <p:cNvPr id="10" name=""/>
          <p:cNvGraphicFramePr/>
          <p:nvPr/>
        </p:nvGraphicFramePr>
        <p:xfrm>
          <a:off xmlns:a="http://schemas.openxmlformats.org/drawingml/2006/main" x="619125" y="1762125"/>
          <a:ext xmlns:a="http://schemas.openxmlformats.org/drawingml/2006/main" cx="10953750" cy="3609975"/>
        </p:xfrm>
        <a:graphic xmlns:a="http://schemas.openxmlformats.org/drawingml/2006/main">
          <a:graphicData uri="http://schemas.openxmlformats.org/drawingml/2006/table">
            <a:tbl>
              <a:tblPr/>
              <a:tblGrid>
                <a:gridCol w="2190750"/>
                <a:gridCol w="3048000"/>
                <a:gridCol w="2619375"/>
                <a:gridCol w="3095625"/>
              </a:tblGrid>
              <a:tr h="902494">
                <a:tc>
                  <a:txBody>
                    <a:bodyPr/>
                    <a:lstStyle/>
                    <a:p>
                      <a:r>
                        <a:rPr sz="1800" b="1">
                          <a:solidFill>
                            <a:srgbClr val="FFFFFF"/>
                          </a:solidFill>
                          <a:latin typeface="Arial"/>
                          <a:ea typeface="Arial"/>
                          <a:cs typeface="Arial"/>
                        </a:rPr>
                        <a:t>Option</a:t>
                      </a:r>
                    </a:p>
                  </a:txBody>
                  <a:tcPr marL="133350" marR="133350" marT="95250" marB="95250" anchor="ctr">
                    <a:solidFill>
                      <a:srgbClr val="087D82"/>
                    </a:solidFill>
                  </a:tcPr>
                </a:tc>
                <a:tc>
                  <a:txBody>
                    <a:bodyPr/>
                    <a:lstStyle/>
                    <a:p>
                      <a:r>
                        <a:rPr sz="1800" b="1">
                          <a:solidFill>
                            <a:srgbClr val="FFFFFF"/>
                          </a:solidFill>
                          <a:latin typeface="Arial"/>
                          <a:ea typeface="Arial"/>
                          <a:cs typeface="Arial"/>
                        </a:rPr>
                        <a:t>Use of SAR 40M</a:t>
                      </a:r>
                    </a:p>
                  </a:txBody>
                  <a:tcPr marL="133350" marR="133350" marT="95250" marB="95250" anchor="ctr">
                    <a:solidFill>
                      <a:srgbClr val="087D82"/>
                    </a:solidFill>
                  </a:tcPr>
                </a:tc>
                <a:tc>
                  <a:txBody>
                    <a:bodyPr/>
                    <a:lstStyle/>
                    <a:p>
                      <a:r>
                        <a:rPr sz="1800" b="1">
                          <a:solidFill>
                            <a:srgbClr val="FFFFFF"/>
                          </a:solidFill>
                          <a:latin typeface="Arial"/>
                          <a:ea typeface="Arial"/>
                          <a:cs typeface="Arial"/>
                        </a:rPr>
                        <a:t>Main benefit</a:t>
                      </a:r>
                    </a:p>
                  </a:txBody>
                  <a:tcPr marL="133350" marR="133350" marT="95250" marB="95250" anchor="ctr">
                    <a:solidFill>
                      <a:srgbClr val="087D82"/>
                    </a:solidFill>
                  </a:tcPr>
                </a:tc>
                <a:tc>
                  <a:txBody>
                    <a:bodyPr/>
                    <a:lstStyle/>
                    <a:p>
                      <a:r>
                        <a:rPr sz="1800" b="1">
                          <a:solidFill>
                            <a:srgbClr val="FFFFFF"/>
                          </a:solidFill>
                          <a:latin typeface="Arial"/>
                          <a:ea typeface="Arial"/>
                          <a:cs typeface="Arial"/>
                        </a:rPr>
                        <a:t>Main risk</a:t>
                      </a:r>
                    </a:p>
                  </a:txBody>
                  <a:tcPr marL="133350" marR="133350" marT="95250" marB="95250" anchor="ctr">
                    <a:solidFill>
                      <a:srgbClr val="087D82"/>
                    </a:solidFill>
                  </a:tcPr>
                </a:tc>
              </a:tr>
              <a:tr h="902494">
                <a:tc>
                  <a:txBody>
                    <a:bodyPr/>
                    <a:lstStyle/>
                    <a:p>
                      <a:pPr algn="l">
                        <a:buNone/>
                      </a:pPr>
                      <a:r>
                        <a:rPr sz="1800">
                          <a:solidFill>
                            <a:srgbClr val="15363D"/>
                          </a:solidFill>
                          <a:latin typeface="Arial"/>
                          <a:ea typeface="Arial"/>
                          <a:cs typeface="Arial"/>
                        </a:rPr>
                        <a:t>Equal funding</a:t>
                      </a:r>
                    </a:p>
                  </a:txBody>
                  <a:tcPr marL="133350" marR="133350" marT="95250" marB="95250" anchor="ctr">
                    <a:solidFill>
                      <a:srgbClr val="FFFFFF"/>
                    </a:solidFill>
                  </a:tcPr>
                </a:tc>
                <a:tc>
                  <a:txBody>
                    <a:bodyPr/>
                    <a:lstStyle/>
                    <a:p>
                      <a:pPr algn="l">
                        <a:buNone/>
                      </a:pPr>
                      <a:r>
                        <a:rPr sz="1800">
                          <a:solidFill>
                            <a:srgbClr val="15363D"/>
                          </a:solidFill>
                          <a:latin typeface="Arial"/>
                          <a:ea typeface="Arial"/>
                          <a:cs typeface="Arial"/>
                        </a:rPr>
                        <a:t>About SAR 4.44M for each of the 9 regions</a:t>
                      </a:r>
                    </a:p>
                  </a:txBody>
                  <a:tcPr marL="133350" marR="133350" marT="95250" marB="95250" anchor="ctr">
                    <a:solidFill>
                      <a:srgbClr val="FFFFFF"/>
                    </a:solidFill>
                  </a:tcPr>
                </a:tc>
                <a:tc>
                  <a:txBody>
                    <a:bodyPr/>
                    <a:lstStyle/>
                    <a:p>
                      <a:pPr algn="l">
                        <a:buNone/>
                      </a:pPr>
                      <a:r>
                        <a:rPr sz="1800">
                          <a:solidFill>
                            <a:srgbClr val="15363D"/>
                          </a:solidFill>
                          <a:latin typeface="Arial"/>
                          <a:ea typeface="Arial"/>
                          <a:cs typeface="Arial"/>
                        </a:rPr>
                        <a:t>Covers all 9 regions below target</a:t>
                      </a:r>
                    </a:p>
                  </a:txBody>
                  <a:tcPr marL="133350" marR="133350" marT="95250" marB="95250" anchor="ctr">
                    <a:solidFill>
                      <a:srgbClr val="FFFFFF"/>
                    </a:solidFill>
                  </a:tcPr>
                </a:tc>
                <a:tc>
                  <a:txBody>
                    <a:bodyPr/>
                    <a:lstStyle/>
                    <a:p>
                      <a:pPr algn="l">
                        <a:buNone/>
                      </a:pPr>
                      <a:r>
                        <a:rPr sz="1800">
                          <a:solidFill>
                            <a:srgbClr val="15363D"/>
                          </a:solidFill>
                          <a:latin typeface="Arial"/>
                          <a:ea typeface="Arial"/>
                          <a:cs typeface="Arial"/>
                        </a:rPr>
                        <a:t>Ignores different gaps and transaction volumes</a:t>
                      </a:r>
                    </a:p>
                  </a:txBody>
                  <a:tcPr marL="133350" marR="133350" marT="95250" marB="95250" anchor="ctr">
                    <a:solidFill>
                      <a:srgbClr val="FFFFFF"/>
                    </a:solidFill>
                  </a:tcPr>
                </a:tc>
              </a:tr>
              <a:tr h="902494">
                <a:tc>
                  <a:txBody>
                    <a:bodyPr/>
                    <a:lstStyle/>
                    <a:p>
                      <a:pPr algn="l">
                        <a:buNone/>
                      </a:pPr>
                      <a:r>
                        <a:rPr sz="1800">
                          <a:solidFill>
                            <a:srgbClr val="15363D"/>
                          </a:solidFill>
                          <a:latin typeface="Arial"/>
                          <a:ea typeface="Arial"/>
                          <a:cs typeface="Arial"/>
                        </a:rPr>
                        <a:t>All funding now</a:t>
                      </a:r>
                    </a:p>
                  </a:txBody>
                  <a:tcPr marL="133350" marR="133350" marT="95250" marB="95250" anchor="ctr">
                    <a:solidFill>
                      <a:srgbClr val="FFFFFF"/>
                    </a:solidFill>
                  </a:tcPr>
                </a:tc>
                <a:tc>
                  <a:txBody>
                    <a:bodyPr/>
                    <a:lstStyle/>
                    <a:p>
                      <a:pPr algn="l">
                        <a:buNone/>
                      </a:pPr>
                      <a:r>
                        <a:rPr sz="1800">
                          <a:solidFill>
                            <a:srgbClr val="15363D"/>
                          </a:solidFill>
                          <a:latin typeface="Arial"/>
                          <a:ea typeface="Arial"/>
                          <a:cs typeface="Arial"/>
                        </a:rPr>
                        <a:t>SAR 40M in the 3 trial regions</a:t>
                      </a:r>
                    </a:p>
                  </a:txBody>
                  <a:tcPr marL="133350" marR="133350" marT="95250" marB="95250" anchor="ctr">
                    <a:solidFill>
                      <a:srgbClr val="FFFFFF"/>
                    </a:solidFill>
                  </a:tcPr>
                </a:tc>
                <a:tc>
                  <a:txBody>
                    <a:bodyPr/>
                    <a:lstStyle/>
                    <a:p>
                      <a:pPr algn="l">
                        <a:buNone/>
                      </a:pPr>
                      <a:r>
                        <a:rPr sz="1800">
                          <a:solidFill>
                            <a:srgbClr val="15363D"/>
                          </a:solidFill>
                          <a:latin typeface="Arial"/>
                          <a:ea typeface="Arial"/>
                          <a:cs typeface="Arial"/>
                        </a:rPr>
                        <a:t>Focuses on current priorities</a:t>
                      </a:r>
                    </a:p>
                  </a:txBody>
                  <a:tcPr marL="133350" marR="133350" marT="95250" marB="95250" anchor="ctr">
                    <a:solidFill>
                      <a:srgbClr val="FFFFFF"/>
                    </a:solidFill>
                  </a:tcPr>
                </a:tc>
                <a:tc>
                  <a:txBody>
                    <a:bodyPr/>
                    <a:lstStyle/>
                    <a:p>
                      <a:pPr algn="l">
                        <a:buNone/>
                      </a:pPr>
                      <a:r>
                        <a:rPr sz="1800">
                          <a:solidFill>
                            <a:srgbClr val="15363D"/>
                          </a:solidFill>
                          <a:latin typeface="Arial"/>
                          <a:ea typeface="Arial"/>
                          <a:cs typeface="Arial"/>
                        </a:rPr>
                        <a:t>Spends all funding before testing</a:t>
                      </a:r>
                    </a:p>
                  </a:txBody>
                  <a:tcPr marL="133350" marR="133350" marT="95250" marB="95250" anchor="ctr">
                    <a:solidFill>
                      <a:srgbClr val="FFFFFF"/>
                    </a:solidFill>
                  </a:tcPr>
                </a:tc>
              </a:tr>
              <a:tr h="902494">
                <a:tc>
                  <a:txBody>
                    <a:bodyPr/>
                    <a:lstStyle/>
                    <a:p>
                      <a:pPr algn="l">
                        <a:buNone/>
                      </a:pPr>
                      <a:r>
                        <a:rPr sz="1800">
                          <a:solidFill>
                            <a:srgbClr val="15363D"/>
                          </a:solidFill>
                          <a:latin typeface="Arial"/>
                          <a:ea typeface="Arial"/>
                          <a:cs typeface="Arial"/>
                        </a:rPr>
                        <a:t>Funding in steps</a:t>
                      </a:r>
                    </a:p>
                  </a:txBody>
                  <a:tcPr marL="133350" marR="133350" marT="95250" marB="95250" anchor="ctr">
                    <a:solidFill>
                      <a:srgbClr val="FFFFFF"/>
                    </a:solidFill>
                  </a:tcPr>
                </a:tc>
                <a:tc>
                  <a:txBody>
                    <a:bodyPr/>
                    <a:lstStyle/>
                    <a:p>
                      <a:pPr algn="l">
                        <a:buNone/>
                      </a:pPr>
                      <a:r>
                        <a:rPr sz="1800">
                          <a:solidFill>
                            <a:srgbClr val="15363D"/>
                          </a:solidFill>
                          <a:latin typeface="Arial"/>
                          <a:ea typeface="Arial"/>
                          <a:cs typeface="Arial"/>
                        </a:rPr>
                        <a:t>SAR 35M for regions and SAR 5M for review</a:t>
                      </a:r>
                    </a:p>
                  </a:txBody>
                  <a:tcPr marL="133350" marR="133350" marT="95250" marB="95250" anchor="ctr">
                    <a:solidFill>
                      <a:srgbClr val="FFFFFF"/>
                    </a:solidFill>
                  </a:tcPr>
                </a:tc>
                <a:tc>
                  <a:txBody>
                    <a:bodyPr/>
                    <a:lstStyle/>
                    <a:p>
                      <a:pPr algn="l">
                        <a:buNone/>
                      </a:pPr>
                      <a:r>
                        <a:rPr sz="1800">
                          <a:solidFill>
                            <a:srgbClr val="15363D"/>
                          </a:solidFill>
                          <a:latin typeface="Arial"/>
                          <a:ea typeface="Arial"/>
                          <a:cs typeface="Arial"/>
                        </a:rPr>
                        <a:t>Tests before full budget release</a:t>
                      </a:r>
                    </a:p>
                  </a:txBody>
                  <a:tcPr marL="133350" marR="133350" marT="95250" marB="95250" anchor="ctr">
                    <a:solidFill>
                      <a:srgbClr val="FFFFFF"/>
                    </a:solidFill>
                  </a:tcPr>
                </a:tc>
                <a:tc>
                  <a:txBody>
                    <a:bodyPr/>
                    <a:lstStyle/>
                    <a:p>
                      <a:pPr algn="l">
                        <a:buNone/>
                      </a:pPr>
                      <a:r>
                        <a:rPr sz="1800">
                          <a:solidFill>
                            <a:srgbClr val="15363D"/>
                          </a:solidFill>
                          <a:latin typeface="Arial"/>
                          <a:ea typeface="Arial"/>
                          <a:cs typeface="Arial"/>
                        </a:rPr>
                        <a:t>Needs agreed measures and review</a:t>
                      </a:r>
                    </a:p>
                  </a:txBody>
                  <a:tcPr marL="133350" marR="133350" marT="952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39BFC4E-81E9-4C87-9A64-13F177E9A276}"/>
              </a:ext>
            </a:extLst>
          </p:cNvPr>
          <p:cNvSpPr>
            <a:spLocks xmlns:a="http://schemas.openxmlformats.org/drawingml/2006/main" noGrp="1"/>
          </p:cNvSpPr>
          <p:nvPr/>
        </p:nvSpPr>
        <p:spPr>
          <a:xfrm xmlns:a="http://schemas.openxmlformats.org/drawingml/2006/main">
            <a:off x="619125" y="55435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1">
                <a:solidFill>
                  <a:srgbClr val="087D82"/>
                </a:solidFill>
                <a:latin typeface="Arial"/>
                <a:ea typeface="Arial"/>
                <a:cs typeface="Arial"/>
              </a:defRPr>
            </a:pPr>
            <a:r>
              <a:rPr sz="2100" b="1">
                <a:solidFill>
                  <a:srgbClr val="087D82"/>
                </a:solidFill>
                <a:latin typeface="Arial"/>
                <a:ea typeface="Arial"/>
                <a:cs typeface="Arial"/>
              </a:rPr>
              <a:t>First SAR 10M after trial plan approval. Hold SAR 30M.</a:t>
            </a:r>
          </a:p>
        </p:txBody>
      </p:sp>
      <p:sp>
        <p:nvSpPr>
          <p:cNvPr id="5" name="">
            <a:extLst xmlns:a="http://schemas.openxmlformats.org/drawingml/2006/main">
              <a:ext uri="{FF2B5EF4-FFF2-40B4-BE49-F238E27FC236}">
                <a16:creationId xmlns:a16="http://schemas.microsoft.com/office/drawing/2014/main" id="{DDBA465C-A62D-4B1F-B164-B9646FFC7A84}"/>
              </a:ext>
            </a:extLst>
          </p:cNvPr>
          <p:cNvSpPr>
            <a:spLocks xmlns:a="http://schemas.openxmlformats.org/drawingml/2006/main" noGrp="1"/>
          </p:cNvSpPr>
          <p:nvPr/>
        </p:nvSpPr>
        <p:spPr>
          <a:xfrm xmlns:a="http://schemas.openxmlformats.org/drawingml/2006/main">
            <a:off x="1952625" y="6229350"/>
            <a:ext cx="962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350" b="0">
                <a:solidFill>
                  <a:srgbClr val="56666B"/>
                </a:solidFill>
                <a:latin typeface="Arial"/>
                <a:ea typeface="Arial"/>
                <a:cs typeface="Arial"/>
              </a:defRPr>
            </a:pPr>
            <a:r>
              <a:rPr sz="1350" b="0">
                <a:solidFill>
                  <a:srgbClr val="56666B"/>
                </a:solidFill>
                <a:latin typeface="Arial"/>
                <a:ea typeface="Arial"/>
                <a:cs typeface="Arial"/>
              </a:rPr>
              <a:t>The data cannot show which option gives the highest return.</a:t>
            </a:r>
          </a:p>
        </p:txBody>
      </p:sp>
    </p:spTree>
    <p:extLst>
      <p:ext uri="{BB962C8B-B14F-4D97-AF65-F5344CB8AC3E}">
        <p14:creationId xmlns:p14="http://schemas.microsoft.com/office/powerpoint/2010/main" val="5872225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1E4D43F-7CFF-4FF3-A55B-EB9401A01F9D}"/>
              </a:ext>
            </a:extLst>
          </p:cNvPr>
          <p:cNvSpPr>
            <a:spLocks xmlns:a="http://schemas.openxmlformats.org/drawingml/2006/main" noGrp="1"/>
          </p:cNvSpPr>
          <p:nvPr/>
        </p:nvSpPr>
        <p:spPr>
          <a:xfrm xmlns:a="http://schemas.openxmlformats.org/drawingml/2006/main">
            <a:off x="609600" y="419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15363D"/>
                </a:solidFill>
                <a:latin typeface="Arial"/>
                <a:ea typeface="Arial"/>
                <a:cs typeface="Arial"/>
              </a:defRPr>
            </a:pPr>
            <a:r>
              <a:rPr sz="3225" b="1">
                <a:solidFill>
                  <a:srgbClr val="15363D"/>
                </a:solidFill>
                <a:latin typeface="Arial"/>
                <a:ea typeface="Arial"/>
                <a:cs typeface="Arial"/>
              </a:rPr>
              <a:t>SAR 35M for regions and SAR 5M for review</a:t>
            </a:r>
          </a:p>
        </p:txBody>
      </p:sp>
      <p:sp>
        <p:nvSpPr>
          <p:cNvPr id="2" name="">
            <a:extLst xmlns:a="http://schemas.openxmlformats.org/drawingml/2006/main">
              <a:ext uri="{FF2B5EF4-FFF2-40B4-BE49-F238E27FC236}">
                <a16:creationId xmlns:a16="http://schemas.microsoft.com/office/drawing/2014/main" id="{00E62E52-0AE8-4945-ABFB-75D311683033}"/>
              </a:ext>
            </a:extLst>
          </p:cNvPr>
          <p:cNvSpPr>
            <a:spLocks xmlns:a="http://schemas.openxmlformats.org/drawingml/2006/main" noGrp="1"/>
          </p:cNvSpPr>
          <p:nvPr/>
        </p:nvSpPr>
        <p:spPr>
          <a:xfrm xmlns:a="http://schemas.openxmlformats.org/drawingml/2006/main">
            <a:off x="6096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75" b="0">
                <a:solidFill>
                  <a:srgbClr val="56666B"/>
                </a:solidFill>
                <a:latin typeface="Arial"/>
                <a:ea typeface="Arial"/>
                <a:cs typeface="Arial"/>
              </a:defRPr>
            </a:pPr>
            <a:r>
              <a:rPr sz="1275" b="0">
                <a:solidFill>
                  <a:srgbClr val="56666B"/>
                </a:solidFill>
                <a:latin typeface="Arial"/>
                <a:ea typeface="Arial"/>
                <a:cs typeface="Arial"/>
              </a:rPr>
              <a:t>6 / 7</a:t>
            </a:r>
          </a:p>
        </p:txBody>
      </p:sp>
      <p:graphicFrame>
        <p:nvGraphicFramePr>
          <p:cNvPr id="12" name=""/>
          <p:cNvGraphicFramePr/>
          <p:nvPr/>
        </p:nvGraphicFramePr>
        <p:xfrm>
          <a:off xmlns:a="http://schemas.openxmlformats.org/drawingml/2006/main" x="619125" y="1685925"/>
          <a:ext xmlns:a="http://schemas.openxmlformats.org/drawingml/2006/main" cx="5610225" cy="3629025"/>
        </p:xfrm>
        <a:graphic xmlns:a="http://schemas.openxmlformats.org/drawingml/2006/main">
          <a:graphicData uri="http://schemas.openxmlformats.org/drawingml/2006/table">
            <a:tbl>
              <a:tblPr/>
              <a:tblGrid>
                <a:gridCol w="3943350"/>
                <a:gridCol w="1666875"/>
              </a:tblGrid>
              <a:tr h="604838">
                <a:tc>
                  <a:txBody>
                    <a:bodyPr/>
                    <a:lstStyle/>
                    <a:p>
                      <a:r>
                        <a:rPr sz="1800" b="1">
                          <a:solidFill>
                            <a:srgbClr val="FFFFFF"/>
                          </a:solidFill>
                          <a:latin typeface="Arial"/>
                          <a:ea typeface="Arial"/>
                          <a:cs typeface="Arial"/>
                        </a:rPr>
                        <a:t>Budget area</a:t>
                      </a:r>
                    </a:p>
                  </a:txBody>
                  <a:tcPr marL="133350" marR="133350" marT="95250" marB="95250" anchor="ctr">
                    <a:solidFill>
                      <a:srgbClr val="087D82"/>
                    </a:solidFill>
                  </a:tcPr>
                </a:tc>
                <a:tc>
                  <a:txBody>
                    <a:bodyPr/>
                    <a:lstStyle/>
                    <a:p>
                      <a:r>
                        <a:rPr sz="1800" b="1">
                          <a:solidFill>
                            <a:srgbClr val="FFFFFF"/>
                          </a:solidFill>
                          <a:latin typeface="Arial"/>
                          <a:ea typeface="Arial"/>
                          <a:cs typeface="Arial"/>
                        </a:rPr>
                        <a:t>SAR million</a:t>
                      </a:r>
                    </a:p>
                  </a:txBody>
                  <a:tcPr marL="133350" marR="133350" marT="95250" marB="95250" anchor="ctr">
                    <a:solidFill>
                      <a:srgbClr val="087D82"/>
                    </a:solidFill>
                  </a:tcPr>
                </a:tc>
              </a:tr>
              <a:tr h="604838">
                <a:tc>
                  <a:txBody>
                    <a:bodyPr/>
                    <a:lstStyle/>
                    <a:p>
                      <a:pPr algn="l">
                        <a:buNone/>
                      </a:pPr>
                      <a:r>
                        <a:rPr sz="1800">
                          <a:solidFill>
                            <a:srgbClr val="15363D"/>
                          </a:solidFill>
                          <a:latin typeface="Arial"/>
                          <a:ea typeface="Arial"/>
                          <a:cs typeface="Arial"/>
                        </a:rPr>
                        <a:t>Najran</a:t>
                      </a:r>
                    </a:p>
                  </a:txBody>
                  <a:tcPr marL="133350" marR="133350" marT="95250" marB="95250" anchor="ctr">
                    <a:solidFill>
                      <a:srgbClr val="FFFFFF"/>
                    </a:solidFill>
                  </a:tcPr>
                </a:tc>
                <a:tc>
                  <a:txBody>
                    <a:bodyPr/>
                    <a:lstStyle/>
                    <a:p>
                      <a:pPr algn="l">
                        <a:buNone/>
                      </a:pPr>
                      <a:r>
                        <a:rPr sz="1800">
                          <a:solidFill>
                            <a:srgbClr val="15363D"/>
                          </a:solidFill>
                          <a:latin typeface="Arial"/>
                          <a:ea typeface="Arial"/>
                          <a:cs typeface="Arial"/>
                        </a:rPr>
                        <a:t>13</a:t>
                      </a:r>
                    </a:p>
                  </a:txBody>
                  <a:tcPr marL="133350" marR="133350" marT="95250" marB="95250" anchor="ctr">
                    <a:solidFill>
                      <a:srgbClr val="FFFFFF"/>
                    </a:solidFill>
                  </a:tcPr>
                </a:tc>
              </a:tr>
              <a:tr h="604838">
                <a:tc>
                  <a:txBody>
                    <a:bodyPr/>
                    <a:lstStyle/>
                    <a:p>
                      <a:pPr algn="l">
                        <a:buNone/>
                      </a:pPr>
                      <a:r>
                        <a:rPr sz="1800">
                          <a:solidFill>
                            <a:srgbClr val="15363D"/>
                          </a:solidFill>
                          <a:latin typeface="Arial"/>
                          <a:ea typeface="Arial"/>
                          <a:cs typeface="Arial"/>
                        </a:rPr>
                        <a:t>Jazan</a:t>
                      </a:r>
                    </a:p>
                  </a:txBody>
                  <a:tcPr marL="133350" marR="133350" marT="95250" marB="95250" anchor="ctr">
                    <a:solidFill>
                      <a:srgbClr val="FFFFFF"/>
                    </a:solidFill>
                  </a:tcPr>
                </a:tc>
                <a:tc>
                  <a:txBody>
                    <a:bodyPr/>
                    <a:lstStyle/>
                    <a:p>
                      <a:pPr algn="l">
                        <a:buNone/>
                      </a:pPr>
                      <a:r>
                        <a:rPr sz="1800">
                          <a:solidFill>
                            <a:srgbClr val="15363D"/>
                          </a:solidFill>
                          <a:latin typeface="Arial"/>
                          <a:ea typeface="Arial"/>
                          <a:cs typeface="Arial"/>
                        </a:rPr>
                        <a:t>11</a:t>
                      </a:r>
                    </a:p>
                  </a:txBody>
                  <a:tcPr marL="133350" marR="133350" marT="95250" marB="95250" anchor="ctr">
                    <a:solidFill>
                      <a:srgbClr val="FFFFFF"/>
                    </a:solidFill>
                  </a:tcPr>
                </a:tc>
              </a:tr>
              <a:tr h="604838">
                <a:tc>
                  <a:txBody>
                    <a:bodyPr/>
                    <a:lstStyle/>
                    <a:p>
                      <a:pPr algn="l">
                        <a:buNone/>
                      </a:pPr>
                      <a:r>
                        <a:rPr sz="1800">
                          <a:solidFill>
                            <a:srgbClr val="15363D"/>
                          </a:solidFill>
                          <a:latin typeface="Arial"/>
                          <a:ea typeface="Arial"/>
                          <a:cs typeface="Arial"/>
                        </a:rPr>
                        <a:t>Northern Borders</a:t>
                      </a:r>
                    </a:p>
                  </a:txBody>
                  <a:tcPr marL="133350" marR="133350" marT="95250" marB="95250" anchor="ctr">
                    <a:solidFill>
                      <a:srgbClr val="FFFFFF"/>
                    </a:solidFill>
                  </a:tcPr>
                </a:tc>
                <a:tc>
                  <a:txBody>
                    <a:bodyPr/>
                    <a:lstStyle/>
                    <a:p>
                      <a:pPr algn="l">
                        <a:buNone/>
                      </a:pPr>
                      <a:r>
                        <a:rPr sz="1800">
                          <a:solidFill>
                            <a:srgbClr val="15363D"/>
                          </a:solidFill>
                          <a:latin typeface="Arial"/>
                          <a:ea typeface="Arial"/>
                          <a:cs typeface="Arial"/>
                        </a:rPr>
                        <a:t>11</a:t>
                      </a:r>
                    </a:p>
                  </a:txBody>
                  <a:tcPr marL="133350" marR="133350" marT="95250" marB="95250" anchor="ctr">
                    <a:solidFill>
                      <a:srgbClr val="FFFFFF"/>
                    </a:solidFill>
                  </a:tcPr>
                </a:tc>
              </a:tr>
              <a:tr h="604838">
                <a:tc>
                  <a:txBody>
                    <a:bodyPr/>
                    <a:lstStyle/>
                    <a:p>
                      <a:pPr algn="l">
                        <a:buNone/>
                      </a:pPr>
                      <a:r>
                        <a:rPr sz="1800">
                          <a:solidFill>
                            <a:srgbClr val="15363D"/>
                          </a:solidFill>
                          <a:latin typeface="Arial"/>
                          <a:ea typeface="Arial"/>
                          <a:cs typeface="Arial"/>
                        </a:rPr>
                        <a:t>Review and reserve</a:t>
                      </a:r>
                    </a:p>
                  </a:txBody>
                  <a:tcPr marL="133350" marR="133350" marT="95250" marB="95250" anchor="ctr">
                    <a:solidFill>
                      <a:srgbClr val="FFFFFF"/>
                    </a:solidFill>
                  </a:tcPr>
                </a:tc>
                <a:tc>
                  <a:txBody>
                    <a:bodyPr/>
                    <a:lstStyle/>
                    <a:p>
                      <a:pPr algn="l">
                        <a:buNone/>
                      </a:pPr>
                      <a:r>
                        <a:rPr sz="1800">
                          <a:solidFill>
                            <a:srgbClr val="15363D"/>
                          </a:solidFill>
                          <a:latin typeface="Arial"/>
                          <a:ea typeface="Arial"/>
                          <a:cs typeface="Arial"/>
                        </a:rPr>
                        <a:t>5</a:t>
                      </a:r>
                    </a:p>
                  </a:txBody>
                  <a:tcPr marL="133350" marR="133350" marT="95250" marB="95250" anchor="ctr">
                    <a:solidFill>
                      <a:srgbClr val="FFFFFF"/>
                    </a:solidFill>
                  </a:tcPr>
                </a:tc>
              </a:tr>
              <a:tr h="604838">
                <a:tc>
                  <a:txBody>
                    <a:bodyPr/>
                    <a:lstStyle/>
                    <a:p>
                      <a:pPr algn="l">
                        <a:buNone/>
                      </a:pPr>
                      <a:r>
                        <a:rPr sz="1800">
                          <a:solidFill>
                            <a:srgbClr val="15363D"/>
                          </a:solidFill>
                          <a:latin typeface="Arial"/>
                          <a:ea typeface="Arial"/>
                          <a:cs typeface="Arial"/>
                        </a:rPr>
                        <a:t>Total</a:t>
                      </a:r>
                    </a:p>
                  </a:txBody>
                  <a:tcPr marL="133350" marR="133350" marT="95250" marB="95250" anchor="ctr">
                    <a:solidFill>
                      <a:srgbClr val="FFFFFF"/>
                    </a:solidFill>
                  </a:tcPr>
                </a:tc>
                <a:tc>
                  <a:txBody>
                    <a:bodyPr/>
                    <a:lstStyle/>
                    <a:p>
                      <a:pPr algn="l">
                        <a:buNone/>
                      </a:pPr>
                      <a:r>
                        <a:rPr sz="1800">
                          <a:solidFill>
                            <a:srgbClr val="15363D"/>
                          </a:solidFill>
                          <a:latin typeface="Arial"/>
                          <a:ea typeface="Arial"/>
                          <a:cs typeface="Arial"/>
                        </a:rPr>
                        <a:t>40</a:t>
                      </a:r>
                    </a:p>
                  </a:txBody>
                  <a:tcPr marL="133350" marR="133350" marT="952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810B9BB-9033-489F-A4B3-5A7CE67F438B}"/>
              </a:ext>
            </a:extLst>
          </p:cNvPr>
          <p:cNvSpPr>
            <a:spLocks xmlns:a="http://schemas.openxmlformats.org/drawingml/2006/main" noGrp="1"/>
          </p:cNvSpPr>
          <p:nvPr/>
        </p:nvSpPr>
        <p:spPr>
          <a:xfrm xmlns:a="http://schemas.openxmlformats.org/drawingml/2006/main">
            <a:off x="6877050" y="2095500"/>
            <a:ext cx="4476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5025" b="1">
                <a:solidFill>
                  <a:srgbClr val="087D82"/>
                </a:solidFill>
                <a:latin typeface="Arial"/>
                <a:ea typeface="Arial"/>
                <a:cs typeface="Arial"/>
              </a:defRPr>
            </a:pPr>
            <a:r>
              <a:rPr sz="5025" b="1">
                <a:solidFill>
                  <a:srgbClr val="087D82"/>
                </a:solidFill>
                <a:latin typeface="Arial"/>
                <a:ea typeface="Arial"/>
                <a:cs typeface="Arial"/>
              </a:rPr>
              <a:t>64.45%</a:t>
            </a:r>
          </a:p>
        </p:txBody>
      </p:sp>
      <p:sp>
        <p:nvSpPr>
          <p:cNvPr id="5" name="">
            <a:extLst xmlns:a="http://schemas.openxmlformats.org/drawingml/2006/main">
              <a:ext uri="{FF2B5EF4-FFF2-40B4-BE49-F238E27FC236}">
                <a16:creationId xmlns:a16="http://schemas.microsoft.com/office/drawing/2014/main" id="{298C6A25-2022-40E8-BA52-95E8A781087B}"/>
              </a:ext>
            </a:extLst>
          </p:cNvPr>
          <p:cNvSpPr>
            <a:spLocks xmlns:a="http://schemas.openxmlformats.org/drawingml/2006/main" noGrp="1"/>
          </p:cNvSpPr>
          <p:nvPr/>
        </p:nvSpPr>
        <p:spPr>
          <a:xfrm xmlns:a="http://schemas.openxmlformats.org/drawingml/2006/main">
            <a:off x="6629400" y="3219450"/>
            <a:ext cx="4762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250" b="1">
                <a:solidFill>
                  <a:srgbClr val="15363D"/>
                </a:solidFill>
                <a:latin typeface="Arial"/>
                <a:ea typeface="Arial"/>
                <a:cs typeface="Arial"/>
              </a:defRPr>
            </a:pPr>
            <a:r>
              <a:rPr sz="2250" b="1">
                <a:solidFill>
                  <a:srgbClr val="15363D"/>
                </a:solidFill>
                <a:latin typeface="Arial"/>
                <a:ea typeface="Arial"/>
                <a:cs typeface="Arial"/>
              </a:rPr>
              <a:t>National average if the 3 regions reach 65% and the other regions stay unchanged</a:t>
            </a:r>
          </a:p>
        </p:txBody>
      </p:sp>
      <p:sp>
        <p:nvSpPr>
          <p:cNvPr id="6" name="">
            <a:extLst xmlns:a="http://schemas.openxmlformats.org/drawingml/2006/main">
              <a:ext uri="{FF2B5EF4-FFF2-40B4-BE49-F238E27FC236}">
                <a16:creationId xmlns:a16="http://schemas.microsoft.com/office/drawing/2014/main" id="{D7C7CD7E-154D-4436-8944-E19DD1E9C17D}"/>
              </a:ext>
            </a:extLst>
          </p:cNvPr>
          <p:cNvSpPr>
            <a:spLocks xmlns:a="http://schemas.openxmlformats.org/drawingml/2006/main" noGrp="1"/>
          </p:cNvSpPr>
          <p:nvPr/>
        </p:nvSpPr>
        <p:spPr>
          <a:xfrm xmlns:a="http://schemas.openxmlformats.org/drawingml/2006/main">
            <a:off x="6629400" y="5010150"/>
            <a:ext cx="476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B45C16"/>
                </a:solidFill>
                <a:latin typeface="Arial"/>
                <a:ea typeface="Arial"/>
                <a:cs typeface="Arial"/>
              </a:defRPr>
            </a:pPr>
            <a:r>
              <a:rPr sz="1950" b="0">
                <a:solidFill>
                  <a:srgbClr val="B45C16"/>
                </a:solidFill>
                <a:latin typeface="Arial"/>
                <a:ea typeface="Arial"/>
                <a:cs typeface="Arial"/>
              </a:rPr>
              <a:t>An example only.
The budget effect is unknown.</a:t>
            </a:r>
          </a:p>
        </p:txBody>
      </p:sp>
      <p:sp>
        <p:nvSpPr>
          <p:cNvPr id="7" name="">
            <a:extLst xmlns:a="http://schemas.openxmlformats.org/drawingml/2006/main">
              <a:ext uri="{FF2B5EF4-FFF2-40B4-BE49-F238E27FC236}">
                <a16:creationId xmlns:a16="http://schemas.microsoft.com/office/drawing/2014/main" id="{2A82CE85-D72F-4010-9E81-0459ED728EC0}"/>
              </a:ext>
            </a:extLst>
          </p:cNvPr>
          <p:cNvSpPr>
            <a:spLocks xmlns:a="http://schemas.openxmlformats.org/drawingml/2006/main" noGrp="1"/>
          </p:cNvSpPr>
          <p:nvPr/>
        </p:nvSpPr>
        <p:spPr>
          <a:xfrm xmlns:a="http://schemas.openxmlformats.org/drawingml/2006/main">
            <a:off x="1952625" y="6229350"/>
            <a:ext cx="962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350" b="0">
                <a:solidFill>
                  <a:srgbClr val="56666B"/>
                </a:solidFill>
                <a:latin typeface="Arial"/>
                <a:ea typeface="Arial"/>
                <a:cs typeface="Arial"/>
              </a:defRPr>
            </a:pPr>
            <a:r>
              <a:rPr sz="1350" b="0">
                <a:solidFill>
                  <a:srgbClr val="56666B"/>
                </a:solidFill>
                <a:latin typeface="Arial"/>
                <a:ea typeface="Arial"/>
                <a:cs typeface="Arial"/>
              </a:rPr>
              <a:t>Budget amounts need local cost checks. This example still falls below 65%.</a:t>
            </a:r>
          </a:p>
        </p:txBody>
      </p:sp>
    </p:spTree>
    <p:extLst>
      <p:ext uri="{BB962C8B-B14F-4D97-AF65-F5344CB8AC3E}">
        <p14:creationId xmlns:p14="http://schemas.microsoft.com/office/powerpoint/2010/main" val="184659012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78DB6E4-874F-47B7-BC44-E23AE4B3D05D}"/>
              </a:ext>
            </a:extLst>
          </p:cNvPr>
          <p:cNvSpPr>
            <a:spLocks xmlns:a="http://schemas.openxmlformats.org/drawingml/2006/main" noGrp="1"/>
          </p:cNvSpPr>
          <p:nvPr/>
        </p:nvSpPr>
        <p:spPr>
          <a:xfrm xmlns:a="http://schemas.openxmlformats.org/drawingml/2006/main">
            <a:off x="609600" y="419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15363D"/>
                </a:solidFill>
                <a:latin typeface="Arial"/>
                <a:ea typeface="Arial"/>
                <a:cs typeface="Arial"/>
              </a:defRPr>
            </a:pPr>
            <a:r>
              <a:rPr sz="3225" b="1">
                <a:solidFill>
                  <a:srgbClr val="15363D"/>
                </a:solidFill>
                <a:latin typeface="Arial"/>
                <a:ea typeface="Arial"/>
                <a:cs typeface="Arial"/>
              </a:rPr>
              <a:t>The 40M proposal starts with 10M in trials</a:t>
            </a:r>
          </a:p>
        </p:txBody>
      </p:sp>
      <p:sp>
        <p:nvSpPr>
          <p:cNvPr id="2" name="">
            <a:extLst xmlns:a="http://schemas.openxmlformats.org/drawingml/2006/main">
              <a:ext uri="{FF2B5EF4-FFF2-40B4-BE49-F238E27FC236}">
                <a16:creationId xmlns:a16="http://schemas.microsoft.com/office/drawing/2014/main" id="{5A41CB70-F7E2-455E-9714-0B663AF240E6}"/>
              </a:ext>
            </a:extLst>
          </p:cNvPr>
          <p:cNvSpPr>
            <a:spLocks xmlns:a="http://schemas.openxmlformats.org/drawingml/2006/main" noGrp="1"/>
          </p:cNvSpPr>
          <p:nvPr/>
        </p:nvSpPr>
        <p:spPr>
          <a:xfrm xmlns:a="http://schemas.openxmlformats.org/drawingml/2006/main">
            <a:off x="609600" y="64198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75" b="0">
                <a:solidFill>
                  <a:srgbClr val="56666B"/>
                </a:solidFill>
                <a:latin typeface="Arial"/>
                <a:ea typeface="Arial"/>
                <a:cs typeface="Arial"/>
              </a:defRPr>
            </a:pPr>
            <a:r>
              <a:rPr sz="1275" b="0">
                <a:solidFill>
                  <a:srgbClr val="56666B"/>
                </a:solidFill>
                <a:latin typeface="Arial"/>
                <a:ea typeface="Arial"/>
                <a:cs typeface="Arial"/>
              </a:rPr>
              <a:t>7 / 7</a:t>
            </a:r>
          </a:p>
        </p:txBody>
      </p:sp>
      <p:sp>
        <p:nvSpPr>
          <p:cNvPr id="3" name="">
            <a:extLst xmlns:a="http://schemas.openxmlformats.org/drawingml/2006/main">
              <a:ext uri="{FF2B5EF4-FFF2-40B4-BE49-F238E27FC236}">
                <a16:creationId xmlns:a16="http://schemas.microsoft.com/office/drawing/2014/main" id="{F27311E6-2032-4CD2-A46C-4EDADE243500}"/>
              </a:ext>
            </a:extLst>
          </p:cNvPr>
          <p:cNvSpPr>
            <a:spLocks xmlns:a="http://schemas.openxmlformats.org/drawingml/2006/main" noGrp="1"/>
          </p:cNvSpPr>
          <p:nvPr/>
        </p:nvSpPr>
        <p:spPr>
          <a:xfrm xmlns:a="http://schemas.openxmlformats.org/drawingml/2006/main">
            <a:off x="666750" y="1647825"/>
            <a:ext cx="1081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925" b="1">
                <a:solidFill>
                  <a:srgbClr val="087D82"/>
                </a:solidFill>
                <a:latin typeface="Arial"/>
                <a:ea typeface="Arial"/>
                <a:cs typeface="Arial"/>
              </a:defRPr>
            </a:pPr>
            <a:r>
              <a:rPr sz="2925" b="1">
                <a:solidFill>
                  <a:srgbClr val="087D82"/>
                </a:solidFill>
                <a:latin typeface="Arial"/>
                <a:ea typeface="Arial"/>
                <a:cs typeface="Arial"/>
              </a:rPr>
              <a:t>First 10M after trial plan approval. Hold 30M.</a:t>
            </a:r>
          </a:p>
        </p:txBody>
      </p:sp>
      <p:graphicFrame>
        <p:nvGraphicFramePr>
          <p:cNvPr id="12" name=""/>
          <p:cNvGraphicFramePr/>
          <p:nvPr/>
        </p:nvGraphicFramePr>
        <p:xfrm>
          <a:off xmlns:a="http://schemas.openxmlformats.org/drawingml/2006/main" x="619125" y="2828925"/>
          <a:ext xmlns:a="http://schemas.openxmlformats.org/drawingml/2006/main" cx="10953750" cy="2514600"/>
        </p:xfrm>
        <a:graphic xmlns:a="http://schemas.openxmlformats.org/drawingml/2006/main">
          <a:graphicData uri="http://schemas.openxmlformats.org/drawingml/2006/table">
            <a:tbl>
              <a:tblPr/>
              <a:tblGrid>
                <a:gridCol w="3524250"/>
                <a:gridCol w="7429500"/>
              </a:tblGrid>
              <a:tr h="628650">
                <a:tc>
                  <a:txBody>
                    <a:bodyPr/>
                    <a:lstStyle/>
                    <a:p>
                      <a:r>
                        <a:rPr sz="1800" b="1">
                          <a:solidFill>
                            <a:srgbClr val="FFFFFF"/>
                          </a:solidFill>
                          <a:latin typeface="Arial"/>
                          <a:ea typeface="Arial"/>
                          <a:cs typeface="Arial"/>
                        </a:rPr>
                        <a:t>After budget approval</a:t>
                      </a:r>
                    </a:p>
                  </a:txBody>
                  <a:tcPr marL="133350" marR="133350" marT="95250" marB="95250" anchor="ctr">
                    <a:solidFill>
                      <a:srgbClr val="087D82"/>
                    </a:solidFill>
                  </a:tcPr>
                </a:tc>
                <a:tc>
                  <a:txBody>
                    <a:bodyPr/>
                    <a:lstStyle/>
                    <a:p>
                      <a:r>
                        <a:rPr sz="1800" b="1">
                          <a:solidFill>
                            <a:srgbClr val="FFFFFF"/>
                          </a:solidFill>
                          <a:latin typeface="Arial"/>
                          <a:ea typeface="Arial"/>
                          <a:cs typeface="Arial"/>
                        </a:rPr>
                        <a:t>Next step</a:t>
                      </a:r>
                    </a:p>
                  </a:txBody>
                  <a:tcPr marL="133350" marR="133350" marT="95250" marB="95250" anchor="ctr">
                    <a:solidFill>
                      <a:srgbClr val="087D82"/>
                    </a:solidFill>
                  </a:tcPr>
                </a:tc>
              </a:tr>
              <a:tr h="628650">
                <a:tc>
                  <a:txBody>
                    <a:bodyPr/>
                    <a:lstStyle/>
                    <a:p>
                      <a:pPr algn="l">
                        <a:buNone/>
                      </a:pPr>
                      <a:r>
                        <a:rPr sz="1800">
                          <a:solidFill>
                            <a:srgbClr val="15363D"/>
                          </a:solidFill>
                          <a:latin typeface="Arial"/>
                          <a:ea typeface="Arial"/>
                          <a:cs typeface="Arial"/>
                        </a:rPr>
                        <a:t>Day 0</a:t>
                      </a:r>
                    </a:p>
                  </a:txBody>
                  <a:tcPr marL="133350" marR="133350" marT="95250" marB="95250" anchor="ctr">
                    <a:solidFill>
                      <a:srgbClr val="FFFFFF"/>
                    </a:solidFill>
                  </a:tcPr>
                </a:tc>
                <a:tc>
                  <a:txBody>
                    <a:bodyPr/>
                    <a:lstStyle/>
                    <a:p>
                      <a:pPr algn="l">
                        <a:buNone/>
                      </a:pPr>
                      <a:r>
                        <a:rPr sz="1800">
                          <a:solidFill>
                            <a:srgbClr val="15363D"/>
                          </a:solidFill>
                          <a:latin typeface="Arial"/>
                          <a:ea typeface="Arial"/>
                          <a:cs typeface="Arial"/>
                        </a:rPr>
                        <a:t>Approve the 40M budget and choose a lead</a:t>
                      </a:r>
                    </a:p>
                  </a:txBody>
                  <a:tcPr marL="133350" marR="133350" marT="95250" marB="95250" anchor="ctr">
                    <a:solidFill>
                      <a:srgbClr val="FFFFFF"/>
                    </a:solidFill>
                  </a:tcPr>
                </a:tc>
              </a:tr>
              <a:tr h="628650">
                <a:tc>
                  <a:txBody>
                    <a:bodyPr/>
                    <a:lstStyle/>
                    <a:p>
                      <a:pPr algn="l">
                        <a:buNone/>
                      </a:pPr>
                      <a:r>
                        <a:rPr sz="1800">
                          <a:solidFill>
                            <a:srgbClr val="15363D"/>
                          </a:solidFill>
                          <a:latin typeface="Arial"/>
                          <a:ea typeface="Arial"/>
                          <a:cs typeface="Arial"/>
                        </a:rPr>
                        <a:t>Within 30 days</a:t>
                      </a:r>
                    </a:p>
                  </a:txBody>
                  <a:tcPr marL="133350" marR="133350" marT="95250" marB="95250" anchor="ctr">
                    <a:solidFill>
                      <a:srgbClr val="FFFFFF"/>
                    </a:solidFill>
                  </a:tcPr>
                </a:tc>
                <a:tc>
                  <a:txBody>
                    <a:bodyPr/>
                    <a:lstStyle/>
                    <a:p>
                      <a:pPr algn="l">
                        <a:buNone/>
                      </a:pPr>
                      <a:r>
                        <a:rPr sz="1800">
                          <a:solidFill>
                            <a:srgbClr val="15363D"/>
                          </a:solidFill>
                          <a:latin typeface="Arial"/>
                          <a:ea typeface="Arial"/>
                          <a:cs typeface="Arial"/>
                        </a:rPr>
                        <a:t>Approve the trial plan. Start when ready.</a:t>
                      </a:r>
                    </a:p>
                  </a:txBody>
                  <a:tcPr marL="133350" marR="133350" marT="95250" marB="95250" anchor="ctr">
                    <a:solidFill>
                      <a:srgbClr val="FFFFFF"/>
                    </a:solidFill>
                  </a:tcPr>
                </a:tc>
              </a:tr>
              <a:tr h="628650">
                <a:tc>
                  <a:txBody>
                    <a:bodyPr/>
                    <a:lstStyle/>
                    <a:p>
                      <a:pPr algn="l">
                        <a:buNone/>
                      </a:pPr>
                      <a:r>
                        <a:rPr sz="1800">
                          <a:solidFill>
                            <a:srgbClr val="15363D"/>
                          </a:solidFill>
                          <a:latin typeface="Arial"/>
                          <a:ea typeface="Arial"/>
                          <a:cs typeface="Arial"/>
                        </a:rPr>
                        <a:t>Day 90</a:t>
                      </a:r>
                    </a:p>
                  </a:txBody>
                  <a:tcPr marL="133350" marR="133350" marT="95250" marB="95250" anchor="ctr">
                    <a:solidFill>
                      <a:srgbClr val="FFFFFF"/>
                    </a:solidFill>
                  </a:tcPr>
                </a:tc>
                <a:tc>
                  <a:txBody>
                    <a:bodyPr/>
                    <a:lstStyle/>
                    <a:p>
                      <a:pPr algn="l">
                        <a:buNone/>
                      </a:pPr>
                      <a:r>
                        <a:rPr sz="1800">
                          <a:solidFill>
                            <a:srgbClr val="15363D"/>
                          </a:solidFill>
                          <a:latin typeface="Arial"/>
                          <a:ea typeface="Arial"/>
                          <a:cs typeface="Arial"/>
                        </a:rPr>
                        <a:t>Review results and costs before any later release</a:t>
                      </a:r>
                    </a:p>
                  </a:txBody>
                  <a:tcPr marL="133350" marR="13335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65C1333-A65B-43DC-BB8F-63A43C636636}"/>
              </a:ext>
            </a:extLst>
          </p:cNvPr>
          <p:cNvSpPr>
            <a:spLocks xmlns:a="http://schemas.openxmlformats.org/drawingml/2006/main" noGrp="1"/>
          </p:cNvSpPr>
          <p:nvPr/>
        </p:nvSpPr>
        <p:spPr>
          <a:xfrm xmlns:a="http://schemas.openxmlformats.org/drawingml/2006/main">
            <a:off x="666750" y="55626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1">
                <a:solidFill>
                  <a:srgbClr val="15363D"/>
                </a:solidFill>
                <a:latin typeface="Arial"/>
                <a:ea typeface="Arial"/>
                <a:cs typeface="Arial"/>
              </a:defRPr>
            </a:pPr>
            <a:r>
              <a:rPr sz="2100" b="1">
                <a:solidFill>
                  <a:srgbClr val="15363D"/>
                </a:solidFill>
                <a:latin typeface="Arial"/>
                <a:ea typeface="Arial"/>
                <a:cs typeface="Arial"/>
              </a:rPr>
              <a:t>Trial goal: +2 percentage points and steady service quality</a:t>
            </a:r>
          </a:p>
        </p:txBody>
      </p:sp>
      <p:sp>
        <p:nvSpPr>
          <p:cNvPr id="6" name="">
            <a:extLst xmlns:a="http://schemas.openxmlformats.org/drawingml/2006/main">
              <a:ext uri="{FF2B5EF4-FFF2-40B4-BE49-F238E27FC236}">
                <a16:creationId xmlns:a16="http://schemas.microsoft.com/office/drawing/2014/main" id="{DA7B78AD-6CA7-4D98-9690-1E2E8C99AE5F}"/>
              </a:ext>
            </a:extLst>
          </p:cNvPr>
          <p:cNvSpPr>
            <a:spLocks xmlns:a="http://schemas.openxmlformats.org/drawingml/2006/main" noGrp="1"/>
          </p:cNvSpPr>
          <p:nvPr/>
        </p:nvSpPr>
        <p:spPr>
          <a:xfrm xmlns:a="http://schemas.openxmlformats.org/drawingml/2006/main">
            <a:off x="1952625" y="6229350"/>
            <a:ext cx="962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350" b="0">
                <a:solidFill>
                  <a:srgbClr val="56666B"/>
                </a:solidFill>
                <a:latin typeface="Arial"/>
                <a:ea typeface="Arial"/>
                <a:cs typeface="Arial"/>
              </a:defRPr>
            </a:pPr>
            <a:r>
              <a:rPr sz="1350" b="0">
                <a:solidFill>
                  <a:srgbClr val="56666B"/>
                </a:solidFill>
                <a:latin typeface="Arial"/>
                <a:ea typeface="Arial"/>
                <a:cs typeface="Arial"/>
              </a:rPr>
              <a:t>Goal only. Day 90 starts at budget approval. Extend the review if needed.</a:t>
            </a:r>
          </a:p>
        </p:txBody>
      </p:sp>
    </p:spTree>
    <p:extLst>
      <p:ext uri="{BB962C8B-B14F-4D97-AF65-F5344CB8AC3E}">
        <p14:creationId xmlns:p14="http://schemas.microsoft.com/office/powerpoint/2010/main" val="8666708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2026-10-06T16:05:02.4560000Z</dcterms:created>
  <dcterms:modified xsi:type="dcterms:W3CDTF">2026-10-06T16:05:02.4560000Z</dcterms:modified>
</coreProperties>
</file>