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3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bba829ca4a408a" /><Relationship Type="http://schemas.openxmlformats.org/officeDocument/2006/relationships/extended-properties" Target="/docProps/app.xml" Id="R4dd5c4bb8e5046d1" /><Relationship Type="http://schemas.openxmlformats.org/officeDocument/2006/relationships/officeDocument" Target="/ppt/presentation.xml" Id="Rfbd46b8566c04ee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0fb10a058ac4ec3"/>
  </p:sldMasterIdLst>
  <p:notesMasterIdLst>
    <p:notesMasterId xmlns:r="http://schemas.openxmlformats.org/officeDocument/2006/relationships" r:id="Reb4f4f135c7e4768"/>
  </p:notesMasterIdLst>
  <p:sldIdLst>
    <p:sldId xmlns:r="http://schemas.openxmlformats.org/officeDocument/2006/relationships" id="256" r:id="R8b8e0217f6034f02"/>
    <p:sldId xmlns:r="http://schemas.openxmlformats.org/officeDocument/2006/relationships" id="257" r:id="Rfcfe55276c8c40d7"/>
    <p:sldId xmlns:r="http://schemas.openxmlformats.org/officeDocument/2006/relationships" id="258" r:id="Rdf157a29358e4619"/>
    <p:sldId xmlns:r="http://schemas.openxmlformats.org/officeDocument/2006/relationships" id="259" r:id="R1248759c39b84b4a"/>
    <p:sldId xmlns:r="http://schemas.openxmlformats.org/officeDocument/2006/relationships" id="260" r:id="R004c43fb0a7148f4"/>
    <p:sldId xmlns:r="http://schemas.openxmlformats.org/officeDocument/2006/relationships" id="261" r:id="R3207b468a0214f3e"/>
    <p:sldId xmlns:r="http://schemas.openxmlformats.org/officeDocument/2006/relationships" id="262" r:id="R35c3c4aeaf9f45a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f657d93978947a4" /><Relationship Type="http://schemas.openxmlformats.org/officeDocument/2006/relationships/slideMaster" Target="/ppt/slideMasters/slideMaster1.xml" Id="R80fb10a058ac4ec3" /><Relationship Type="http://schemas.openxmlformats.org/officeDocument/2006/relationships/notesMaster" Target="/ppt/notesMasters/notesMaster1.xml" Id="Reb4f4f135c7e4768" /><Relationship Type="http://schemas.openxmlformats.org/officeDocument/2006/relationships/presProps" Target="/ppt/presProps.xml" Id="Rffccad3a67504626" /><Relationship Type="http://schemas.openxmlformats.org/officeDocument/2006/relationships/tableStyles" Target="/ppt/tableStyles.xml" Id="Rbf8da5f9c1664aaf" /><Relationship Type="http://schemas.openxmlformats.org/officeDocument/2006/relationships/slide" Target="/ppt/slides/slide1.xml" Id="R8b8e0217f6034f02" /><Relationship Type="http://schemas.openxmlformats.org/officeDocument/2006/relationships/slide" Target="/ppt/slides/slide2.xml" Id="Rfcfe55276c8c40d7" /><Relationship Type="http://schemas.openxmlformats.org/officeDocument/2006/relationships/slide" Target="/ppt/slides/slide3.xml" Id="Rdf157a29358e4619" /><Relationship Type="http://schemas.openxmlformats.org/officeDocument/2006/relationships/slide" Target="/ppt/slides/slide4.xml" Id="R1248759c39b84b4a" /><Relationship Type="http://schemas.openxmlformats.org/officeDocument/2006/relationships/slide" Target="/ppt/slides/slide5.xml" Id="R004c43fb0a7148f4" /><Relationship Type="http://schemas.openxmlformats.org/officeDocument/2006/relationships/slide" Target="/ppt/slides/slide6.xml" Id="R3207b468a0214f3e" /><Relationship Type="http://schemas.openxmlformats.org/officeDocument/2006/relationships/slide" Target="/ppt/slides/slide7.xml" Id="R35c3c4aeaf9f45a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34045a4d3114db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9049e2deb654dae" /><Relationship Type="http://schemas.openxmlformats.org/officeDocument/2006/relationships/notesMaster" Target="/ppt/notesMasters/notesMaster1.xml" Id="Rfafe551c87774b6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0ecdfcfdf0941ba" /><Relationship Type="http://schemas.openxmlformats.org/officeDocument/2006/relationships/notesMaster" Target="/ppt/notesMasters/notesMaster1.xml" Id="R17658355cfca48a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ea28fef9824974" /><Relationship Type="http://schemas.openxmlformats.org/officeDocument/2006/relationships/notesMaster" Target="/ppt/notesMasters/notesMaster1.xml" Id="Rc29c961947654b7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c22d204ba5b4cc6" /><Relationship Type="http://schemas.openxmlformats.org/officeDocument/2006/relationships/notesMaster" Target="/ppt/notesMasters/notesMaster1.xml" Id="R9a816f31b196420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7b6e944217148fc" /><Relationship Type="http://schemas.openxmlformats.org/officeDocument/2006/relationships/notesMaster" Target="/ppt/notesMasters/notesMaster1.xml" Id="Ra7e4a1830ecd478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09c310b4a0b4dd4" /><Relationship Type="http://schemas.openxmlformats.org/officeDocument/2006/relationships/notesMaster" Target="/ppt/notesMasters/notesMaster1.xml" Id="R8c7f15090fb94c5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bfc9105eb584cf9" /><Relationship Type="http://schemas.openxmlformats.org/officeDocument/2006/relationships/notesMaster" Target="/ppt/notesMasters/notesMaster1.xml" Id="Rc588afc19674455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Abdulelah @c3bod</a:t>
            </a:r>
          </a:p>
          <a:p xmlns:a="http://schemas.openxmlformats.org/drawingml/2006/main">
            <a:r>
              <a:t>BLUF/Ask. 0:00–0:30. State the complete request immediately. Approve SAR40M; release initialSAR10M only after approval of metric, baseline, comparison design, service plans and cost; holdSAR30M for review. Big Idea: target the adoption gap with phased funding, validating the metric and demand before any intervention or release.</a:t>
            </a:r>
          </a:p>
          <a:p xmlns:a="http://schemas.openxmlformats.org/drawingml/2006/main">
            <a:r>
              <a:t>Source: https://drive.google.com/file/d/1T6pweFV4EjBxZ75gge775OOYMYx2aKX0/view</a:t>
            </a:r>
          </a:p>
          <a:p xmlns:a="http://schemas.openxmlformats.org/drawingml/2006/main">
            <a:r>
              <a:t>Method: Arithmetic mean of digital_adoption_pct, matching supplied labs. This is a course index, not digital transactions / total transactions.</a:t>
            </a:r>
          </a:p>
          <a:p xmlns:a="http://schemas.openxmlformats.org/drawingml/2006/main">
            <a:r>
              <a:t>Period: December 2025 unless the chart is a monthly trend.</a:t>
            </a:r>
          </a:p>
          <a:p xmlns:a="http://schemas.openxmlformats.org/drawingml/2006/main">
            <a:r>
              <a:t>All data are synthetic.</a:t>
            </a:r>
          </a:p>
          <a:p xmlns:a="http://schemas.openxmlformats.org/drawingml/2006/main">
            <a:r>
              <a:t>Source definitions: https://drive.google.com/file/d/1htqVTYconACXDD28CACXOpz8VAyz8Xm5/view</a:t>
            </a:r>
          </a:p>
          <a:p xmlns:a="http://schemas.openxmlformats.org/drawingml/2006/main">
            <a:r>
              <a:t>Course calculation reference: https://drive.google.com/file/d/1_DAzbKnnIl4dn1JN2hffwhCueJOoqPOh/view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Abdulelah @c3bod</a:t>
            </a:r>
          </a:p>
          <a:p xmlns:a="http://schemas.openxmlformats.org/drawingml/2006/main">
            <a:r>
              <a:t>Situation. 0:30–1:15. Orient the audience to monthly dates, a 0–100% axis and the 65% target. January 2022: 51.40%; December 2025: 63.33%; increase: 11.93 percentage points. No unsupported date for future target attainment.</a:t>
            </a:r>
          </a:p>
          <a:p xmlns:a="http://schemas.openxmlformats.org/drawingml/2006/main">
            <a:r>
              <a:t>Source: https://drive.google.com/file/d/1T6pweFV4EjBxZ75gge775OOYMYx2aKX0/view</a:t>
            </a:r>
          </a:p>
          <a:p xmlns:a="http://schemas.openxmlformats.org/drawingml/2006/main">
            <a:r>
              <a:t>Method: Arithmetic mean of digital_adoption_pct, matching supplied labs. This is a course index, not digital transactions / total transactions.</a:t>
            </a:r>
          </a:p>
          <a:p xmlns:a="http://schemas.openxmlformats.org/drawingml/2006/main">
            <a:r>
              <a:t>Period: December 2025 unless the chart is a monthly trend.</a:t>
            </a:r>
          </a:p>
          <a:p xmlns:a="http://schemas.openxmlformats.org/drawingml/2006/main">
            <a:r>
              <a:t>All data are synthetic.</a:t>
            </a:r>
          </a:p>
          <a:p xmlns:a="http://schemas.openxmlformats.org/drawingml/2006/main">
            <a:r>
              <a:t>Source definitions: https://drive.google.com/file/d/1htqVTYconACXDD28CACXOpz8VAyz8Xm5/view</a:t>
            </a:r>
          </a:p>
          <a:p xmlns:a="http://schemas.openxmlformats.org/drawingml/2006/main">
            <a:r>
              <a:t>Course calculation reference: https://drive.google.com/file/d/1_DAzbKnnIl4dn1JN2hffwhCueJOoqPOh/view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Sanad @SanadAlkhamali</a:t>
            </a:r>
          </a:p>
          <a:p xmlns:a="http://schemas.openxmlformats.org/drawingml/2006/main">
            <a:r>
              <a:t>Complication. 1:15–2:00. Orient to horizontal region bars, 0–100% scale, December 2025 and 65% reference. Nine below and four at/above target. Najran is lowest at 58.89%. Funding requires both gap and activity, not the lowest rate alone. Orange reference is 65%.</a:t>
            </a:r>
          </a:p>
          <a:p xmlns:a="http://schemas.openxmlformats.org/drawingml/2006/main">
            <a:r>
              <a:t>Source: https://drive.google.com/file/d/1T6pweFV4EjBxZ75gge775OOYMYx2aKX0/view</a:t>
            </a:r>
          </a:p>
          <a:p xmlns:a="http://schemas.openxmlformats.org/drawingml/2006/main">
            <a:r>
              <a:t>Method: Arithmetic mean of digital_adoption_pct, matching supplied labs. This is a course index, not digital transactions / total transactions.</a:t>
            </a:r>
          </a:p>
          <a:p xmlns:a="http://schemas.openxmlformats.org/drawingml/2006/main">
            <a:r>
              <a:t>Period: December 2025 unless the chart is a monthly trend.</a:t>
            </a:r>
          </a:p>
          <a:p xmlns:a="http://schemas.openxmlformats.org/drawingml/2006/main">
            <a:r>
              <a:t>All data are synthetic.</a:t>
            </a:r>
          </a:p>
          <a:p xmlns:a="http://schemas.openxmlformats.org/drawingml/2006/main">
            <a:r>
              <a:t>Source definitions: https://drive.google.com/file/d/1htqVTYconACXDD28CACXOpz8VAyz8Xm5/view</a:t>
            </a:r>
          </a:p>
          <a:p xmlns:a="http://schemas.openxmlformats.org/drawingml/2006/main">
            <a:r>
              <a:t>Course calculation reference: https://drive.google.com/file/d/1_DAzbKnnIl4dn1JN2hffwhCueJOoqPOh/view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Sanad @SanadAlkhamali</a:t>
            </a:r>
          </a:p>
          <a:p xmlns:a="http://schemas.openxmlformats.org/drawingml/2006/main">
            <a:r>
              <a:t>Evidence. 2:00–4:00. Orient to December 2025, nine region bars, the 0–600 priority index and the target-gap annotations. Index = max(65 - regional arithmetic mean, 0)/100 × latest-month transactions. Scores: Najran 570.1185, Jazan 455.0824, Northern Borders 446.2597, Al-Baha 445.6012. Third and fourth differ by only 0.6585 index units; that is not a robust separation. Combined top-three share of nine laggard priority scores: 42.6146%. Alternative transaction weighting gives national 66.1186% and ranks Najran, Northern Borders, Al-Baha. These are material sensitivities. Fix the metric and validate demand before scaling. Descriptive data do not prove causes or returns. Chart uses source CSV and the workbook field definitions; it is not a Tableau-export screenshot.</a:t>
            </a:r>
          </a:p>
          <a:p xmlns:a="http://schemas.openxmlformats.org/drawingml/2006/main">
            <a:r>
              <a:t>Source: https://drive.google.com/file/d/1T6pweFV4EjBxZ75gge775OOYMYx2aKX0/view</a:t>
            </a:r>
          </a:p>
          <a:p xmlns:a="http://schemas.openxmlformats.org/drawingml/2006/main">
            <a:r>
              <a:t>Method: Arithmetic mean of digital_adoption_pct, matching supplied labs. This is a course index, not digital transactions / total transactions.</a:t>
            </a:r>
          </a:p>
          <a:p xmlns:a="http://schemas.openxmlformats.org/drawingml/2006/main">
            <a:r>
              <a:t>Period: December 2025 unless the chart is a monthly trend.</a:t>
            </a:r>
          </a:p>
          <a:p xmlns:a="http://schemas.openxmlformats.org/drawingml/2006/main">
            <a:r>
              <a:t>All data are synthetic.</a:t>
            </a:r>
          </a:p>
          <a:p xmlns:a="http://schemas.openxmlformats.org/drawingml/2006/main">
            <a:r>
              <a:t>Source definitions: https://drive.google.com/file/d/1htqVTYconACXDD28CACXOpz8VAyz8Xm5/view</a:t>
            </a:r>
          </a:p>
          <a:p xmlns:a="http://schemas.openxmlformats.org/drawingml/2006/main">
            <a:r>
              <a:t>Course calculation reference: https://drive.google.com/file/d/1_DAzbKnnIl4dn1JN2hffwhCueJOoqPOh/view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Hathal @1Hathall</a:t>
            </a:r>
          </a:p>
          <a:p xmlns:a="http://schemas.openxmlformats.org/drawingml/2006/main">
            <a:r>
              <a:t>Options. 4:00–5:00. Compare equal nine-region coverage, full concentration and staged investment. Select staged because metric sensitivity and the lack of a causal response model warrant learning before the full release. Equal allocation 40/9 = 4.444M, rounded for display only.</a:t>
            </a:r>
          </a:p>
          <a:p xmlns:a="http://schemas.openxmlformats.org/drawingml/2006/main">
            <a:r>
              <a:t>Source: https://drive.google.com/file/d/1T6pweFV4EjBxZ75gge775OOYMYx2aKX0/view</a:t>
            </a:r>
          </a:p>
          <a:p xmlns:a="http://schemas.openxmlformats.org/drawingml/2006/main">
            <a:r>
              <a:t>Method: Arithmetic mean of digital_adoption_pct, matching supplied labs. This is a course index, not digital transactions / total transactions.</a:t>
            </a:r>
          </a:p>
          <a:p xmlns:a="http://schemas.openxmlformats.org/drawingml/2006/main">
            <a:r>
              <a:t>Period: December 2025 unless the chart is a monthly trend.</a:t>
            </a:r>
          </a:p>
          <a:p xmlns:a="http://schemas.openxmlformats.org/drawingml/2006/main">
            <a:r>
              <a:t>All data are synthetic.</a:t>
            </a:r>
          </a:p>
          <a:p xmlns:a="http://schemas.openxmlformats.org/drawingml/2006/main">
            <a:r>
              <a:t>Source definitions: https://drive.google.com/file/d/1htqVTYconACXDD28CACXOpz8VAyz8Xm5/view</a:t>
            </a:r>
          </a:p>
          <a:p xmlns:a="http://schemas.openxmlformats.org/drawingml/2006/main">
            <a:r>
              <a:t>Course calculation reference: https://drive.google.com/file/d/1_DAzbKnnIl4dn1JN2hffwhCueJOoqPOh/view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Hathal @1Hathall</a:t>
            </a:r>
          </a:p>
          <a:p xmlns:a="http://schemas.openxmlformats.org/drawingml/2006/main">
            <a:r>
              <a:t>Recommendation. 5:00–6:15. SAR 35M proportional to the current top-three score, rounded using largest remainders, plus SAR 5M reserve. Intended effect: raise selected-region adoption without degrading service. Illustrative national scenario: 63.328346 + (6.11125+4.33825+4.08775)/13 = 64.44660%. This is conditional arithmetic, not a forecast or causal return. A next wave would still be needed. No observed investment-response coefficients are available.</a:t>
            </a:r>
          </a:p>
          <a:p xmlns:a="http://schemas.openxmlformats.org/drawingml/2006/main">
            <a:r>
              <a:t>Source: https://drive.google.com/file/d/1T6pweFV4EjBxZ75gge775OOYMYx2aKX0/view</a:t>
            </a:r>
          </a:p>
          <a:p xmlns:a="http://schemas.openxmlformats.org/drawingml/2006/main">
            <a:r>
              <a:t>Method: Arithmetic mean of digital_adoption_pct, matching supplied labs. This is a course index, not digital transactions / total transactions.</a:t>
            </a:r>
          </a:p>
          <a:p xmlns:a="http://schemas.openxmlformats.org/drawingml/2006/main">
            <a:r>
              <a:t>Period: December 2025 unless the chart is a monthly trend.</a:t>
            </a:r>
          </a:p>
          <a:p xmlns:a="http://schemas.openxmlformats.org/drawingml/2006/main">
            <a:r>
              <a:t>All data are synthetic.</a:t>
            </a:r>
          </a:p>
          <a:p xmlns:a="http://schemas.openxmlformats.org/drawingml/2006/main">
            <a:r>
              <a:t>Source definitions: https://drive.google.com/file/d/1htqVTYconACXDD28CACXOpz8VAyz8Xm5/view</a:t>
            </a:r>
          </a:p>
          <a:p xmlns:a="http://schemas.openxmlformats.org/drawingml/2006/main">
            <a:r>
              <a:t>Course calculation reference: https://drive.google.com/file/d/1_DAzbKnnIl4dn1JN2hffwhCueJOoqPOh/view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Hathal @1Hathall</a:t>
            </a:r>
          </a:p>
          <a:p xmlns:a="http://schemas.openxmlformats.org/drawingml/2006/main">
            <a:r>
              <a:t>Ask and next step. 6:15–7:00. Approve 40M, authorize initial10M only after approval of metric, baseline, comparison design, service plan and cost; hold30M. Nominate owner on approval Day0. Validate shortlist and approve baseline before any intervention or release; launch within30days if ready. Day90 is counted from envelope approval; report pilot exposure and extend review if insufficient. Suggested +2pp is a management goal, not a causal forecast. Assess matched CSAT/SLA, costs and comparison design. Rerank if metric changes.</a:t>
            </a:r>
          </a:p>
          <a:p xmlns:a="http://schemas.openxmlformats.org/drawingml/2006/main">
            <a:r>
              <a:t>Source: https://drive.google.com/file/d/1T6pweFV4EjBxZ75gge775OOYMYx2aKX0/view</a:t>
            </a:r>
          </a:p>
          <a:p xmlns:a="http://schemas.openxmlformats.org/drawingml/2006/main">
            <a:r>
              <a:t>Method: Arithmetic mean of digital_adoption_pct, matching supplied labs. This is a course index, not digital transactions / total transactions.</a:t>
            </a:r>
          </a:p>
          <a:p xmlns:a="http://schemas.openxmlformats.org/drawingml/2006/main">
            <a:r>
              <a:t>Period: December 2025 unless the chart is a monthly trend.</a:t>
            </a:r>
          </a:p>
          <a:p xmlns:a="http://schemas.openxmlformats.org/drawingml/2006/main">
            <a:r>
              <a:t>All data are synthetic.</a:t>
            </a:r>
          </a:p>
          <a:p xmlns:a="http://schemas.openxmlformats.org/drawingml/2006/main">
            <a:r>
              <a:t>Source definitions: https://drive.google.com/file/d/1htqVTYconACXDD28CACXOpz8VAyz8Xm5/view</a:t>
            </a:r>
          </a:p>
          <a:p xmlns:a="http://schemas.openxmlformats.org/drawingml/2006/main">
            <a:r>
              <a:t>Course calculation reference: https://drive.google.com/file/d/1_DAzbKnnIl4dn1JN2hffwhCueJOoqPOh/view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3e2f03e4ad4df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1c792e546b34d41" /><Relationship Type="http://schemas.openxmlformats.org/officeDocument/2006/relationships/slideLayout" Target="/ppt/slideLayouts/slideLayout1.xml" Id="Rb488b3ae8940414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88b3ae8940414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31e89b73b64f42" /><Relationship Type="http://schemas.openxmlformats.org/officeDocument/2006/relationships/notesSlide" Target="/ppt/notesSlides/notesSlide1.xml" Id="R2094291436284dc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697fd501bf4a61" /><Relationship Type="http://schemas.openxmlformats.org/officeDocument/2006/relationships/chart" Target="/ppt/slides/charts/chart1.xml" Id="R029df7db226a4ff6" /><Relationship Type="http://schemas.openxmlformats.org/officeDocument/2006/relationships/notesSlide" Target="/ppt/notesSlides/notesSlide2.xml" Id="R6f3580af1ab54c1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ff30784ab540dc" /><Relationship Type="http://schemas.openxmlformats.org/officeDocument/2006/relationships/chart" Target="/ppt/slides/charts/chart2.xml" Id="Rb4228c31970e46b8" /><Relationship Type="http://schemas.openxmlformats.org/officeDocument/2006/relationships/notesSlide" Target="/ppt/notesSlides/notesSlide3.xml" Id="R705514d7d8ca480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ff0daa3c764f0d" /><Relationship Type="http://schemas.openxmlformats.org/officeDocument/2006/relationships/chart" Target="/ppt/slides/charts/chart3.xml" Id="R0ee2318b741444a1" /><Relationship Type="http://schemas.openxmlformats.org/officeDocument/2006/relationships/notesSlide" Target="/ppt/notesSlides/notesSlide4.xml" Id="Rd058d7fa405b4f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13e09e1b29459d" /><Relationship Type="http://schemas.openxmlformats.org/officeDocument/2006/relationships/notesSlide" Target="/ppt/notesSlides/notesSlide5.xml" Id="Rd5773dcad06a4b9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f8a2008a494e58" /><Relationship Type="http://schemas.openxmlformats.org/officeDocument/2006/relationships/notesSlide" Target="/ppt/notesSlides/notesSlide6.xml" Id="R31105745fdf3489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7b1cdd0a124c51" /><Relationship Type="http://schemas.openxmlformats.org/officeDocument/2006/relationships/notesSlide" Target="/ppt/notesSlides/notesSlide7.xml" Id="Reea10e80eb91400a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ser>
          <c:idx val="0"/>
          <c:order val="0"/>
          <c:tx>
            <c:v>Course adoption index</c:v>
          </c:tx>
          <c:spPr>
            <a:ln xmlns:a="http://schemas.openxmlformats.org/drawingml/2006/main" w="28575">
              <a:solidFill>
                <a:srgbClr val="087D82"/>
              </a:solidFill>
            </a:ln>
          </c:spPr>
          <c:marker>
            <c:symbol val="none"/>
          </c:marker>
          <c:dLbls>
            <c:dLbl>
              <c:idx val="4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75" b="1">
                        <a:latin typeface="Arial"/>
                        <a:ea typeface="Arial"/>
                        <a:cs typeface="Arial"/>
                      </a:rPr>
                      <a:t>63.33%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75" b="1">
                      <a:latin typeface="Arial"/>
                      <a:ea typeface="Arial"/>
                      <a:cs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350"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'Chart Data'!$A$2:$A$49</c:f>
              <c:strCache>
                <c:ptCount val="48"/>
                <c:pt idx="0">
                  <c:v>2022-01</c:v>
                </c:pt>
                <c:pt idx="1">
                  <c:v>2022-02</c:v>
                </c:pt>
                <c:pt idx="2">
                  <c:v>2022-03</c:v>
                </c:pt>
                <c:pt idx="3">
                  <c:v>2022-04</c:v>
                </c:pt>
                <c:pt idx="4">
                  <c:v>2022-05</c:v>
                </c:pt>
                <c:pt idx="5">
                  <c:v>2022-06</c:v>
                </c:pt>
                <c:pt idx="6">
                  <c:v>2022-07</c:v>
                </c:pt>
                <c:pt idx="7">
                  <c:v>2022-08</c:v>
                </c:pt>
                <c:pt idx="8">
                  <c:v>2022-09</c:v>
                </c:pt>
                <c:pt idx="9">
                  <c:v>2022-10</c:v>
                </c:pt>
                <c:pt idx="10">
                  <c:v>2022-11</c:v>
                </c:pt>
                <c:pt idx="11">
                  <c:v>2022-12</c:v>
                </c:pt>
                <c:pt idx="12">
                  <c:v>2023-01</c:v>
                </c:pt>
                <c:pt idx="13">
                  <c:v>2023-02</c:v>
                </c:pt>
                <c:pt idx="14">
                  <c:v>2023-03</c:v>
                </c:pt>
                <c:pt idx="15">
                  <c:v>2023-04</c:v>
                </c:pt>
                <c:pt idx="16">
                  <c:v>2023-05</c:v>
                </c:pt>
                <c:pt idx="17">
                  <c:v>2023-06</c:v>
                </c:pt>
                <c:pt idx="18">
                  <c:v>2023-07</c:v>
                </c:pt>
                <c:pt idx="19">
                  <c:v>2023-08</c:v>
                </c:pt>
                <c:pt idx="20">
                  <c:v>2023-09</c:v>
                </c:pt>
                <c:pt idx="21">
                  <c:v>2023-10</c:v>
                </c:pt>
                <c:pt idx="22">
                  <c:v>2023-11</c:v>
                </c:pt>
                <c:pt idx="23">
                  <c:v>2023-12</c:v>
                </c:pt>
                <c:pt idx="24">
                  <c:v>2024-01</c:v>
                </c:pt>
                <c:pt idx="25">
                  <c:v>2024-02</c:v>
                </c:pt>
                <c:pt idx="26">
                  <c:v>2024-03</c:v>
                </c:pt>
                <c:pt idx="27">
                  <c:v>2024-04</c:v>
                </c:pt>
                <c:pt idx="28">
                  <c:v>2024-05</c:v>
                </c:pt>
                <c:pt idx="29">
                  <c:v>2024-06</c:v>
                </c:pt>
                <c:pt idx="30">
                  <c:v>2024-07</c:v>
                </c:pt>
                <c:pt idx="31">
                  <c:v>2024-08</c:v>
                </c:pt>
                <c:pt idx="32">
                  <c:v>2024-09</c:v>
                </c:pt>
                <c:pt idx="33">
                  <c:v>2024-10</c:v>
                </c:pt>
                <c:pt idx="34">
                  <c:v>2024-11</c:v>
                </c:pt>
                <c:pt idx="35">
                  <c:v>2024-12</c:v>
                </c:pt>
                <c:pt idx="36">
                  <c:v>2025-01</c:v>
                </c:pt>
                <c:pt idx="37">
                  <c:v>2025-02</c:v>
                </c:pt>
                <c:pt idx="38">
                  <c:v>2025-03</c:v>
                </c:pt>
                <c:pt idx="39">
                  <c:v>2025-04</c:v>
                </c:pt>
                <c:pt idx="40">
                  <c:v>2025-05</c:v>
                </c:pt>
                <c:pt idx="41">
                  <c:v>2025-06</c:v>
                </c:pt>
                <c:pt idx="42">
                  <c:v>2025-07</c:v>
                </c:pt>
                <c:pt idx="43">
                  <c:v>2025-08</c:v>
                </c:pt>
                <c:pt idx="44">
                  <c:v>2025-09</c:v>
                </c:pt>
                <c:pt idx="45">
                  <c:v>2025-10</c:v>
                </c:pt>
                <c:pt idx="46">
                  <c:v>2025-11</c:v>
                </c:pt>
                <c:pt idx="47">
                  <c:v>2025-12</c:v>
                </c:pt>
              </c:strCache>
            </c:strRef>
          </c:cat>
          <c:val>
            <c:numRef>
              <c:f>'Chart Data'!$B$2:$B$49</c:f>
              <c:numCache>
                <c:formatCode>0"%"</c:formatCode>
                <c:ptCount val="48"/>
                <c:pt idx="0">
                  <c:v>51.4</c:v>
                </c:pt>
                <c:pt idx="1">
                  <c:v>51.43</c:v>
                </c:pt>
                <c:pt idx="2">
                  <c:v>51.89</c:v>
                </c:pt>
                <c:pt idx="3">
                  <c:v>52.04</c:v>
                </c:pt>
                <c:pt idx="4">
                  <c:v>52.49</c:v>
                </c:pt>
                <c:pt idx="5">
                  <c:v>52.4</c:v>
                </c:pt>
                <c:pt idx="6">
                  <c:v>52.83</c:v>
                </c:pt>
                <c:pt idx="7">
                  <c:v>53.29</c:v>
                </c:pt>
                <c:pt idx="8">
                  <c:v>53.07</c:v>
                </c:pt>
                <c:pt idx="9">
                  <c:v>53.67</c:v>
                </c:pt>
                <c:pt idx="10">
                  <c:v>54.1</c:v>
                </c:pt>
                <c:pt idx="11">
                  <c:v>53.87</c:v>
                </c:pt>
                <c:pt idx="12">
                  <c:v>54.25</c:v>
                </c:pt>
                <c:pt idx="13">
                  <c:v>54.68</c:v>
                </c:pt>
                <c:pt idx="14">
                  <c:v>54.83</c:v>
                </c:pt>
                <c:pt idx="15">
                  <c:v>55.09</c:v>
                </c:pt>
                <c:pt idx="16">
                  <c:v>55.66</c:v>
                </c:pt>
                <c:pt idx="17">
                  <c:v>55.72</c:v>
                </c:pt>
                <c:pt idx="18">
                  <c:v>56.04</c:v>
                </c:pt>
                <c:pt idx="19">
                  <c:v>56.23</c:v>
                </c:pt>
                <c:pt idx="20">
                  <c:v>56.58</c:v>
                </c:pt>
                <c:pt idx="21">
                  <c:v>56.52</c:v>
                </c:pt>
                <c:pt idx="22">
                  <c:v>56.92</c:v>
                </c:pt>
                <c:pt idx="23">
                  <c:v>57.12</c:v>
                </c:pt>
                <c:pt idx="24">
                  <c:v>57.68</c:v>
                </c:pt>
                <c:pt idx="25">
                  <c:v>57.77</c:v>
                </c:pt>
                <c:pt idx="26">
                  <c:v>57.94</c:v>
                </c:pt>
                <c:pt idx="27">
                  <c:v>58.21</c:v>
                </c:pt>
                <c:pt idx="28">
                  <c:v>58.61</c:v>
                </c:pt>
                <c:pt idx="29">
                  <c:v>58.75</c:v>
                </c:pt>
                <c:pt idx="30">
                  <c:v>59.2</c:v>
                </c:pt>
                <c:pt idx="31">
                  <c:v>59.18</c:v>
                </c:pt>
                <c:pt idx="32">
                  <c:v>59.72</c:v>
                </c:pt>
                <c:pt idx="33">
                  <c:v>60</c:v>
                </c:pt>
                <c:pt idx="34">
                  <c:v>59.88</c:v>
                </c:pt>
                <c:pt idx="35">
                  <c:v>60.28</c:v>
                </c:pt>
                <c:pt idx="36">
                  <c:v>60.69</c:v>
                </c:pt>
                <c:pt idx="37">
                  <c:v>60.95</c:v>
                </c:pt>
                <c:pt idx="38">
                  <c:v>60.96</c:v>
                </c:pt>
                <c:pt idx="39">
                  <c:v>61.27</c:v>
                </c:pt>
                <c:pt idx="40">
                  <c:v>61.35</c:v>
                </c:pt>
                <c:pt idx="41">
                  <c:v>61.94</c:v>
                </c:pt>
                <c:pt idx="42">
                  <c:v>62.16</c:v>
                </c:pt>
                <c:pt idx="43">
                  <c:v>62.41</c:v>
                </c:pt>
                <c:pt idx="44">
                  <c:v>62.72</c:v>
                </c:pt>
                <c:pt idx="45">
                  <c:v>62.88</c:v>
                </c:pt>
                <c:pt idx="46">
                  <c:v>63.13</c:v>
                </c:pt>
                <c:pt idx="47">
                  <c:v>63.33</c:v>
                </c:pt>
              </c:numCache>
            </c:numRef>
          </c:val>
        </c:ser>
        <c:ser>
          <c:idx val="1"/>
          <c:order val="1"/>
          <c:tx>
            <c:v>65% target</c:v>
          </c:tx>
          <c:spPr>
            <a:ln xmlns:a="http://schemas.openxmlformats.org/drawingml/2006/main" w="19050">
              <a:solidFill>
                <a:srgbClr val="B45C16"/>
              </a:solidFill>
              <a:prstDash val="dash"/>
            </a:ln>
          </c:spPr>
          <c:marker>
            <c:symbol val="none"/>
          </c:marker>
          <c:dLbls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75" b="1">
                        <a:latin typeface="Arial"/>
                        <a:ea typeface="Arial"/>
                        <a:cs typeface="Arial"/>
                      </a:rPr>
                      <a:t>65% target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75" b="1">
                      <a:latin typeface="Arial"/>
                      <a:ea typeface="Arial"/>
                      <a:cs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350"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'Chart Data'!$C$2:$C$49</c:f>
              <c:strCache>
                <c:ptCount val="48"/>
                <c:pt idx="0">
                  <c:v>2022-01</c:v>
                </c:pt>
                <c:pt idx="1">
                  <c:v>2022-02</c:v>
                </c:pt>
                <c:pt idx="2">
                  <c:v>2022-03</c:v>
                </c:pt>
                <c:pt idx="3">
                  <c:v>2022-04</c:v>
                </c:pt>
                <c:pt idx="4">
                  <c:v>2022-05</c:v>
                </c:pt>
                <c:pt idx="5">
                  <c:v>2022-06</c:v>
                </c:pt>
                <c:pt idx="6">
                  <c:v>2022-07</c:v>
                </c:pt>
                <c:pt idx="7">
                  <c:v>2022-08</c:v>
                </c:pt>
                <c:pt idx="8">
                  <c:v>2022-09</c:v>
                </c:pt>
                <c:pt idx="9">
                  <c:v>2022-10</c:v>
                </c:pt>
                <c:pt idx="10">
                  <c:v>2022-11</c:v>
                </c:pt>
                <c:pt idx="11">
                  <c:v>2022-12</c:v>
                </c:pt>
                <c:pt idx="12">
                  <c:v>2023-01</c:v>
                </c:pt>
                <c:pt idx="13">
                  <c:v>2023-02</c:v>
                </c:pt>
                <c:pt idx="14">
                  <c:v>2023-03</c:v>
                </c:pt>
                <c:pt idx="15">
                  <c:v>2023-04</c:v>
                </c:pt>
                <c:pt idx="16">
                  <c:v>2023-05</c:v>
                </c:pt>
                <c:pt idx="17">
                  <c:v>2023-06</c:v>
                </c:pt>
                <c:pt idx="18">
                  <c:v>2023-07</c:v>
                </c:pt>
                <c:pt idx="19">
                  <c:v>2023-08</c:v>
                </c:pt>
                <c:pt idx="20">
                  <c:v>2023-09</c:v>
                </c:pt>
                <c:pt idx="21">
                  <c:v>2023-10</c:v>
                </c:pt>
                <c:pt idx="22">
                  <c:v>2023-11</c:v>
                </c:pt>
                <c:pt idx="23">
                  <c:v>2023-12</c:v>
                </c:pt>
                <c:pt idx="24">
                  <c:v>2024-01</c:v>
                </c:pt>
                <c:pt idx="25">
                  <c:v>2024-02</c:v>
                </c:pt>
                <c:pt idx="26">
                  <c:v>2024-03</c:v>
                </c:pt>
                <c:pt idx="27">
                  <c:v>2024-04</c:v>
                </c:pt>
                <c:pt idx="28">
                  <c:v>2024-05</c:v>
                </c:pt>
                <c:pt idx="29">
                  <c:v>2024-06</c:v>
                </c:pt>
                <c:pt idx="30">
                  <c:v>2024-07</c:v>
                </c:pt>
                <c:pt idx="31">
                  <c:v>2024-08</c:v>
                </c:pt>
                <c:pt idx="32">
                  <c:v>2024-09</c:v>
                </c:pt>
                <c:pt idx="33">
                  <c:v>2024-10</c:v>
                </c:pt>
                <c:pt idx="34">
                  <c:v>2024-11</c:v>
                </c:pt>
                <c:pt idx="35">
                  <c:v>2024-12</c:v>
                </c:pt>
                <c:pt idx="36">
                  <c:v>2025-01</c:v>
                </c:pt>
                <c:pt idx="37">
                  <c:v>2025-02</c:v>
                </c:pt>
                <c:pt idx="38">
                  <c:v>2025-03</c:v>
                </c:pt>
                <c:pt idx="39">
                  <c:v>2025-04</c:v>
                </c:pt>
                <c:pt idx="40">
                  <c:v>2025-05</c:v>
                </c:pt>
                <c:pt idx="41">
                  <c:v>2025-06</c:v>
                </c:pt>
                <c:pt idx="42">
                  <c:v>2025-07</c:v>
                </c:pt>
                <c:pt idx="43">
                  <c:v>2025-08</c:v>
                </c:pt>
                <c:pt idx="44">
                  <c:v>2025-09</c:v>
                </c:pt>
                <c:pt idx="45">
                  <c:v>2025-10</c:v>
                </c:pt>
                <c:pt idx="46">
                  <c:v>2025-11</c:v>
                </c:pt>
                <c:pt idx="47">
                  <c:v>2025-12</c:v>
                </c:pt>
              </c:strCache>
            </c:strRef>
          </c:cat>
          <c:val>
            <c:numRef>
              <c:f>'Chart Data'!$D$2:$D$49</c:f>
              <c:numCache>
                <c:formatCode>0"%"</c:formatCode>
                <c:ptCount val="48"/>
                <c:pt idx="0">
                  <c:v>65</c:v>
                </c:pt>
                <c:pt idx="1">
                  <c:v>65</c:v>
                </c:pt>
                <c:pt idx="2">
                  <c:v>65</c:v>
                </c:pt>
                <c:pt idx="3">
                  <c:v>65</c:v>
                </c:pt>
                <c:pt idx="4">
                  <c:v>65</c:v>
                </c:pt>
                <c:pt idx="5">
                  <c:v>65</c:v>
                </c:pt>
                <c:pt idx="6">
                  <c:v>65</c:v>
                </c:pt>
                <c:pt idx="7">
                  <c:v>65</c:v>
                </c:pt>
                <c:pt idx="8">
                  <c:v>65</c:v>
                </c:pt>
                <c:pt idx="9">
                  <c:v>65</c:v>
                </c:pt>
                <c:pt idx="10">
                  <c:v>65</c:v>
                </c:pt>
                <c:pt idx="11">
                  <c:v>65</c:v>
                </c:pt>
                <c:pt idx="12">
                  <c:v>65</c:v>
                </c:pt>
                <c:pt idx="13">
                  <c:v>65</c:v>
                </c:pt>
                <c:pt idx="14">
                  <c:v>65</c:v>
                </c:pt>
                <c:pt idx="15">
                  <c:v>65</c:v>
                </c:pt>
                <c:pt idx="16">
                  <c:v>65</c:v>
                </c:pt>
                <c:pt idx="17">
                  <c:v>65</c:v>
                </c:pt>
                <c:pt idx="18">
                  <c:v>65</c:v>
                </c:pt>
                <c:pt idx="19">
                  <c:v>65</c:v>
                </c:pt>
                <c:pt idx="20">
                  <c:v>65</c:v>
                </c:pt>
                <c:pt idx="21">
                  <c:v>65</c:v>
                </c:pt>
                <c:pt idx="22">
                  <c:v>65</c:v>
                </c:pt>
                <c:pt idx="23">
                  <c:v>65</c:v>
                </c:pt>
                <c:pt idx="24">
                  <c:v>65</c:v>
                </c:pt>
                <c:pt idx="25">
                  <c:v>65</c:v>
                </c:pt>
                <c:pt idx="26">
                  <c:v>65</c:v>
                </c:pt>
                <c:pt idx="27">
                  <c:v>65</c:v>
                </c:pt>
                <c:pt idx="28">
                  <c:v>65</c:v>
                </c:pt>
                <c:pt idx="29">
                  <c:v>65</c:v>
                </c:pt>
                <c:pt idx="30">
                  <c:v>65</c:v>
                </c:pt>
                <c:pt idx="31">
                  <c:v>65</c:v>
                </c:pt>
                <c:pt idx="32">
                  <c:v>65</c:v>
                </c:pt>
                <c:pt idx="33">
                  <c:v>65</c:v>
                </c:pt>
                <c:pt idx="34">
                  <c:v>65</c:v>
                </c:pt>
                <c:pt idx="35">
                  <c:v>65</c:v>
                </c:pt>
                <c:pt idx="36">
                  <c:v>65</c:v>
                </c:pt>
                <c:pt idx="37">
                  <c:v>65</c:v>
                </c:pt>
                <c:pt idx="38">
                  <c:v>65</c:v>
                </c:pt>
                <c:pt idx="39">
                  <c:v>65</c:v>
                </c:pt>
                <c:pt idx="40">
                  <c:v>65</c:v>
                </c:pt>
                <c:pt idx="41">
                  <c:v>65</c:v>
                </c:pt>
                <c:pt idx="42">
                  <c:v>65</c:v>
                </c:pt>
                <c:pt idx="43">
                  <c:v>65</c:v>
                </c:pt>
                <c:pt idx="44">
                  <c:v>65</c:v>
                </c:pt>
                <c:pt idx="45">
                  <c:v>65</c:v>
                </c:pt>
                <c:pt idx="46">
                  <c:v>65</c:v>
                </c:pt>
                <c:pt idx="47">
                  <c:v>65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3E9EA"/>
              </a:solidFill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5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Regional adoption</c:v>
          </c:tx>
          <c:spPr>
            <a:solidFill xmlns:a="http://schemas.openxmlformats.org/drawingml/2006/main">
              <a:srgbClr val="D7E5E6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9"/>
            <c:invertIfNegative val="0"/>
            <c:spPr>
              <a:solidFill xmlns:a="http://schemas.openxmlformats.org/drawingml/2006/main">
                <a:srgbClr val="087D82"/>
              </a:solidFill>
            </c:spPr>
          </c:dPt>
          <c:dPt>
            <c:idx val="10"/>
            <c:invertIfNegative val="0"/>
            <c:spPr>
              <a:solidFill xmlns:a="http://schemas.openxmlformats.org/drawingml/2006/main">
                <a:srgbClr val="087D82"/>
              </a:solidFill>
            </c:spPr>
          </c:dPt>
          <c:dPt>
            <c:idx val="11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12"/>
            <c:invertIfNegative val="0"/>
            <c:spPr>
              <a:solidFill xmlns:a="http://schemas.openxmlformats.org/drawingml/2006/main">
                <a:srgbClr val="087D82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69.13%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68.07%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66.62%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65.84%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63.90%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62.54%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62.25%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62.18%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61.79%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</a:rPr>
                      <a:t>60.91%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</a:rPr>
                      <a:t>60.66%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60.50%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</a:rPr>
                      <a:t>58.89%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'Chart Data'!$A$2:$A$14</c:f>
              <c:strCache>
                <c:ptCount val="13"/>
                <c:pt idx="0">
                  <c:v>Riyadh</c:v>
                </c:pt>
                <c:pt idx="1">
                  <c:v>Makkah</c:v>
                </c:pt>
                <c:pt idx="2">
                  <c:v>Eastern Province</c:v>
                </c:pt>
                <c:pt idx="3">
                  <c:v>Madinah</c:v>
                </c:pt>
                <c:pt idx="4">
                  <c:v>Qassim</c:v>
                </c:pt>
                <c:pt idx="5">
                  <c:v>Hail</c:v>
                </c:pt>
                <c:pt idx="6">
                  <c:v>Asir</c:v>
                </c:pt>
                <c:pt idx="7">
                  <c:v>Al-Jouf</c:v>
                </c:pt>
                <c:pt idx="8">
                  <c:v>Tabuk</c:v>
                </c:pt>
                <c:pt idx="9">
                  <c:v>Northern Borders</c:v>
                </c:pt>
                <c:pt idx="10">
                  <c:v>Jazan</c:v>
                </c:pt>
                <c:pt idx="11">
                  <c:v>Al-Baha</c:v>
                </c:pt>
                <c:pt idx="12">
                  <c:v>Najran</c:v>
                </c:pt>
              </c:strCache>
            </c:strRef>
          </c:cat>
          <c:val>
            <c:numRef>
              <c:f>'Chart Data'!$B$2:$B$14</c:f>
              <c:numCache>
                <c:formatCode>0"%"</c:formatCode>
                <c:ptCount val="13"/>
                <c:pt idx="0">
                  <c:v>69.13</c:v>
                </c:pt>
                <c:pt idx="1">
                  <c:v>68.07</c:v>
                </c:pt>
                <c:pt idx="2">
                  <c:v>66.62</c:v>
                </c:pt>
                <c:pt idx="3">
                  <c:v>65.84</c:v>
                </c:pt>
                <c:pt idx="4">
                  <c:v>63.9</c:v>
                </c:pt>
                <c:pt idx="5">
                  <c:v>62.54</c:v>
                </c:pt>
                <c:pt idx="6">
                  <c:v>62.25</c:v>
                </c:pt>
                <c:pt idx="7">
                  <c:v>62.18</c:v>
                </c:pt>
                <c:pt idx="8">
                  <c:v>61.79</c:v>
                </c:pt>
                <c:pt idx="9">
                  <c:v>60.91</c:v>
                </c:pt>
                <c:pt idx="10">
                  <c:v>60.66</c:v>
                </c:pt>
                <c:pt idx="11">
                  <c:v>60.5</c:v>
                </c:pt>
                <c:pt idx="12">
                  <c:v>58.89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E3E9EA"/>
              </a:solidFill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Gap and activity priority index</c:v>
          </c:tx>
          <c:spPr>
            <a:solidFill xmlns:a="http://schemas.openxmlformats.org/drawingml/2006/main">
              <a:srgbClr val="D7E5E6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E6B687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87D82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87D82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87D82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156.20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302.17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327.80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360.78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388.93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445.60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</a:rPr>
                      <a:t>446.26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</a:rPr>
                      <a:t>455.08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00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</a:rPr>
                      <a:t>570.12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0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'Chart Data'!$A$2:$A$10</c:f>
              <c:strCache>
                <c:ptCount val="9"/>
                <c:pt idx="0">
                  <c:v>Qassim</c:v>
                </c:pt>
                <c:pt idx="1">
                  <c:v>Hail</c:v>
                </c:pt>
                <c:pt idx="2">
                  <c:v>Al-Jouf</c:v>
                </c:pt>
                <c:pt idx="3">
                  <c:v>Asir</c:v>
                </c:pt>
                <c:pt idx="4">
                  <c:v>Tabuk</c:v>
                </c:pt>
                <c:pt idx="5">
                  <c:v>Al-Baha</c:v>
                </c:pt>
                <c:pt idx="6">
                  <c:v>Northern Borders</c:v>
                </c:pt>
                <c:pt idx="7">
                  <c:v>Jazan</c:v>
                </c:pt>
                <c:pt idx="8">
                  <c:v>Najran</c:v>
                </c:pt>
              </c:strCache>
            </c:strRef>
          </c:cat>
          <c:val>
            <c:numRef>
              <c:f>'Chart Data'!$B$2:$B$10</c:f>
              <c:numCache>
                <c:formatCode>0</c:formatCode>
                <c:ptCount val="9"/>
                <c:pt idx="0">
                  <c:v>156.2</c:v>
                </c:pt>
                <c:pt idx="1">
                  <c:v>302.17</c:v>
                </c:pt>
                <c:pt idx="2">
                  <c:v>327.8</c:v>
                </c:pt>
                <c:pt idx="3">
                  <c:v>360.78</c:v>
                </c:pt>
                <c:pt idx="4">
                  <c:v>388.93</c:v>
                </c:pt>
                <c:pt idx="5">
                  <c:v>445.6</c:v>
                </c:pt>
                <c:pt idx="6">
                  <c:v>446.26</c:v>
                </c:pt>
                <c:pt idx="7">
                  <c:v>455.08</c:v>
                </c:pt>
                <c:pt idx="8">
                  <c:v>570.12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60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E3E9EA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9588A9-B489-435F-A1CA-24CF9FB2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Phase funding for Najran, Jazan and Northern Borders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59B10B-13D7-4716-9ACF-1E6B2CCF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1 / 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6D92E5-2FCC-4A7C-BB04-2263FD23A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1066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225" b="1">
                <a:solidFill>
                  <a:srgbClr val="087D82"/>
                </a:solidFill>
                <a:latin typeface="Arial"/>
                <a:ea typeface="Arial"/>
                <a:cs typeface="Arial"/>
              </a:defRPr>
            </a:pPr>
            <a:r>
              <a:rPr sz="6225" b="1">
                <a:solidFill>
                  <a:srgbClr val="087D82"/>
                </a:solidFill>
                <a:latin typeface="Arial"/>
                <a:ea typeface="Arial"/>
                <a:cs typeface="Arial"/>
              </a:rPr>
              <a:t>SAR 40 million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01BEE1-0BCD-4ADE-BBB7-1942D8F2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5363D"/>
                </a:solidFill>
                <a:latin typeface="Arial"/>
                <a:ea typeface="Arial"/>
                <a:cs typeface="Arial"/>
              </a:rPr>
              <a:t>Requested funding envelope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5D88D5-6F1A-41E7-AEE2-5F4B8BCF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7667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Release SAR 10M after baseline approval; hold SAR 30M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1E799-22CB-4A00-B2D7-EB4B6E03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33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363D"/>
                </a:solidFill>
                <a:latin typeface="Arial"/>
                <a:ea typeface="Arial"/>
                <a:cs typeface="Arial"/>
              </a:rPr>
              <a:t>Move lagging regions toward the 65% adoption target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FB6FAB-51F7-4265-9DA0-C8F4014D0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22935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SDAIA Academy SDA-DSC-112     Abdulelah · Sanad · Hathal     Synthetic training data</a:t>
            </a:r>
          </a:p>
        </p:txBody>
      </p:sp>
    </p:spTree>
    <p:extLst>
      <p:ext uri="{BB962C8B-B14F-4D97-AF65-F5344CB8AC3E}">
        <p14:creationId xmlns:p14="http://schemas.microsoft.com/office/powerpoint/2010/main" val="5839239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B8BE2B-ADAC-49EC-BF81-F64F11B78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National course adoption remains below 65%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18ED2D-F54E-462F-B718-6C8293BBD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2 / 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FB3E33-88A7-4F6D-A619-1F1A8C987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552575"/>
            <a:ext cx="38100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4875" b="1">
                <a:solidFill>
                  <a:srgbClr val="087D82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087D82"/>
                </a:solidFill>
                <a:latin typeface="Arial"/>
                <a:ea typeface="Arial"/>
                <a:cs typeface="Arial"/>
              </a:rPr>
              <a:t>63.33%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917437-C7FD-4B1B-A71C-217AF92B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6905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363D"/>
                </a:solidFill>
                <a:latin typeface="Arial"/>
                <a:ea typeface="Arial"/>
                <a:cs typeface="Arial"/>
              </a:rPr>
              <a:t>December 2025: a 1.67 percentage point gap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19125" y="2581275"/>
          <a:ext xmlns:a="http://schemas.openxmlformats.org/drawingml/2006/main" cx="10953750" cy="30861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29df7db226a4ff6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C5E99E-122B-4A2E-AAE6-392EE1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864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Jan 2022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622404-39A7-4B23-BD53-9A0607A91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6864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Dec 2023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84C919-3B86-420B-8D50-D3903F21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6864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Dec 2025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0139B-7825-43D7-82AE-267A3E617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000750"/>
            <a:ext cx="962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45C1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45C16"/>
                </a:solidFill>
                <a:latin typeface="Arial"/>
                <a:ea typeface="Arial"/>
                <a:cs typeface="Arial"/>
              </a:rPr>
              <a:t>Transaction-weighted alternative: 66.12% (&gt;65%). Target status depends on the definition.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9D3EF4-89A9-412C-BDA6-8F6F55CF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22935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Course arithmetic-mean index, not the digital transaction share. 48 months of synthetic data.</a:t>
            </a:r>
          </a:p>
        </p:txBody>
      </p:sp>
    </p:spTree>
    <p:extLst>
      <p:ext uri="{BB962C8B-B14F-4D97-AF65-F5344CB8AC3E}">
        <p14:creationId xmlns:p14="http://schemas.microsoft.com/office/powerpoint/2010/main" val="20738667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404330-1AE7-4753-A954-D2F0004DB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Nine regions remain below target in December 2025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35A41F-2F6D-4743-97D7-EA75EEE2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3 / 7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609600" y="1600200"/>
          <a:ext xmlns:a="http://schemas.openxmlformats.org/drawingml/2006/main" cx="10972800" cy="4267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4228c31970e46b8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88C3F5-B88A-4518-9A78-89F824EE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6243" y="1781175"/>
            <a:ext cx="19050" cy="36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C1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AE13AC-ED33-485A-9E33-7C35C4A74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1524000"/>
            <a:ext cx="1657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45C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B45C16"/>
                </a:solidFill>
                <a:latin typeface="Arial"/>
                <a:ea typeface="Arial"/>
                <a:cs typeface="Arial"/>
              </a:rPr>
              <a:t>65% target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DE4A0A-3110-40E5-8086-DF1BF0538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22935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Latest-month mean. Teal identifies the proposed pilot regions. Synthetic training data.</a:t>
            </a:r>
          </a:p>
        </p:txBody>
      </p:sp>
    </p:spTree>
    <p:extLst>
      <p:ext uri="{BB962C8B-B14F-4D97-AF65-F5344CB8AC3E}">
        <p14:creationId xmlns:p14="http://schemas.microsoft.com/office/powerpoint/2010/main" val="15248330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246550-EBFD-4815-B1BE-51041C84E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Najran leads; third place needs validation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5B1DCA-230F-4394-A2FD-17D9355A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4 / 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FDD8C9-6572-42A5-9A17-8C21152F2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14450"/>
            <a:ext cx="1085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December 2025 · Synthetic data · Teal: proposed pilots; orange: Al-Baha alternative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7286625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e2318b741444a1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D22CB3-4B2B-48EE-BEA7-6602C269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781175"/>
            <a:ext cx="3238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087D82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087D82"/>
                </a:solidFill>
                <a:latin typeface="Arial"/>
                <a:ea typeface="Arial"/>
                <a:cs typeface="Arial"/>
              </a:rPr>
              <a:t>42.61%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A5C3CD-F65A-43F5-816B-973A1A28F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714625"/>
            <a:ext cx="32670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Selected regions’ share of the laggards’ priority index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91B9A5-7015-4D59-AFB8-63331D97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743325"/>
            <a:ext cx="3267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Target gaps (pp)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EC6B86-2921-4E9D-A2B9-BDC0A6EF8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162425"/>
            <a:ext cx="32670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5363D"/>
                </a:solidFill>
                <a:latin typeface="Arial"/>
                <a:ea typeface="Arial"/>
                <a:cs typeface="Arial"/>
              </a:rPr>
              <a:t>Najran 6.11</a:t>
            </a:r>
          </a:p>
          <a:p xmlns:a="http://schemas.openxmlformats.org/drawingml/2006/main">
            <a:pPr algn="l">
              <a:defRPr sz="1725" b="0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5363D"/>
                </a:solidFill>
                <a:latin typeface="Arial"/>
                <a:ea typeface="Arial"/>
                <a:cs typeface="Arial"/>
              </a:rPr>
              <a:t>Jazan 4.34</a:t>
            </a:r>
          </a:p>
          <a:p xmlns:a="http://schemas.openxmlformats.org/drawingml/2006/main">
            <a:pPr algn="l">
              <a:defRPr sz="1725" b="0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5363D"/>
                </a:solidFill>
                <a:latin typeface="Arial"/>
                <a:ea typeface="Arial"/>
                <a:cs typeface="Arial"/>
              </a:rPr>
              <a:t>Northern Borders 4.09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9C8FAF-3B1D-4153-BCDB-3BD29FF76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97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Priority proxy = positive gap / 100 × December transactions; not a conversion 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CDD235-10CE-40E7-8BC0-CBD2BD36B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388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45C1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B45C16"/>
                </a:solidFill>
                <a:latin typeface="Arial"/>
                <a:ea typeface="Arial"/>
                <a:cs typeface="Arial"/>
              </a:rPr>
              <a:t>Near tie: Northern Borders 446.26 vs Al-Baha 445.60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CDFA12-F057-43BD-AA46-B78FA7E8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22935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Metric sensitivity: transaction weighting selects Al-Baha instead of Jazan. Agree the definition before release.</a:t>
            </a:r>
          </a:p>
        </p:txBody>
      </p:sp>
    </p:spTree>
    <p:extLst>
      <p:ext uri="{BB962C8B-B14F-4D97-AF65-F5344CB8AC3E}">
        <p14:creationId xmlns:p14="http://schemas.microsoft.com/office/powerpoint/2010/main" val="12881614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6C3462-5FFA-4B48-95D6-D2C9AD24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Staged funding allows adjustment after the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8DBCE7-C509-49D3-8CF0-E71CDF58A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5 / 7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19125" y="1762125"/>
          <a:ext xmlns:a="http://schemas.openxmlformats.org/drawingml/2006/main" cx="10953750" cy="36099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3048000"/>
                <a:gridCol w="2619375"/>
                <a:gridCol w="3095625"/>
              </a:tblGrid>
              <a:tr h="90249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Option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SAR 40M allocation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Benefit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Tradeoff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</a:tr>
              <a:tr h="902494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Equal allocation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SAR 40M ÷ 9 (about 4.44M each)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Covers all nine laggards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Ignores differences in gap and activity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902494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Full concentration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SAR 40M in three regions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Focuses on current priorities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Commits all funding before testing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902494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Staged funding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SAR 35M regional + SAR 5M reserve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Focus with a review before scaling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Requires agreed metrics and evaluation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51C20D-A16E-4AF2-A718-BD2C39BD0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4355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D8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D82"/>
                </a:solidFill>
                <a:latin typeface="Arial"/>
                <a:ea typeface="Arial"/>
                <a:cs typeface="Arial"/>
              </a:rPr>
              <a:t>Selected: SAR 10M after baseline approval; hold SAR 30M for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18F815-63C2-4945-9E6A-E51F7009A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22935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These are allocation policies. The data do not estimate causal returns for each option.</a:t>
            </a:r>
          </a:p>
        </p:txBody>
      </p:sp>
    </p:spTree>
    <p:extLst>
      <p:ext uri="{BB962C8B-B14F-4D97-AF65-F5344CB8AC3E}">
        <p14:creationId xmlns:p14="http://schemas.microsoft.com/office/powerpoint/2010/main" val="14458865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5E4A73-A308-4C43-B5E9-AEEBA1EE5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SAR 35M targets the regions; SAR 5M supports reassessment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8D8642-0DF6-43F7-AE2B-D2A7AA0DC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6 / 7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19125" y="1685925"/>
          <a:ext xmlns:a="http://schemas.openxmlformats.org/drawingml/2006/main" cx="5610225" cy="3629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43350"/>
                <a:gridCol w="1666875"/>
              </a:tblGrid>
              <a:tr h="6048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Allocation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SAR million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</a:tr>
              <a:tr h="604838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Najran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604838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Jazan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604838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Northern Borders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604838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Evaluation reserve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604838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Total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D8D605-77A6-4C3F-AD6E-CF4F03D20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095500"/>
            <a:ext cx="4476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5025" b="1">
                <a:solidFill>
                  <a:srgbClr val="087D82"/>
                </a:solidFill>
                <a:latin typeface="Arial"/>
                <a:ea typeface="Arial"/>
                <a:cs typeface="Arial"/>
              </a:defRPr>
            </a:pPr>
            <a:r>
              <a:rPr sz="5025" b="1">
                <a:solidFill>
                  <a:srgbClr val="087D82"/>
                </a:solidFill>
                <a:latin typeface="Arial"/>
                <a:ea typeface="Arial"/>
                <a:cs typeface="Arial"/>
              </a:rPr>
              <a:t>64.45%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DCED5D-1D46-4AAA-B821-8D7FE0F53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219450"/>
            <a:ext cx="47625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National index if all three reach 65% and every other region stays unchanged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348F27-E7B6-4C2F-A7DF-C3E8F33FC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010150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B45C1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45C16"/>
                </a:solidFill>
                <a:latin typeface="Arial"/>
                <a:ea typeface="Arial"/>
                <a:cs typeface="Arial"/>
              </a:rPr>
              <a:t>Conditional arithmetic, not an investment forecast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49E49A-3C97-4618-9AB3-D7B0A073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22935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Proposed envelopes, not cost estimates. Closing these three gaps alone does not meet the national target.</a:t>
            </a:r>
          </a:p>
        </p:txBody>
      </p:sp>
    </p:spTree>
    <p:extLst>
      <p:ext uri="{BB962C8B-B14F-4D97-AF65-F5344CB8AC3E}">
        <p14:creationId xmlns:p14="http://schemas.microsoft.com/office/powerpoint/2010/main" val="4531276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2D67B9-CBB8-4559-9F60-F0768191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Approve the envelope now; scale after the day-90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45553F-5A90-4136-BD0D-5E403FEB0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7 / 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639767-9BF4-43F2-B0DC-04EAA0094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47825"/>
            <a:ext cx="108108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87D82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087D82"/>
                </a:solidFill>
                <a:latin typeface="Arial"/>
                <a:ea typeface="Arial"/>
                <a:cs typeface="Arial"/>
              </a:rPr>
              <a:t>Approve SAR 40M; pilot SAR 10M after baseline approval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19125" y="2828925"/>
          <a:ext xmlns:a="http://schemas.openxmlformats.org/drawingml/2006/main" cx="10953750" cy="2514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24250"/>
                <a:gridCol w="7429500"/>
              </a:tblGrid>
              <a:tr h="6286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After approval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Action and decision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Day 0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Approve the envelope and name an accountable owner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Within 30 days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Approve metric, baseline, comparison and cost; then launch pilots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Day 90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Review impact and cost before releasing further funding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884387-F6CC-40D7-85AF-25631369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62600"/>
            <a:ext cx="1081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Proposed continuation goal: +2pp with stable satisfaction and service performance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1DEB09-3ED7-4C6C-9DD9-6F076883B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22935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A management goal, not a prediction. Check comparison groups and service mix before attributing improvement.</a:t>
            </a:r>
          </a:p>
        </p:txBody>
      </p:sp>
    </p:spTree>
    <p:extLst>
      <p:ext uri="{BB962C8B-B14F-4D97-AF65-F5344CB8AC3E}">
        <p14:creationId xmlns:p14="http://schemas.microsoft.com/office/powerpoint/2010/main" val="19071796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2026-10-06T13:17:31.6050000Z</dcterms:created>
  <dcterms:modified xsi:type="dcterms:W3CDTF">2026-10-06T13:17:31.6050000Z</dcterms:modified>
</coreProperties>
</file>