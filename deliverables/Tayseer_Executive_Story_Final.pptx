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c3092ab65b4efe" /><Relationship Type="http://schemas.openxmlformats.org/officeDocument/2006/relationships/extended-properties" Target="/docProps/app.xml" Id="Rfb74a99850e64f6e" /><Relationship Type="http://schemas.openxmlformats.org/officeDocument/2006/relationships/officeDocument" Target="/ppt/presentation.xml" Id="Rbb000e1809c84b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a11756a1964b04"/>
  </p:sldMasterIdLst>
  <p:notesMasterIdLst>
    <p:notesMasterId xmlns:r="http://schemas.openxmlformats.org/officeDocument/2006/relationships" r:id="R24b3f5088d824856"/>
  </p:notesMasterIdLst>
  <p:sldIdLst>
    <p:sldId xmlns:r="http://schemas.openxmlformats.org/officeDocument/2006/relationships" id="256" r:id="R6ec2c3145e0348e9"/>
    <p:sldId xmlns:r="http://schemas.openxmlformats.org/officeDocument/2006/relationships" id="257" r:id="Rb2a9643b089743ed"/>
    <p:sldId xmlns:r="http://schemas.openxmlformats.org/officeDocument/2006/relationships" id="258" r:id="R96530008f74e49be"/>
    <p:sldId xmlns:r="http://schemas.openxmlformats.org/officeDocument/2006/relationships" id="259" r:id="R7dc205c4e68b401d"/>
    <p:sldId xmlns:r="http://schemas.openxmlformats.org/officeDocument/2006/relationships" id="260" r:id="R56c501ae39f24f08"/>
    <p:sldId xmlns:r="http://schemas.openxmlformats.org/officeDocument/2006/relationships" id="261" r:id="R09735c6d81a94d7d"/>
    <p:sldId xmlns:r="http://schemas.openxmlformats.org/officeDocument/2006/relationships" id="262" r:id="R3045bb6b910b4c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1113506f1584c05" /><Relationship Type="http://schemas.openxmlformats.org/officeDocument/2006/relationships/slideMaster" Target="/ppt/slideMasters/slideMaster1.xml" Id="Rb7a11756a1964b04" /><Relationship Type="http://schemas.openxmlformats.org/officeDocument/2006/relationships/notesMaster" Target="/ppt/notesMasters/notesMaster1.xml" Id="R24b3f5088d824856" /><Relationship Type="http://schemas.openxmlformats.org/officeDocument/2006/relationships/presProps" Target="/ppt/presProps.xml" Id="R24625300d7774514" /><Relationship Type="http://schemas.openxmlformats.org/officeDocument/2006/relationships/tableStyles" Target="/ppt/tableStyles.xml" Id="R3f17ca35d19a4f79" /><Relationship Type="http://schemas.openxmlformats.org/officeDocument/2006/relationships/slide" Target="/ppt/slides/slide1.xml" Id="R6ec2c3145e0348e9" /><Relationship Type="http://schemas.openxmlformats.org/officeDocument/2006/relationships/slide" Target="/ppt/slides/slide2.xml" Id="Rb2a9643b089743ed" /><Relationship Type="http://schemas.openxmlformats.org/officeDocument/2006/relationships/slide" Target="/ppt/slides/slide3.xml" Id="R96530008f74e49be" /><Relationship Type="http://schemas.openxmlformats.org/officeDocument/2006/relationships/slide" Target="/ppt/slides/slide4.xml" Id="R7dc205c4e68b401d" /><Relationship Type="http://schemas.openxmlformats.org/officeDocument/2006/relationships/slide" Target="/ppt/slides/slide5.xml" Id="R56c501ae39f24f08" /><Relationship Type="http://schemas.openxmlformats.org/officeDocument/2006/relationships/slide" Target="/ppt/slides/slide6.xml" Id="R09735c6d81a94d7d" /><Relationship Type="http://schemas.openxmlformats.org/officeDocument/2006/relationships/slide" Target="/ppt/slides/slide7.xml" Id="R3045bb6b910b4c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b971dec16f44e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d8310f879c4738" /><Relationship Type="http://schemas.openxmlformats.org/officeDocument/2006/relationships/notesMaster" Target="/ppt/notesMasters/notesMaster1.xml" Id="R2577124281b8441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a6a6f8b5104f61" /><Relationship Type="http://schemas.openxmlformats.org/officeDocument/2006/relationships/notesMaster" Target="/ppt/notesMasters/notesMaster1.xml" Id="Re28cc8eb6f534a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bd1b27ed7f4ca6" /><Relationship Type="http://schemas.openxmlformats.org/officeDocument/2006/relationships/notesMaster" Target="/ppt/notesMasters/notesMaster1.xml" Id="R2b2d8e9ded6646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28aee5a21b94de3" /><Relationship Type="http://schemas.openxmlformats.org/officeDocument/2006/relationships/notesMaster" Target="/ppt/notesMasters/notesMaster1.xml" Id="R8d5c8e114e2f40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be25dba46345be" /><Relationship Type="http://schemas.openxmlformats.org/officeDocument/2006/relationships/notesMaster" Target="/ppt/notesMasters/notesMaster1.xml" Id="R0d9d905b928c42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af3e24ad2040a3" /><Relationship Type="http://schemas.openxmlformats.org/officeDocument/2006/relationships/notesMaster" Target="/ppt/notesMasters/notesMaster1.xml" Id="Ra908af85132a49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897bf4a5e64e4f" /><Relationship Type="http://schemas.openxmlformats.org/officeDocument/2006/relationships/notesMaster" Target="/ppt/notesMasters/notesMaster1.xml" Id="R1f1a0e9ee9e849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Abdulelah @c3bod</a:t>
            </a:r>
          </a:p>
          <a:p xmlns:a="http://schemas.openxmlformats.org/drawingml/2006/main">
            <a:r>
              <a:t>BLUF/Ask. 0:00–0:30. State the complete request before any introduction. Approve a SAR 40M envelope, release SAR 10M now for pilots, hold SAR 30M subject to evidence. Big Idea: target the adoption gap with phased funding and validate the metric before scaling.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Abdulelah @c3bod</a:t>
            </a:r>
          </a:p>
          <a:p xmlns:a="http://schemas.openxmlformats.org/drawingml/2006/main">
            <a:r>
              <a:t>Situation. 0:30–1:15. Orient the audience to monthly dates, a 0–100% axis and the 65% target. January 2022: 51.40%; December 2025: 63.33%; increase: 11.93 percentage points. No unsupported date for future target attainment.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Sanad @SanadAlkhamali</a:t>
            </a:r>
          </a:p>
          <a:p xmlns:a="http://schemas.openxmlformats.org/drawingml/2006/main">
            <a:r>
              <a:t>Complication. 1:15–2:00. Orient to horizontal region bars, 0–100% scale, December 2025 and 65% reference. Nine below and four at/above target. Najran is lowest at 58.89%. Funding requires both gap and activity, not the lowest rate alone. Orange reference is 65%.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Sanad @SanadAlkhamali</a:t>
            </a:r>
          </a:p>
          <a:p xmlns:a="http://schemas.openxmlformats.org/drawingml/2006/main">
            <a:r>
              <a:t>Evidence. 2:00–4:00. Index = max(65 - regional arithmetic mean, 0)/100 × latest-month transactions. Scores: Najran 570.1185, Jazan 455.0824, Northern Borders 446.2597. Combined share of nine laggard priority scores: 42.6146%. Alternative weighted metric ranks Najran, Northern Borders, Al-Baha. This sensitivity is material and must be disclosed. The descriptive data do not prove root causes or causal returns.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Hathal @1Hathall</a:t>
            </a:r>
          </a:p>
          <a:p xmlns:a="http://schemas.openxmlformats.org/drawingml/2006/main">
            <a:r>
              <a:t>Options. 4:00–5:00. Compare equal nine-region coverage, full concentration and staged investment. Select staged because metric sensitivity and the lack of a causal response model warrant learning before the full release. Equal allocation 40/9 = 4.444M, rounded for display only.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Hathal @1Hathall</a:t>
            </a:r>
          </a:p>
          <a:p xmlns:a="http://schemas.openxmlformats.org/drawingml/2006/main">
            <a:r>
              <a:t>Recommendation. 5:00–6:15. SAR 35M proportional to the current top-three score, rounded using largest remainders, plus SAR 5M reserve. Intended effect: raise selected-region adoption without degrading service. Illustrative national scenario: 63.328346 + (6.11125+4.33825+4.08775)/13 = 64.44660%. This is conditional arithmetic, not a forecast or causal return. A next wave would still be needed. No observed investment-response coefficients are available.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Hathal @1Hathall</a:t>
            </a:r>
          </a:p>
          <a:p xmlns:a="http://schemas.openxmlformats.org/drawingml/2006/main">
            <a:r>
              <a:t>Ask and next step. 6:15–7:00. Repeat the exact request. Approve 40M; release 10M for pilots; hold 30M. Nominate owner at day 0; agree baseline, definition, service design and cost within 30 days; review at day 90. Suggested continuation threshold: at least +2pp against verified baseline in each pilot, no deterioration in matched CSAT/SLA and a defensible comparison; a management goal, not a forecast. Adjust allocation if the chosen metric changes.</a:t>
            </a:r>
          </a:p>
          <a:p xmlns:a="http://schemas.openxmlformats.org/drawingml/2006/main">
            <a:r>
              <a:t>Source: https://drive.google.com/file/d/1T6pweFV4EjBxZ75gge775OOYMYx2aKX0/view</a:t>
            </a:r>
          </a:p>
          <a:p xmlns:a="http://schemas.openxmlformats.org/drawingml/2006/main">
            <a:r>
              <a:t>Method: Arithmetic mean of digital_adoption_pct, matching supplied labs. This is a course index, not digital transactions / total transactions.</a:t>
            </a:r>
          </a:p>
          <a:p xmlns:a="http://schemas.openxmlformats.org/drawingml/2006/main">
            <a:r>
              <a:t>Period: December 2025 unless the chart is a monthly trend.</a:t>
            </a:r>
          </a:p>
          <a:p xmlns:a="http://schemas.openxmlformats.org/drawingml/2006/main">
            <a:r>
              <a:t>All data are synthetic.</a:t>
            </a:r>
          </a:p>
          <a:p xmlns:a="http://schemas.openxmlformats.org/drawingml/2006/main">
            <a:r>
              <a:t>Source definitions: https://drive.google.com/file/d/1htqVTYconACXDD28CACXOpz8VAyz8Xm5/view</a:t>
            </a:r>
          </a:p>
          <a:p xmlns:a="http://schemas.openxmlformats.org/drawingml/2006/main">
            <a:r>
              <a:t>Course calculation reference: https://drive.google.com/file/d/1_DAzbKnnIl4dn1JN2hffwhCueJOoqPOh/view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9eb33e20ac47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791336908542fe" /><Relationship Type="http://schemas.openxmlformats.org/officeDocument/2006/relationships/slideLayout" Target="/ppt/slideLayouts/slideLayout1.xml" Id="Rad7198042cfd4a1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d7198042cfd4a1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7e1ad8a84484d" /><Relationship Type="http://schemas.openxmlformats.org/officeDocument/2006/relationships/notesSlide" Target="/ppt/notesSlides/notesSlide1.xml" Id="Rf22274cf6af44e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9158b28d294caa" /><Relationship Type="http://schemas.openxmlformats.org/officeDocument/2006/relationships/chart" Target="/ppt/slides/charts/chart1.xml" Id="R58066c90f351463d" /><Relationship Type="http://schemas.openxmlformats.org/officeDocument/2006/relationships/notesSlide" Target="/ppt/notesSlides/notesSlide2.xml" Id="R4ee670a2374e4f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db3f9803834ba9" /><Relationship Type="http://schemas.openxmlformats.org/officeDocument/2006/relationships/chart" Target="/ppt/slides/charts/chart2.xml" Id="R49c81be1279b4494" /><Relationship Type="http://schemas.openxmlformats.org/officeDocument/2006/relationships/notesSlide" Target="/ppt/notesSlides/notesSlide3.xml" Id="R9b25019ae7da45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d292df6de42cc" /><Relationship Type="http://schemas.openxmlformats.org/officeDocument/2006/relationships/notesSlide" Target="/ppt/notesSlides/notesSlide4.xml" Id="Rd1207abd47df40e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21837e31740ed" /><Relationship Type="http://schemas.openxmlformats.org/officeDocument/2006/relationships/notesSlide" Target="/ppt/notesSlides/notesSlide5.xml" Id="R9362fddb21e248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abee56a4954ac6" /><Relationship Type="http://schemas.openxmlformats.org/officeDocument/2006/relationships/notesSlide" Target="/ppt/notesSlides/notesSlide6.xml" Id="R27f2d5d6773346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d129f347454d00" /><Relationship Type="http://schemas.openxmlformats.org/officeDocument/2006/relationships/notesSlide" Target="/ppt/notesSlides/notesSlide7.xml" Id="Rf8457858235a45c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ser>
          <c:idx val="0"/>
          <c:order val="0"/>
          <c:tx>
            <c:v>Course adoption index</c:v>
          </c:tx>
          <c:spPr>
            <a:ln xmlns:a="http://schemas.openxmlformats.org/drawingml/2006/main" w="28575">
              <a:solidFill>
                <a:srgbClr val="087D82"/>
              </a:solidFill>
            </a:ln>
          </c:spPr>
          <c:marker>
            <c:symbol val="none"/>
          </c:marker>
          <c:dLbls>
            <c:dLbl>
              <c:idx val="4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75" b="1">
                        <a:latin typeface="Arial"/>
                        <a:ea typeface="Arial"/>
                        <a:cs typeface="Arial"/>
                      </a:rPr>
                      <a:t>63.33%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75" b="1">
                      <a:latin typeface="Arial"/>
                      <a:ea typeface="Arial"/>
                      <a:cs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35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Data'!$A$2:$A$49</c:f>
              <c:strCache>
                <c:ptCount val="48"/>
                <c:pt idx="0">
                  <c:v>2022-01</c:v>
                </c:pt>
                <c:pt idx="1">
                  <c:v>2022-02</c:v>
                </c:pt>
                <c:pt idx="2">
                  <c:v>2022-03</c:v>
                </c:pt>
                <c:pt idx="3">
                  <c:v>2022-04</c:v>
                </c:pt>
                <c:pt idx="4">
                  <c:v>2022-05</c:v>
                </c:pt>
                <c:pt idx="5">
                  <c:v>2022-06</c:v>
                </c:pt>
                <c:pt idx="6">
                  <c:v>2022-07</c:v>
                </c:pt>
                <c:pt idx="7">
                  <c:v>2022-08</c:v>
                </c:pt>
                <c:pt idx="8">
                  <c:v>2022-09</c:v>
                </c:pt>
                <c:pt idx="9">
                  <c:v>2022-10</c:v>
                </c:pt>
                <c:pt idx="10">
                  <c:v>2022-11</c:v>
                </c:pt>
                <c:pt idx="11">
                  <c:v>2022-12</c:v>
                </c:pt>
                <c:pt idx="12">
                  <c:v>2023-01</c:v>
                </c:pt>
                <c:pt idx="13">
                  <c:v>2023-02</c:v>
                </c:pt>
                <c:pt idx="14">
                  <c:v>2023-03</c:v>
                </c:pt>
                <c:pt idx="15">
                  <c:v>2023-04</c:v>
                </c:pt>
                <c:pt idx="16">
                  <c:v>2023-05</c:v>
                </c:pt>
                <c:pt idx="17">
                  <c:v>2023-06</c:v>
                </c:pt>
                <c:pt idx="18">
                  <c:v>2023-07</c:v>
                </c:pt>
                <c:pt idx="19">
                  <c:v>2023-08</c:v>
                </c:pt>
                <c:pt idx="20">
                  <c:v>2023-09</c:v>
                </c:pt>
                <c:pt idx="21">
                  <c:v>2023-10</c:v>
                </c:pt>
                <c:pt idx="22">
                  <c:v>2023-11</c:v>
                </c:pt>
                <c:pt idx="23">
                  <c:v>2023-12</c:v>
                </c:pt>
                <c:pt idx="24">
                  <c:v>2024-01</c:v>
                </c:pt>
                <c:pt idx="25">
                  <c:v>2024-02</c:v>
                </c:pt>
                <c:pt idx="26">
                  <c:v>2024-03</c:v>
                </c:pt>
                <c:pt idx="27">
                  <c:v>2024-04</c:v>
                </c:pt>
                <c:pt idx="28">
                  <c:v>2024-05</c:v>
                </c:pt>
                <c:pt idx="29">
                  <c:v>2024-06</c:v>
                </c:pt>
                <c:pt idx="30">
                  <c:v>2024-07</c:v>
                </c:pt>
                <c:pt idx="31">
                  <c:v>2024-08</c:v>
                </c:pt>
                <c:pt idx="32">
                  <c:v>2024-09</c:v>
                </c:pt>
                <c:pt idx="33">
                  <c:v>2024-10</c:v>
                </c:pt>
                <c:pt idx="34">
                  <c:v>2024-11</c:v>
                </c:pt>
                <c:pt idx="35">
                  <c:v>2024-12</c:v>
                </c:pt>
                <c:pt idx="36">
                  <c:v>2025-01</c:v>
                </c:pt>
                <c:pt idx="37">
                  <c:v>2025-02</c:v>
                </c:pt>
                <c:pt idx="38">
                  <c:v>2025-03</c:v>
                </c:pt>
                <c:pt idx="39">
                  <c:v>2025-04</c:v>
                </c:pt>
                <c:pt idx="40">
                  <c:v>2025-05</c:v>
                </c:pt>
                <c:pt idx="41">
                  <c:v>2025-06</c:v>
                </c:pt>
                <c:pt idx="42">
                  <c:v>2025-07</c:v>
                </c:pt>
                <c:pt idx="43">
                  <c:v>2025-08</c:v>
                </c:pt>
                <c:pt idx="44">
                  <c:v>2025-09</c:v>
                </c:pt>
                <c:pt idx="45">
                  <c:v>2025-10</c:v>
                </c:pt>
                <c:pt idx="46">
                  <c:v>2025-11</c:v>
                </c:pt>
                <c:pt idx="47">
                  <c:v>2025-12</c:v>
                </c:pt>
              </c:strCache>
            </c:strRef>
          </c:cat>
          <c:val>
            <c:numRef>
              <c:f>'Chart Data'!$B$2:$B$49</c:f>
              <c:numCache>
                <c:formatCode>0"%"</c:formatCode>
                <c:ptCount val="48"/>
                <c:pt idx="0">
                  <c:v>51.4</c:v>
                </c:pt>
                <c:pt idx="1">
                  <c:v>51.43</c:v>
                </c:pt>
                <c:pt idx="2">
                  <c:v>51.89</c:v>
                </c:pt>
                <c:pt idx="3">
                  <c:v>52.04</c:v>
                </c:pt>
                <c:pt idx="4">
                  <c:v>52.49</c:v>
                </c:pt>
                <c:pt idx="5">
                  <c:v>52.4</c:v>
                </c:pt>
                <c:pt idx="6">
                  <c:v>52.83</c:v>
                </c:pt>
                <c:pt idx="7">
                  <c:v>53.29</c:v>
                </c:pt>
                <c:pt idx="8">
                  <c:v>53.07</c:v>
                </c:pt>
                <c:pt idx="9">
                  <c:v>53.67</c:v>
                </c:pt>
                <c:pt idx="10">
                  <c:v>54.1</c:v>
                </c:pt>
                <c:pt idx="11">
                  <c:v>53.87</c:v>
                </c:pt>
                <c:pt idx="12">
                  <c:v>54.25</c:v>
                </c:pt>
                <c:pt idx="13">
                  <c:v>54.68</c:v>
                </c:pt>
                <c:pt idx="14">
                  <c:v>54.83</c:v>
                </c:pt>
                <c:pt idx="15">
                  <c:v>55.09</c:v>
                </c:pt>
                <c:pt idx="16">
                  <c:v>55.66</c:v>
                </c:pt>
                <c:pt idx="17">
                  <c:v>55.72</c:v>
                </c:pt>
                <c:pt idx="18">
                  <c:v>56.04</c:v>
                </c:pt>
                <c:pt idx="19">
                  <c:v>56.23</c:v>
                </c:pt>
                <c:pt idx="20">
                  <c:v>56.58</c:v>
                </c:pt>
                <c:pt idx="21">
                  <c:v>56.52</c:v>
                </c:pt>
                <c:pt idx="22">
                  <c:v>56.92</c:v>
                </c:pt>
                <c:pt idx="23">
                  <c:v>57.12</c:v>
                </c:pt>
                <c:pt idx="24">
                  <c:v>57.68</c:v>
                </c:pt>
                <c:pt idx="25">
                  <c:v>57.77</c:v>
                </c:pt>
                <c:pt idx="26">
                  <c:v>57.94</c:v>
                </c:pt>
                <c:pt idx="27">
                  <c:v>58.21</c:v>
                </c:pt>
                <c:pt idx="28">
                  <c:v>58.61</c:v>
                </c:pt>
                <c:pt idx="29">
                  <c:v>58.75</c:v>
                </c:pt>
                <c:pt idx="30">
                  <c:v>59.2</c:v>
                </c:pt>
                <c:pt idx="31">
                  <c:v>59.18</c:v>
                </c:pt>
                <c:pt idx="32">
                  <c:v>59.72</c:v>
                </c:pt>
                <c:pt idx="33">
                  <c:v>60</c:v>
                </c:pt>
                <c:pt idx="34">
                  <c:v>59.88</c:v>
                </c:pt>
                <c:pt idx="35">
                  <c:v>60.28</c:v>
                </c:pt>
                <c:pt idx="36">
                  <c:v>60.69</c:v>
                </c:pt>
                <c:pt idx="37">
                  <c:v>60.95</c:v>
                </c:pt>
                <c:pt idx="38">
                  <c:v>60.96</c:v>
                </c:pt>
                <c:pt idx="39">
                  <c:v>61.27</c:v>
                </c:pt>
                <c:pt idx="40">
                  <c:v>61.35</c:v>
                </c:pt>
                <c:pt idx="41">
                  <c:v>61.94</c:v>
                </c:pt>
                <c:pt idx="42">
                  <c:v>62.16</c:v>
                </c:pt>
                <c:pt idx="43">
                  <c:v>62.41</c:v>
                </c:pt>
                <c:pt idx="44">
                  <c:v>62.72</c:v>
                </c:pt>
                <c:pt idx="45">
                  <c:v>62.88</c:v>
                </c:pt>
                <c:pt idx="46">
                  <c:v>63.13</c:v>
                </c:pt>
                <c:pt idx="47">
                  <c:v>63.33</c:v>
                </c:pt>
              </c:numCache>
            </c:numRef>
          </c:val>
        </c:ser>
        <c:ser>
          <c:idx val="1"/>
          <c:order val="1"/>
          <c:tx>
            <c:v>65% target</c:v>
          </c:tx>
          <c:spPr>
            <a:ln xmlns:a="http://schemas.openxmlformats.org/drawingml/2006/main" w="19050">
              <a:solidFill>
                <a:srgbClr val="B45C16"/>
              </a:solidFill>
              <a:prstDash val="dash"/>
            </a:ln>
          </c:spPr>
          <c:marker>
            <c:symbol val="none"/>
          </c:marker>
          <c:dLbls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575" b="1">
                        <a:latin typeface="Arial"/>
                        <a:ea typeface="Arial"/>
                        <a:cs typeface="Arial"/>
                      </a:rPr>
                      <a:t>65% target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575" b="1">
                      <a:latin typeface="Arial"/>
                      <a:ea typeface="Arial"/>
                      <a:cs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350">
                    <a:latin typeface="Arial"/>
                    <a:ea typeface="Arial"/>
                    <a:cs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'Chart Data'!$C$2:$C$49</c:f>
              <c:strCache>
                <c:ptCount val="48"/>
                <c:pt idx="0">
                  <c:v>2022-01</c:v>
                </c:pt>
                <c:pt idx="1">
                  <c:v>2022-02</c:v>
                </c:pt>
                <c:pt idx="2">
                  <c:v>2022-03</c:v>
                </c:pt>
                <c:pt idx="3">
                  <c:v>2022-04</c:v>
                </c:pt>
                <c:pt idx="4">
                  <c:v>2022-05</c:v>
                </c:pt>
                <c:pt idx="5">
                  <c:v>2022-06</c:v>
                </c:pt>
                <c:pt idx="6">
                  <c:v>2022-07</c:v>
                </c:pt>
                <c:pt idx="7">
                  <c:v>2022-08</c:v>
                </c:pt>
                <c:pt idx="8">
                  <c:v>2022-09</c:v>
                </c:pt>
                <c:pt idx="9">
                  <c:v>2022-10</c:v>
                </c:pt>
                <c:pt idx="10">
                  <c:v>2022-11</c:v>
                </c:pt>
                <c:pt idx="11">
                  <c:v>2022-12</c:v>
                </c:pt>
                <c:pt idx="12">
                  <c:v>2023-01</c:v>
                </c:pt>
                <c:pt idx="13">
                  <c:v>2023-02</c:v>
                </c:pt>
                <c:pt idx="14">
                  <c:v>2023-03</c:v>
                </c:pt>
                <c:pt idx="15">
                  <c:v>2023-04</c:v>
                </c:pt>
                <c:pt idx="16">
                  <c:v>2023-05</c:v>
                </c:pt>
                <c:pt idx="17">
                  <c:v>2023-06</c:v>
                </c:pt>
                <c:pt idx="18">
                  <c:v>2023-07</c:v>
                </c:pt>
                <c:pt idx="19">
                  <c:v>2023-08</c:v>
                </c:pt>
                <c:pt idx="20">
                  <c:v>2023-09</c:v>
                </c:pt>
                <c:pt idx="21">
                  <c:v>2023-10</c:v>
                </c:pt>
                <c:pt idx="22">
                  <c:v>2023-11</c:v>
                </c:pt>
                <c:pt idx="23">
                  <c:v>2023-12</c:v>
                </c:pt>
                <c:pt idx="24">
                  <c:v>2024-01</c:v>
                </c:pt>
                <c:pt idx="25">
                  <c:v>2024-02</c:v>
                </c:pt>
                <c:pt idx="26">
                  <c:v>2024-03</c:v>
                </c:pt>
                <c:pt idx="27">
                  <c:v>2024-04</c:v>
                </c:pt>
                <c:pt idx="28">
                  <c:v>2024-05</c:v>
                </c:pt>
                <c:pt idx="29">
                  <c:v>2024-06</c:v>
                </c:pt>
                <c:pt idx="30">
                  <c:v>2024-07</c:v>
                </c:pt>
                <c:pt idx="31">
                  <c:v>2024-08</c:v>
                </c:pt>
                <c:pt idx="32">
                  <c:v>2024-09</c:v>
                </c:pt>
                <c:pt idx="33">
                  <c:v>2024-10</c:v>
                </c:pt>
                <c:pt idx="34">
                  <c:v>2024-11</c:v>
                </c:pt>
                <c:pt idx="35">
                  <c:v>2024-12</c:v>
                </c:pt>
                <c:pt idx="36">
                  <c:v>2025-01</c:v>
                </c:pt>
                <c:pt idx="37">
                  <c:v>2025-02</c:v>
                </c:pt>
                <c:pt idx="38">
                  <c:v>2025-03</c:v>
                </c:pt>
                <c:pt idx="39">
                  <c:v>2025-04</c:v>
                </c:pt>
                <c:pt idx="40">
                  <c:v>2025-05</c:v>
                </c:pt>
                <c:pt idx="41">
                  <c:v>2025-06</c:v>
                </c:pt>
                <c:pt idx="42">
                  <c:v>2025-07</c:v>
                </c:pt>
                <c:pt idx="43">
                  <c:v>2025-08</c:v>
                </c:pt>
                <c:pt idx="44">
                  <c:v>2025-09</c:v>
                </c:pt>
                <c:pt idx="45">
                  <c:v>2025-10</c:v>
                </c:pt>
                <c:pt idx="46">
                  <c:v>2025-11</c:v>
                </c:pt>
                <c:pt idx="47">
                  <c:v>2025-12</c:v>
                </c:pt>
              </c:strCache>
            </c:strRef>
          </c:cat>
          <c:val>
            <c:numRef>
              <c:f>'Chart Data'!$D$2:$D$49</c:f>
              <c:numCache>
                <c:formatCode>0"%"</c:formatCode>
                <c:ptCount val="48"/>
                <c:pt idx="0">
                  <c:v>65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  <c:pt idx="6">
                  <c:v>65</c:v>
                </c:pt>
                <c:pt idx="7">
                  <c:v>65</c:v>
                </c:pt>
                <c:pt idx="8">
                  <c:v>65</c:v>
                </c:pt>
                <c:pt idx="9">
                  <c:v>65</c:v>
                </c:pt>
                <c:pt idx="10">
                  <c:v>65</c:v>
                </c:pt>
                <c:pt idx="11">
                  <c:v>65</c:v>
                </c:pt>
                <c:pt idx="12">
                  <c:v>65</c:v>
                </c:pt>
                <c:pt idx="13">
                  <c:v>65</c:v>
                </c:pt>
                <c:pt idx="14">
                  <c:v>65</c:v>
                </c:pt>
                <c:pt idx="15">
                  <c:v>65</c:v>
                </c:pt>
                <c:pt idx="16">
                  <c:v>65</c:v>
                </c:pt>
                <c:pt idx="17">
                  <c:v>65</c:v>
                </c:pt>
                <c:pt idx="18">
                  <c:v>65</c:v>
                </c:pt>
                <c:pt idx="19">
                  <c:v>65</c:v>
                </c:pt>
                <c:pt idx="20">
                  <c:v>65</c:v>
                </c:pt>
                <c:pt idx="21">
                  <c:v>65</c:v>
                </c:pt>
                <c:pt idx="22">
                  <c:v>65</c:v>
                </c:pt>
                <c:pt idx="23">
                  <c:v>65</c:v>
                </c:pt>
                <c:pt idx="24">
                  <c:v>65</c:v>
                </c:pt>
                <c:pt idx="25">
                  <c:v>65</c:v>
                </c:pt>
                <c:pt idx="26">
                  <c:v>65</c:v>
                </c:pt>
                <c:pt idx="27">
                  <c:v>65</c:v>
                </c:pt>
                <c:pt idx="28">
                  <c:v>65</c:v>
                </c:pt>
                <c:pt idx="29">
                  <c:v>65</c:v>
                </c:pt>
                <c:pt idx="30">
                  <c:v>65</c:v>
                </c:pt>
                <c:pt idx="31">
                  <c:v>65</c:v>
                </c:pt>
                <c:pt idx="32">
                  <c:v>65</c:v>
                </c:pt>
                <c:pt idx="33">
                  <c:v>65</c:v>
                </c:pt>
                <c:pt idx="34">
                  <c:v>65</c:v>
                </c:pt>
                <c:pt idx="35">
                  <c:v>65</c:v>
                </c:pt>
                <c:pt idx="36">
                  <c:v>65</c:v>
                </c:pt>
                <c:pt idx="37">
                  <c:v>65</c:v>
                </c:pt>
                <c:pt idx="38">
                  <c:v>65</c:v>
                </c:pt>
                <c:pt idx="39">
                  <c:v>65</c:v>
                </c:pt>
                <c:pt idx="40">
                  <c:v>65</c:v>
                </c:pt>
                <c:pt idx="41">
                  <c:v>65</c:v>
                </c:pt>
                <c:pt idx="42">
                  <c:v>65</c:v>
                </c:pt>
                <c:pt idx="43">
                  <c:v>65</c:v>
                </c:pt>
                <c:pt idx="44">
                  <c:v>65</c:v>
                </c:pt>
                <c:pt idx="45">
                  <c:v>65</c:v>
                </c:pt>
                <c:pt idx="46">
                  <c:v>65</c:v>
                </c:pt>
                <c:pt idx="47">
                  <c:v>65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3E9EA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Regional adoption</c:v>
          </c:tx>
          <c:spPr>
            <a:solidFill xmlns:a="http://schemas.openxmlformats.org/drawingml/2006/main">
              <a:srgbClr val="D7E5E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8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9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10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Pt>
            <c:idx val="11"/>
            <c:invertIfNegative val="0"/>
            <c:spPr>
              <a:solidFill xmlns:a="http://schemas.openxmlformats.org/drawingml/2006/main">
                <a:srgbClr val="D7E5E6"/>
              </a:solidFill>
            </c:spPr>
          </c:dPt>
          <c:dPt>
            <c:idx val="12"/>
            <c:invertIfNegative val="0"/>
            <c:spPr>
              <a:solidFill xmlns:a="http://schemas.openxmlformats.org/drawingml/2006/main">
                <a:srgbClr val="087D82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69.13%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68.07%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66.62%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65.84%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63.90%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62.54%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62.25%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62.18%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61.79%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60.91%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60.66%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15363D"/>
                        </a:solidFill>
                        <a:latin typeface="Arial"/>
                        <a:ea typeface="Arial"/>
                        <a:cs typeface="Arial"/>
                      </a:rPr>
                      <a:t>60.50%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15363D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1425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</a:rPr>
                      <a:t>58.89%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425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'Chart Data'!$A$2:$A$14</c:f>
              <c:strCache>
                <c:ptCount val="13"/>
                <c:pt idx="0">
                  <c:v>Riyadh</c:v>
                </c:pt>
                <c:pt idx="1">
                  <c:v>Makkah</c:v>
                </c:pt>
                <c:pt idx="2">
                  <c:v>Eastern Province</c:v>
                </c:pt>
                <c:pt idx="3">
                  <c:v>Madinah</c:v>
                </c:pt>
                <c:pt idx="4">
                  <c:v>Qassim</c:v>
                </c:pt>
                <c:pt idx="5">
                  <c:v>Hail</c:v>
                </c:pt>
                <c:pt idx="6">
                  <c:v>Asir</c:v>
                </c:pt>
                <c:pt idx="7">
                  <c:v>Al-Jouf</c:v>
                </c:pt>
                <c:pt idx="8">
                  <c:v>Tabuk</c:v>
                </c:pt>
                <c:pt idx="9">
                  <c:v>Northern Borders</c:v>
                </c:pt>
                <c:pt idx="10">
                  <c:v>Jazan</c:v>
                </c:pt>
                <c:pt idx="11">
                  <c:v>Al-Baha</c:v>
                </c:pt>
                <c:pt idx="12">
                  <c:v>Najran</c:v>
                </c:pt>
              </c:strCache>
            </c:strRef>
          </c:cat>
          <c:val>
            <c:numRef>
              <c:f>'Chart Data'!$B$2:$B$14</c:f>
              <c:numCache>
                <c:formatCode>0"%"</c:formatCode>
                <c:ptCount val="13"/>
                <c:pt idx="0">
                  <c:v>69.13</c:v>
                </c:pt>
                <c:pt idx="1">
                  <c:v>68.07</c:v>
                </c:pt>
                <c:pt idx="2">
                  <c:v>66.62</c:v>
                </c:pt>
                <c:pt idx="3">
                  <c:v>65.84</c:v>
                </c:pt>
                <c:pt idx="4">
                  <c:v>63.9</c:v>
                </c:pt>
                <c:pt idx="5">
                  <c:v>62.54</c:v>
                </c:pt>
                <c:pt idx="6">
                  <c:v>62.25</c:v>
                </c:pt>
                <c:pt idx="7">
                  <c:v>62.18</c:v>
                </c:pt>
                <c:pt idx="8">
                  <c:v>61.79</c:v>
                </c:pt>
                <c:pt idx="9">
                  <c:v>60.91</c:v>
                </c:pt>
                <c:pt idx="10">
                  <c:v>60.66</c:v>
                </c:pt>
                <c:pt idx="11">
                  <c:v>60.5</c:v>
                </c:pt>
                <c:pt idx="12">
                  <c:v>58.89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E3E9EA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F2F96-441D-4A99-AE73-A7017EE5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Phase funding for Najran, Jazan and Northern Borders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BCF51-358A-4040-89DB-63F303EE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1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F638B-49DE-4012-A082-DEC48815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1066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2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62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SAR 40 million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6AE273-37EE-48EF-8129-FA8DBF347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Requested funding envelope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F495F7-B341-46CA-AB17-5490462E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76675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Release SAR 10M for pilots; hold SAR 30M for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56ABE-26AC-43AF-BC71-951F0137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33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Move lagging regions toward the 65% adoption target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261B74-1122-4DF3-87A8-C51497E5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SDAIA Academy SDA-DSC-112     Abdulelah · Sanad · Hathal     Synthetic training data</a:t>
            </a:r>
          </a:p>
        </p:txBody>
      </p:sp>
    </p:spTree>
    <p:extLst>
      <p:ext uri="{BB962C8B-B14F-4D97-AF65-F5344CB8AC3E}">
        <p14:creationId xmlns:p14="http://schemas.microsoft.com/office/powerpoint/2010/main" val="8438431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E4788-D356-4B1F-85CE-587C38FE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National adoption improved, but remains below 65%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555C0-71F3-406C-9817-4468C1F7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2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A9AC32-94F8-46B8-8D24-2767B24B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52575"/>
            <a:ext cx="3810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487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63.33%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F1570-0695-4163-A256-C9983A24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28775"/>
            <a:ext cx="6905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5363D"/>
                </a:solidFill>
                <a:latin typeface="Arial"/>
                <a:ea typeface="Arial"/>
                <a:cs typeface="Arial"/>
              </a:rPr>
              <a:t>December 2025: a 1.67 percentage point gap</a:t>
            </a:r>
          </a:p>
        </p:txBody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19125" y="2581275"/>
          <a:ext xmlns:a="http://schemas.openxmlformats.org/drawingml/2006/main" cx="10953750" cy="30861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8066c90f351463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A895F-55C0-43B3-B52C-7B2A55036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Jan 2022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A58ACC-E660-42BA-9DDA-80C887C1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Dec 2023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6946EB-EA2C-4075-93CB-80C82F9E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686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Dec 2025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FBA472-5212-43C8-BFAC-5AFB2737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Course arithmetic-mean index, not the digital transaction share. 48 months of synthetic data.</a:t>
            </a:r>
          </a:p>
        </p:txBody>
      </p:sp>
    </p:spTree>
    <p:extLst>
      <p:ext uri="{BB962C8B-B14F-4D97-AF65-F5344CB8AC3E}">
        <p14:creationId xmlns:p14="http://schemas.microsoft.com/office/powerpoint/2010/main" val="18881195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B0AB0-A41B-4073-B40D-C8B377DE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Nine regions remain below target in December 2025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89D4DF-A28D-4128-BD1D-1BE36E29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3 / 7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600200"/>
          <a:ext xmlns:a="http://schemas.openxmlformats.org/drawingml/2006/main" cx="10972800" cy="4267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c81be1279b4494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AD838-DC1A-45B2-8396-A77644B3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6243" y="1781175"/>
            <a:ext cx="19050" cy="3657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C1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C5D20-38A0-4B36-B5B1-3A963636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1524000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B45C16"/>
                </a:solidFill>
                <a:latin typeface="Arial"/>
                <a:ea typeface="Arial"/>
                <a:cs typeface="Arial"/>
              </a:rPr>
              <a:t>65% target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C5604A-5C9C-4556-8B73-F861E2F9F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Latest-month mean. Teal identifies the proposed pilot regions. Synthetic training data.</a:t>
            </a:r>
          </a:p>
        </p:txBody>
      </p:sp>
    </p:spTree>
    <p:extLst>
      <p:ext uri="{BB962C8B-B14F-4D97-AF65-F5344CB8AC3E}">
        <p14:creationId xmlns:p14="http://schemas.microsoft.com/office/powerpoint/2010/main" val="7590005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B00FA-B03F-4FD4-AC5C-D4A295F34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The adoption gap and activity identify funding priorities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097644-739C-4518-AD0B-1F250CCE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4 / 7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1647825"/>
          <a:ext xmlns:a="http://schemas.openxmlformats.org/drawingml/2006/main" cx="10953750" cy="2495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2095500"/>
                <a:gridCol w="2333625"/>
                <a:gridCol w="3143250"/>
              </a:tblGrid>
              <a:tr h="6238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Region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Adoption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Gap (pp)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Dec. transactions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62388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Najran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58.89%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6.11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9,329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2388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Jazan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60.66%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4.34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10,490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2388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Northern Borders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60.91%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4.09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10,917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FBBD96-6388-44F8-8CB6-27E3DECF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305300"/>
            <a:ext cx="33813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42.61%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C9349-7761-4DEB-B58B-9B945D216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91025"/>
            <a:ext cx="70580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Share of the laggards’ gap × volume priority index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B7BB8-9EAB-47EE-B628-C050A650D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45C16"/>
                </a:solidFill>
                <a:latin typeface="Arial"/>
                <a:ea typeface="Arial"/>
                <a:cs typeface="Arial"/>
              </a:rPr>
              <a:t>Metric sensitivity: transaction weighting selects Al-Baha instead of Jazan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EBB45D-F4C4-42BB-934E-D175BECF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The priority index is a proxy, not a conversion count. Agree the metric before scaling.</a:t>
            </a:r>
          </a:p>
        </p:txBody>
      </p:sp>
    </p:spTree>
    <p:extLst>
      <p:ext uri="{BB962C8B-B14F-4D97-AF65-F5344CB8AC3E}">
        <p14:creationId xmlns:p14="http://schemas.microsoft.com/office/powerpoint/2010/main" val="4045559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39096-F75D-4895-B1DD-F55DA2672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Staged funding allows adjustment after the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551EF-EEDD-4A08-88E2-34DCCC4D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5 / 7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19125" y="1762125"/>
          <a:ext xmlns:a="http://schemas.openxmlformats.org/drawingml/2006/main" cx="10953750" cy="36099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90750"/>
                <a:gridCol w="3048000"/>
                <a:gridCol w="2619375"/>
                <a:gridCol w="3095625"/>
              </a:tblGrid>
              <a:tr h="90249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Option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SAR 40M allocation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Benefit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Tradeoff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Equal allocation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4.44M per lagging region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Covers all nine laggards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Ignores differences in gap and activity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Full concentration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40M in three regions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Focuses on current priorities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Commits all funding before testing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902494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Staged funding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SAR 35M regional + SAR 5M reserve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Focus with a review before scaling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Requires agreed metrics and evaluation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07ACC0-73B9-4126-B76F-86521F1D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54355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Selected: release SAR 10M initially; hold SAR 30M subject to 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6D61B-DE57-4C8B-8BF2-940049E2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These are allocation policies. The data do not estimate causal returns for each option.</a:t>
            </a:r>
          </a:p>
        </p:txBody>
      </p:sp>
    </p:spTree>
    <p:extLst>
      <p:ext uri="{BB962C8B-B14F-4D97-AF65-F5344CB8AC3E}">
        <p14:creationId xmlns:p14="http://schemas.microsoft.com/office/powerpoint/2010/main" val="1279547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081F9C-8375-43D3-BA79-46490181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SAR 35M targets the regions; SAR 5M supports reassessment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B6BB1-3ED2-4738-AEF7-F8013004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6 / 7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1685925"/>
          <a:ext xmlns:a="http://schemas.openxmlformats.org/drawingml/2006/main" cx="5610225" cy="3629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43350"/>
                <a:gridCol w="1666875"/>
              </a:tblGrid>
              <a:tr h="6048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Allocation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SAR million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Najran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Jazan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Northern Borders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Evaluation reserve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04838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Total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751693-111B-4E56-A834-AD934725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095500"/>
            <a:ext cx="4476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50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64.45%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081B41-95E9-4A46-AA26-E1D0F1A7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19450"/>
            <a:ext cx="4762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National index if all three reach 65% and every other region stays unchanged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35B21B-294F-468D-ACC4-430D0E7F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101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B45C16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B45C16"/>
                </a:solidFill>
                <a:latin typeface="Arial"/>
                <a:ea typeface="Arial"/>
                <a:cs typeface="Arial"/>
              </a:rPr>
              <a:t>Conditional arithmetic, not an investment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53F53F-4E04-4392-BD23-EA427E009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Proposed envelopes, not cost estimates. Closing these three gaps alone does not meet the national target.</a:t>
            </a:r>
          </a:p>
        </p:txBody>
      </p:sp>
    </p:spTree>
    <p:extLst>
      <p:ext uri="{BB962C8B-B14F-4D97-AF65-F5344CB8AC3E}">
        <p14:creationId xmlns:p14="http://schemas.microsoft.com/office/powerpoint/2010/main" val="10488935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A30759-37B4-41AF-9F63-B58CBCEF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Approve the envelope now; scale after the day-90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724C94-E024-4D78-A852-C47B7EF3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7 /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D6D9A-3C94-4653-B6C9-FAE1D9F5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47825"/>
            <a:ext cx="10810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87D82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087D82"/>
                </a:solidFill>
                <a:latin typeface="Arial"/>
                <a:ea typeface="Arial"/>
                <a:cs typeface="Arial"/>
              </a:rPr>
              <a:t>Approve SAR 40M; release SAR 10M for pilots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19125" y="2828925"/>
          <a:ext xmlns:a="http://schemas.openxmlformats.org/drawingml/2006/main" cx="10953750" cy="2514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524250"/>
                <a:gridCol w="7429500"/>
              </a:tblGrid>
              <a:tr h="6286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After approval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Action and decision</a:t>
                      </a:r>
                    </a:p>
                  </a:txBody>
                  <a:tcPr marL="133350" marR="133350" marT="95250" marB="95250" anchor="ctr">
                    <a:solidFill>
                      <a:srgbClr val="087D82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Day 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Name an owner and launch pilots in the three regions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Within 30 days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Agree the metric, baseline, service plans and cost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Day 90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15363D"/>
                          </a:solidFill>
                          <a:latin typeface="Arial"/>
                          <a:ea typeface="Arial"/>
                          <a:cs typeface="Arial"/>
                        </a:rPr>
                        <a:t>Review impact and cost before releasing further funding</a:t>
                      </a:r>
                    </a:p>
                  </a:txBody>
                  <a:tcPr marL="133350" marR="133350" marT="9525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1812C-1130-402C-B25C-F65FA977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1081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36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363D"/>
                </a:solidFill>
                <a:latin typeface="Arial"/>
                <a:ea typeface="Arial"/>
                <a:cs typeface="Arial"/>
              </a:rPr>
              <a:t>Proposed continuation goal: +2pp with stable satisfaction and service performance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52A5B-CBC8-43E0-9A21-ADFE8924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6229350"/>
            <a:ext cx="962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666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66B"/>
                </a:solidFill>
                <a:latin typeface="Arial"/>
                <a:ea typeface="Arial"/>
                <a:cs typeface="Arial"/>
              </a:rPr>
              <a:t>A management goal, not a prediction. Check comparison groups and service mix before attributing improvement.</a:t>
            </a:r>
          </a:p>
        </p:txBody>
      </p:sp>
    </p:spTree>
    <p:extLst>
      <p:ext uri="{BB962C8B-B14F-4D97-AF65-F5344CB8AC3E}">
        <p14:creationId xmlns:p14="http://schemas.microsoft.com/office/powerpoint/2010/main" val="15229170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2026-10-06T11:12:12.1760000Z</dcterms:created>
  <dcterms:modified xsi:type="dcterms:W3CDTF">2026-10-06T11:12:12.1760000Z</dcterms:modified>
</coreProperties>
</file>