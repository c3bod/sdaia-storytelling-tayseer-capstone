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2622ce723834caf" /><Relationship Type="http://schemas.openxmlformats.org/officeDocument/2006/relationships/extended-properties" Target="/docProps/app.xml" Id="Raa194732521d4e17" /><Relationship Type="http://schemas.openxmlformats.org/officeDocument/2006/relationships/officeDocument" Target="/ppt/presentation.xml" Id="Rf300b4dc7290444e" /></Relationships>
</file>

<file path=ppt/presentation.xml><?xml version="1.0" encoding="utf-8"?>
<p:presentation xmlns:p="http://schemas.openxmlformats.org/presentationml/2006/main">
  <p:sldMasterIdLst>
    <p:sldMasterId xmlns:r="http://schemas.openxmlformats.org/officeDocument/2006/relationships" id="2147483648" r:id="Rc6559b8bf6714290"/>
  </p:sldMasterIdLst>
  <p:notesMasterIdLst>
    <p:notesMasterId xmlns:r="http://schemas.openxmlformats.org/officeDocument/2006/relationships" r:id="R05fd968ea72e4c42"/>
  </p:notesMasterIdLst>
  <p:sldIdLst>
    <p:sldId xmlns:r="http://schemas.openxmlformats.org/officeDocument/2006/relationships" id="256" r:id="R0d4a19c1d09e4a8d"/>
    <p:sldId xmlns:r="http://schemas.openxmlformats.org/officeDocument/2006/relationships" id="257" r:id="Rc061c8539ef94aea"/>
    <p:sldId xmlns:r="http://schemas.openxmlformats.org/officeDocument/2006/relationships" id="258" r:id="Rf824cac35a9b40fb"/>
    <p:sldId xmlns:r="http://schemas.openxmlformats.org/officeDocument/2006/relationships" id="259" r:id="R4610b5d925ba414e"/>
    <p:sldId xmlns:r="http://schemas.openxmlformats.org/officeDocument/2006/relationships" id="260" r:id="Rd9a19c916fbc498c"/>
    <p:sldId xmlns:r="http://schemas.openxmlformats.org/officeDocument/2006/relationships" id="261" r:id="R23bee0df897240a2"/>
    <p:sldId xmlns:r="http://schemas.openxmlformats.org/officeDocument/2006/relationships" id="262" r:id="Rf98a8dab339248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0e870a2b6f4cad" /><Relationship Type="http://schemas.openxmlformats.org/officeDocument/2006/relationships/slideMaster" Target="/ppt/slideMasters/slideMaster1.xml" Id="Rc6559b8bf6714290" /><Relationship Type="http://schemas.openxmlformats.org/officeDocument/2006/relationships/notesMaster" Target="/ppt/notesMasters/notesMaster1.xml" Id="R05fd968ea72e4c42" /><Relationship Type="http://schemas.openxmlformats.org/officeDocument/2006/relationships/presProps" Target="/ppt/presProps.xml" Id="R7c499f41fb5742f3" /><Relationship Type="http://schemas.openxmlformats.org/officeDocument/2006/relationships/tableStyles" Target="/ppt/tableStyles.xml" Id="R7514da42a69a4477" /><Relationship Type="http://schemas.openxmlformats.org/officeDocument/2006/relationships/slide" Target="/ppt/slides/slide1.xml" Id="R0d4a19c1d09e4a8d" /><Relationship Type="http://schemas.openxmlformats.org/officeDocument/2006/relationships/slide" Target="/ppt/slides/slide2.xml" Id="Rc061c8539ef94aea" /><Relationship Type="http://schemas.openxmlformats.org/officeDocument/2006/relationships/slide" Target="/ppt/slides/slide3.xml" Id="Rf824cac35a9b40fb" /><Relationship Type="http://schemas.openxmlformats.org/officeDocument/2006/relationships/slide" Target="/ppt/slides/slide4.xml" Id="R4610b5d925ba414e" /><Relationship Type="http://schemas.openxmlformats.org/officeDocument/2006/relationships/slide" Target="/ppt/slides/slide5.xml" Id="Rd9a19c916fbc498c" /><Relationship Type="http://schemas.openxmlformats.org/officeDocument/2006/relationships/slide" Target="/ppt/slides/slide6.xml" Id="R23bee0df897240a2" /><Relationship Type="http://schemas.openxmlformats.org/officeDocument/2006/relationships/slide" Target="/ppt/slides/slide7.xml" Id="Rf98a8dab339248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3f4e7b551d4e6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55fcffda614bd1" /><Relationship Type="http://schemas.openxmlformats.org/officeDocument/2006/relationships/notesMaster" Target="/ppt/notesMasters/notesMaster1.xml" Id="Rcd1b6766fc014f8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750c5e3853494f" /><Relationship Type="http://schemas.openxmlformats.org/officeDocument/2006/relationships/notesMaster" Target="/ppt/notesMasters/notesMaster1.xml" Id="Rf429f3cadeb44d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d48e2738cf4f1b" /><Relationship Type="http://schemas.openxmlformats.org/officeDocument/2006/relationships/notesMaster" Target="/ppt/notesMasters/notesMaster1.xml" Id="R33ed13db5e1547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a49cc8dfff4644" /><Relationship Type="http://schemas.openxmlformats.org/officeDocument/2006/relationships/notesMaster" Target="/ppt/notesMasters/notesMaster1.xml" Id="Rbe15c13a6e834d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584f0f22614230" /><Relationship Type="http://schemas.openxmlformats.org/officeDocument/2006/relationships/notesMaster" Target="/ppt/notesMasters/notesMaster1.xml" Id="Rd6512c6422d64a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b31bca3eac4c4c" /><Relationship Type="http://schemas.openxmlformats.org/officeDocument/2006/relationships/notesMaster" Target="/ppt/notesMasters/notesMaster1.xml" Id="Rce9ff4a4b43f427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5bf4bb0d6945fa" /><Relationship Type="http://schemas.openxmlformats.org/officeDocument/2006/relationships/notesMaster" Target="/ppt/notesMasters/notesMaster1.xml" Id="R9678f3d85a1e4e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المناطق ذات الأولوية؟ وما القرار الذي نطلبه؟</a:t>
            </a:r>
          </a:p>
          <a:p xmlns:a="http://schemas.openxmlformats.org/drawingml/2006/main">
            <a:r>
              <a:t/>
            </a:r>
          </a:p>
          <a:p xmlns:a="http://schemas.openxmlformats.org/drawingml/2006/main">
            <a:r>
              <a:t>قل أثناء العرض:</a:t>
            </a:r>
          </a:p>
          <a:p xmlns:a="http://schemas.openxmlformats.org/drawingml/2006/main">
            <a:r>
              <a:t>نطلب اعتماد 40 مليون ريال لخطة تركز على نجران وجازان والحدود الشمالية، بهدف رفع التبني الرقمي نحو 65%. نصرف أول 10 ملايين بعد اعتماد خطة التجربة، ونحتفظ بـ30 مليون للمراجعة. نركز على المناطق ذات الفجوة والنشاط المرتفعين، ونختبر النتائج قبل التوسع. البيانات تدريبية اصطناعية.</a:t>
            </a:r>
          </a:p>
          <a:p xmlns:a="http://schemas.openxmlformats.org/drawingml/2006/main">
            <a:r>
              <a:t/>
            </a:r>
          </a:p>
          <a:p xmlns:a="http://schemas.openxmlformats.org/drawingml/2006/main">
            <a:r>
              <a:t>عند السؤال:</a:t>
            </a:r>
          </a:p>
          <a:p xmlns:a="http://schemas.openxmlformats.org/drawingml/2006/main">
            <a:r>
              <a:t>اعتماد خطة التجربة يعني الاتفاق على مقياس التبني، وبيانات البداية، ومقارنة عادلة، والتحقق من اختيار المناطق، وخطط الخدمات وتكاليفها. المبالغ مقترحة وتحتاج تحققًا من التكاليف المحلية.</a:t>
            </a:r>
          </a:p>
          <a:p xmlns:a="http://schemas.openxmlformats.org/drawingml/2006/main">
            <a:r>
              <a:t/>
            </a:r>
          </a:p>
          <a:p xmlns:a="http://schemas.openxmlformats.org/drawingml/2006/main">
            <a:r>
              <a:t>تذكير: اذكر الطلب كاملًا خلال أول 30 ثانية.</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هل تيسير على المسار نحو 65%؟ وما الوضع الحالي والاتجاه؟</a:t>
            </a:r>
          </a:p>
          <a:p xmlns:a="http://schemas.openxmlformats.org/drawingml/2006/main">
            <a:r>
              <a:t/>
            </a:r>
          </a:p>
          <a:p xmlns:a="http://schemas.openxmlformats.org/drawingml/2006/main">
            <a:r>
              <a:t>قل أثناء العرض:</a:t>
            </a:r>
          </a:p>
          <a:p xmlns:a="http://schemas.openxmlformats.org/drawingml/2006/main">
            <a:r>
              <a:t>ارتفع متوسط التبني من 51.40% في يناير 2022 إلى 63.33% في ديسمبر 2025؛ أي تحسن 11.93 نقطة مئوية. ما زلنا أقل من الهدف بـ1.67 نقطة. الخط البرتقالي يمثل هدف 65%، والمحور يبدأ من صفر. الاتجاه يتحسن، لكن البيانات لا تحدد متى سنصل للهدف.</a:t>
            </a:r>
          </a:p>
          <a:p xmlns:a="http://schemas.openxmlformats.org/drawingml/2006/main">
            <a:r>
              <a:t/>
            </a:r>
          </a:p>
          <a:p xmlns:a="http://schemas.openxmlformats.org/drawingml/2006/main">
            <a:r>
              <a:t>عند السؤال:</a:t>
            </a:r>
          </a:p>
          <a:p xmlns:a="http://schemas.openxmlformats.org/drawingml/2006/main">
            <a:r>
              <a:t>المقياس الأساسي هو المتوسط البسيط لنسب التبني الموجودة في البيانات، وليس نسبة المعاملات الرقمية من جميع المعاملات. إذا أعطينا وزنًا أكبر للسجلات ذات المعاملات الأكثر، تصبح النتيجة 66.12%، فوق الهدف. لذلك يجب الاتفاق على المقياس قبل الصرف. النقطة المئوية هي الفرق بين نسبتين.</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المناطق الأقل من 65%؟ وما حجم الفجوة؟</a:t>
            </a:r>
          </a:p>
          <a:p xmlns:a="http://schemas.openxmlformats.org/drawingml/2006/main">
            <a:r>
              <a:t/>
            </a:r>
          </a:p>
          <a:p xmlns:a="http://schemas.openxmlformats.org/drawingml/2006/main">
            <a:r>
              <a:t>قل أثناء العرض:</a:t>
            </a:r>
          </a:p>
          <a:p xmlns:a="http://schemas.openxmlformats.org/drawingml/2006/main">
            <a:r>
              <a:t>تسع مناطق أقل من الهدف: نجران، الباحة، جازان، الحدود الشمالية، تبوك، الجوف، عسير، حائل والقصيم. نجران الأقل عند 58.89%، بفجوة 6.11 نقطة. الخط البرتقالي هو هدف 65%. اللون الداكن يوضح المناطق الثلاث المقترحة للتجربة.</a:t>
            </a:r>
          </a:p>
          <a:p xmlns:a="http://schemas.openxmlformats.org/drawingml/2006/main">
            <a:r>
              <a:t/>
            </a:r>
          </a:p>
          <a:p xmlns:a="http://schemas.openxmlformats.org/drawingml/2006/main">
            <a:r>
              <a:t>عند السؤال عن التظليل:</a:t>
            </a:r>
          </a:p>
          <a:p xmlns:a="http://schemas.openxmlformats.org/drawingml/2006/main">
            <a:r>
              <a:t>نظلل مناطق التجربة لتوضيح خطة التمويل؛ التظليل لا يعني جميع المناطق الأقل من الهدف.</a:t>
            </a:r>
          </a:p>
          <a:p xmlns:a="http://schemas.openxmlformats.org/drawingml/2006/main">
            <a:r>
              <a:t/>
            </a:r>
          </a:p>
          <a:p xmlns:a="http://schemas.openxmlformats.org/drawingml/2006/main">
            <a:r>
              <a:t>لماذا الباحة ليست مظللة؟</a:t>
            </a:r>
          </a:p>
          <a:p xmlns:a="http://schemas.openxmlformats.org/drawingml/2006/main">
            <a:r>
              <a:t>الاختيار يجمع فجوة التبني وعدد المعاملات، وليس انخفاض التبني وحده. الباحة رابعة في درجة الأولوية، رغم أن تبنيها أقل من جازان. السلايد التالي يوضح الحساب والفارق البسيط بينها وبين الحدود الشمالية.</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أكبر الأولويات؟ وما الدليل على الاختيار؟</a:t>
            </a:r>
          </a:p>
          <a:p xmlns:a="http://schemas.openxmlformats.org/drawingml/2006/main">
            <a:r>
              <a:t/>
            </a:r>
          </a:p>
          <a:p xmlns:a="http://schemas.openxmlformats.org/drawingml/2006/main">
            <a:r>
              <a:t>قل أثناء العرض:</a:t>
            </a:r>
          </a:p>
          <a:p xmlns:a="http://schemas.openxmlformats.org/drawingml/2006/main">
            <a:r>
              <a:t>درجة الأولوية تساوي الفجوة إلى 65% مقسومة على 100، ثم مضروبة في عدد معاملات ديسمبر. نجران أولًا بدرجة 570.12، ثم جازان 455.08، ثم الحدود الشمالية 446.26. هذه المناطق تمثل 42.61% من مجموع درجات المناطق التسع الأقل من الهدف. الداكن للمناطق المختارة، والبرتقالي للباحة كبديل قريب.</a:t>
            </a:r>
          </a:p>
          <a:p xmlns:a="http://schemas.openxmlformats.org/drawingml/2006/main">
            <a:r>
              <a:t/>
            </a:r>
          </a:p>
          <a:p xmlns:a="http://schemas.openxmlformats.org/drawingml/2006/main">
            <a:r>
              <a:t>عند السؤال:</a:t>
            </a:r>
          </a:p>
          <a:p xmlns:a="http://schemas.openxmlformats.org/drawingml/2006/main">
            <a:r>
              <a:t>42.61% حصة من درجة الأولوية، وليست حصة من المستخدمين أو المعاملات أو الميزانية. الدرجة للترتيب فقط، ولا تتنبأ بعائد الاستثمار أو بمعاملات رقمية إضافية.</a:t>
            </a:r>
          </a:p>
          <a:p xmlns:a="http://schemas.openxmlformats.org/drawingml/2006/main">
            <a:r>
              <a:t/>
            </a:r>
          </a:p>
          <a:p xmlns:a="http://schemas.openxmlformats.org/drawingml/2006/main">
            <a:r>
              <a:t>لماذا نراجع الباحة؟</a:t>
            </a:r>
          </a:p>
          <a:p xmlns:a="http://schemas.openxmlformats.org/drawingml/2006/main">
            <a:r>
              <a:t>درجتها 445.60؛ أقل من الحدود الشمالية بحوالي 0.66 فقط، أي شبه تعادل. عند وزن نسب التبني بالمعاملات، تحل الباحة بدل جازان. نتحقق من المقياس والطلب المحلي قبل التمويل.</a:t>
            </a:r>
          </a:p>
          <a:p xmlns:a="http://schemas.openxmlformats.org/drawingml/2006/main">
            <a:r>
              <a:t/>
            </a:r>
          </a:p>
          <a:p xmlns:a="http://schemas.openxmlformats.org/drawingml/2006/main">
            <a:r>
              <a:t>عند السؤال عن تابلو:</a:t>
            </a:r>
          </a:p>
          <a:p xmlns:a="http://schemas.openxmlformats.org/drawingml/2006/main">
            <a:r>
              <a:t>الرسم من ملف بيانات الدورة وحساباتنا. لوحة اليوم الثاني الأصلية لم تُرسل لنا؛ اللوحة المعاد بناؤها تحتاج فتحًا وفحصًا فعليًا في تابلو.</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الخيارات الواقعية لتوزيع 40 مليون ريال؟</a:t>
            </a:r>
          </a:p>
          <a:p xmlns:a="http://schemas.openxmlformats.org/drawingml/2006/main">
            <a:r>
              <a:t/>
            </a:r>
          </a:p>
          <a:p xmlns:a="http://schemas.openxmlformats.org/drawingml/2006/main">
            <a:r>
              <a:t>قل أثناء العرض:</a:t>
            </a:r>
          </a:p>
          <a:p xmlns:a="http://schemas.openxmlformats.org/drawingml/2006/main">
            <a:r>
              <a:t>لدينا ثلاثة خيارات: توزيع متساوٍ، حوالي 4.44 مليون لكل منطقة من التسع؛ لكنه يتجاهل اختلاف الفجوات والنشاط. أو صرف الأربعين مليون كلها في المناطق الثلاث مباشرة؛ لكنه يصرف قبل الاختبار. نوصي بالصرف على مراحل: 35 مليون للمناطق و5 ملايين للمراجعة والاحتياط. نبدأ بعشرة ملايين بعد اعتماد خطة التجربة، ونحتفظ بثلاثين مليون.</a:t>
            </a:r>
          </a:p>
          <a:p xmlns:a="http://schemas.openxmlformats.org/drawingml/2006/main">
            <a:r>
              <a:t/>
            </a:r>
          </a:p>
          <a:p xmlns:a="http://schemas.openxmlformats.org/drawingml/2006/main">
            <a:r>
              <a:t>عند السؤال لماذا هذا الخيار:</a:t>
            </a:r>
          </a:p>
          <a:p xmlns:a="http://schemas.openxmlformats.org/drawingml/2006/main">
            <a:r>
              <a:t>الترتيب قد يتغير حسب المقياس، ولا نعرف عائد التمويل من هذه البيانات. التجربة تعطينا دليلًا قبل صرف المزيد.</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التوصية؟ ولماذا؟ وما الأثر الذي نستطيع توضيحه؟</a:t>
            </a:r>
          </a:p>
          <a:p xmlns:a="http://schemas.openxmlformats.org/drawingml/2006/main">
            <a:r>
              <a:t/>
            </a:r>
          </a:p>
          <a:p xmlns:a="http://schemas.openxmlformats.org/drawingml/2006/main">
            <a:r>
              <a:t>قل أثناء العرض:</a:t>
            </a:r>
          </a:p>
          <a:p xmlns:a="http://schemas.openxmlformats.org/drawingml/2006/main">
            <a:r>
              <a:t>نوصي بالصرف على مراحل: 13 مليون لنجران، و11 مليون لجازان، و11 مليون للحدود الشمالية، و5 ملايين للمراجعة والاحتياط. وزعنا ميزانية المناطق بحسب درجات الأولوية وقربناها لملايين كاملة. المبالغ مقترحة وتحتاج تحققًا من التكاليف.</a:t>
            </a:r>
          </a:p>
          <a:p xmlns:a="http://schemas.openxmlformats.org/drawingml/2006/main">
            <a:r>
              <a:t/>
            </a:r>
          </a:p>
          <a:p xmlns:a="http://schemas.openxmlformats.org/drawingml/2006/main">
            <a:r>
              <a:t>كيف أشرح 64.45%؟</a:t>
            </a:r>
          </a:p>
          <a:p xmlns:a="http://schemas.openxmlformats.org/drawingml/2006/main">
            <a:r>
              <a:t>إذا وصلت المناطق الثلاث إلى 65% وبقيت بقية المناطق كما هي، يصبح المتوسط الوطني 64.45%؛ ويظل أقل من الهدف. هذا مثال حسابي مشروط، وليس توقعًا لنتيجة صرف الميزانية.</a:t>
            </a:r>
          </a:p>
          <a:p xmlns:a="http://schemas.openxmlformats.org/drawingml/2006/main">
            <a:r>
              <a:t/>
            </a:r>
          </a:p>
          <a:p xmlns:a="http://schemas.openxmlformats.org/drawingml/2006/main">
            <a:r>
              <a:t>عند السؤال عن التقريب:</a:t>
            </a:r>
          </a:p>
          <a:p xmlns:a="http://schemas.openxmlformats.org/drawingml/2006/main">
            <a:r>
              <a:t>نقرب مبالغ المناطق للأسفل أولًا، ثم نعطي الملايين المتبقية لأكبر الأجزاء العشرية؛ ليظل الإجمالي 40 مليونًا.</a:t>
            </a:r>
          </a:p>
          <a:p xmlns:a="http://schemas.openxmlformats.org/drawingml/2006/main">
            <a:r>
              <a:t/>
            </a:r>
          </a:p>
          <a:p xmlns:a="http://schemas.openxmlformats.org/drawingml/2006/main">
            <a:r>
              <a:t>عند السؤال عن أول عشرة ملايين:</a:t>
            </a:r>
          </a:p>
          <a:p xmlns:a="http://schemas.openxmlformats.org/drawingml/2006/main">
            <a:r>
              <a:t>3.72 مليون لنجران، و3.14 مليون لكل من جازان والحدود الشمالية. يمكن اختبار مساعدة المستخدمين في التسجيل أو تقليل خطوات الخدمة، بعد التأكد من العوائق الفعلية.</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السؤال المطلوب: ما الموافقة المطلوبة بالضبط؟ وما الخطوة التالية؟</a:t>
            </a:r>
          </a:p>
          <a:p xmlns:a="http://schemas.openxmlformats.org/drawingml/2006/main">
            <a:r>
              <a:t/>
            </a:r>
          </a:p>
          <a:p xmlns:a="http://schemas.openxmlformats.org/drawingml/2006/main">
            <a:r>
              <a:t>قل أثناء العرض:</a:t>
            </a:r>
          </a:p>
          <a:p xmlns:a="http://schemas.openxmlformats.org/drawingml/2006/main">
            <a:r>
              <a:t>نطلب اعتماد خطة الأربعين مليون. نصرف أول عشرة ملايين بعد اعتماد خطة التجربة، ونحتفظ بثلاثين مليون. عند اعتماد الميزانية نحدد المسؤول. قبل الصرف أو تغيير الخدمات نتفق على المقياس، ونجمع بيانات البداية، ونضع مقارنة عادلة، ونتحقق من المناطق والخطط والتكاليف. نبدأ خلال 30 يومًا إذا اكتملت الجاهزية.</a:t>
            </a:r>
          </a:p>
          <a:p xmlns:a="http://schemas.openxmlformats.org/drawingml/2006/main">
            <a:r>
              <a:t/>
            </a:r>
          </a:p>
          <a:p xmlns:a="http://schemas.openxmlformats.org/drawingml/2006/main">
            <a:r>
              <a:t>المراجعة:</a:t>
            </a:r>
          </a:p>
          <a:p xmlns:a="http://schemas.openxmlformats.org/drawingml/2006/main">
            <a:r>
              <a:t>في اليوم 90 من اعتماد الميزانية نراجع النتائج والتكاليف قبل أي صرف لاحق. نسجل مدة تشغيل التجربة فعليًا، ونمدد المراجعة إذا كانت المدة قصيرة. هدف التحسن نقطتان مئويتان مع ثبات رضا العملاء وجودة الخدمة؛ هذا هدف مقترح وليس وعدًا. نوقف الصرف اللاحق إذا كان الدليل ضعيفًا.</a:t>
            </a:r>
          </a:p>
          <a:p xmlns:a="http://schemas.openxmlformats.org/drawingml/2006/main">
            <a:r>
              <a:t/>
            </a:r>
          </a:p>
          <a:p xmlns:a="http://schemas.openxmlformats.org/drawingml/2006/main">
            <a:r>
              <a:t>عند السؤال:</a:t>
            </a:r>
          </a:p>
          <a:p xmlns:a="http://schemas.openxmlformats.org/drawingml/2006/main">
            <a:r>
              <a:t>بيانات البداية هي القيم قبل التجربة. المقارنة العادلة تساعدنا على التمييز بين أثر التجربة وأثر عوامل أخرى.</a:t>
            </a:r>
          </a:p>
          <a:p xmlns:a="http://schemas.openxmlformats.org/drawingml/2006/main">
            <a:r>
              <a:t/>
            </a:r>
          </a:p>
          <a:p xmlns:a="http://schemas.openxmlformats.org/drawingml/2006/main">
            <a:r>
              <a:t>المصادر:</a:t>
            </a:r>
          </a:p>
          <a:p xmlns:a="http://schemas.openxmlformats.org/drawingml/2006/main">
            <a:r>
              <a:t>بيانات الدورة: https://drive.google.com/file/d/1T6pweFV4EjBxZ75gge775OOYMYx2aKX0/view</a:t>
            </a:r>
          </a:p>
          <a:p xmlns:a="http://schemas.openxmlformats.org/drawingml/2006/main">
            <a:r>
              <a:t>تعريفات البيانات: https://drive.google.com/file/d/1htqVTYconACXDD28CACXOpz8VAyz8Xm5/view</a:t>
            </a:r>
          </a:p>
          <a:p xmlns:a="http://schemas.openxmlformats.org/drawingml/2006/main">
            <a:r>
              <a:t>مرجع حسابات الدورة: https://drive.google.com/file/d/1_DAzbKnnIl4dn1JN2hffwhCueJOoqPOh/view</a:t>
            </a:r>
          </a:p>
          <a:p xmlns:a="http://schemas.openxmlformats.org/drawingml/2006/main">
            <a:r>
              <a:t>جميع البيانات تدريبية اصطناعية.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7de5cf804a4d3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a3b45910464876" /><Relationship Type="http://schemas.openxmlformats.org/officeDocument/2006/relationships/slideLayout" Target="/ppt/slideLayouts/slideLayout1.xml" Id="Rfde2dd1793e3461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e2dd1793e3461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de4fdcb507d4633" /><Relationship Type="http://schemas.openxmlformats.org/officeDocument/2006/relationships/notesSlide" Target="/ppt/notesSlides/notesSlide1.xml" Id="R2020f1ec7cb549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8fb47c5fa6439f" /><Relationship Type="http://schemas.openxmlformats.org/officeDocument/2006/relationships/chart" Target="/ppt/slides/charts/chart1.xml" Id="R207862d0300849b7" /><Relationship Type="http://schemas.openxmlformats.org/officeDocument/2006/relationships/notesSlide" Target="/ppt/notesSlides/notesSlide2.xml" Id="Rfd2dbadbad4341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a8672453023407f" /><Relationship Type="http://schemas.openxmlformats.org/officeDocument/2006/relationships/chart" Target="/ppt/slides/charts/chart2.xml" Id="R0ce5e154f6e04a59" /><Relationship Type="http://schemas.openxmlformats.org/officeDocument/2006/relationships/notesSlide" Target="/ppt/notesSlides/notesSlide3.xml" Id="R44b0adb97ba541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d618c2d7ad4321" /><Relationship Type="http://schemas.openxmlformats.org/officeDocument/2006/relationships/chart" Target="/ppt/slides/charts/chart3.xml" Id="R7f7e502dc10f4f8f" /><Relationship Type="http://schemas.openxmlformats.org/officeDocument/2006/relationships/notesSlide" Target="/ppt/notesSlides/notesSlide4.xml" Id="R429bd8b3a8294f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357e4a3dc746be" /><Relationship Type="http://schemas.openxmlformats.org/officeDocument/2006/relationships/notesSlide" Target="/ppt/notesSlides/notesSlide5.xml" Id="R024356ed7ffa44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6a99b63e7444c82" /><Relationship Type="http://schemas.openxmlformats.org/officeDocument/2006/relationships/notesSlide" Target="/ppt/notesSlides/notesSlide6.xml" Id="R3235a64c31e64e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ce07c2f97b64918" /><Relationship Type="http://schemas.openxmlformats.org/officeDocument/2006/relationships/notesSlide" Target="/ppt/notesSlides/notesSlide7.xml" Id="R1cf017f6face410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Course adoption index</c:v>
          </c:tx>
          <c:spPr>
            <a:ln xmlns:a="http://schemas.openxmlformats.org/drawingml/2006/main" w="28575">
              <a:solidFill>
                <a:srgbClr val="087D82"/>
              </a:solidFill>
            </a:ln>
          </c:spPr>
          <c:marker>
            <c:symbol val="none"/>
          </c:marker>
          <c:dLbls>
            <c:dLbl>
              <c:idx val="47"/>
              <c:tx>
                <c:rich>
                  <a:bodyPr xmlns:a="http://schemas.openxmlformats.org/drawingml/2006/main"/>
                  <a:lstStyle xmlns:a="http://schemas.openxmlformats.org/drawingml/2006/main"/>
                  <a:p xmlns:a="http://schemas.openxmlformats.org/drawingml/2006/main">
                    <a:r>
                      <a:rPr sz="1575" b="1">
                        <a:latin typeface="Arial"/>
                        <a:ea typeface="Arial"/>
                        <a:cs typeface="Arial"/>
                      </a:rPr>
                      <a:t>63.33%</a:t>
                    </a:r>
                  </a:p>
                </c:rich>
              </c:tx>
              <c:txPr>
                <a:bodyPr xmlns:a="http://schemas.openxmlformats.org/drawingml/2006/main" anchorCtr="1"/>
                <a:lstStyle xmlns:a="http://schemas.openxmlformats.org/drawingml/2006/main"/>
                <a:p xmlns:a="http://schemas.openxmlformats.org/drawingml/2006/main">
                  <a:pPr>
                    <a:defRPr sz="1575" b="1">
                      <a:latin typeface="Arial"/>
                      <a:ea typeface="Arial"/>
                      <a:cs typeface="Arial"/>
                    </a:defRPr>
                  </a:pPr>
                </a:p>
              </c:txPr>
              <c:showLegendKey val="0"/>
              <c:showVal val="1"/>
              <c:showCatName val="0"/>
              <c:showSerName val="0"/>
              <c:showPercent val="0"/>
              <c:showBubbleSize val="0"/>
            </c:dLbl>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showLegendKey val="0"/>
            <c:showVal val="0"/>
            <c:showCatName val="0"/>
            <c:showSerName val="0"/>
            <c:showPercent val="0"/>
            <c:showBubbleSize val="0"/>
            <c:showLeaderLines val="0"/>
          </c:dLbls>
          <c:cat>
            <c:strRef>
              <c:f>'Chart Data'!$A$2:$A$49</c:f>
              <c:strCache>
                <c:ptCount val="48"/>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pt idx="24">
                  <c:v>2024-01</c:v>
                </c:pt>
                <c:pt idx="25">
                  <c:v>2024-02</c:v>
                </c:pt>
                <c:pt idx="26">
                  <c:v>2024-03</c:v>
                </c:pt>
                <c:pt idx="27">
                  <c:v>2024-04</c:v>
                </c:pt>
                <c:pt idx="28">
                  <c:v>2024-05</c:v>
                </c:pt>
                <c:pt idx="29">
                  <c:v>2024-06</c:v>
                </c:pt>
                <c:pt idx="30">
                  <c:v>2024-07</c:v>
                </c:pt>
                <c:pt idx="31">
                  <c:v>2024-08</c:v>
                </c:pt>
                <c:pt idx="32">
                  <c:v>2024-09</c:v>
                </c:pt>
                <c:pt idx="33">
                  <c:v>2024-10</c:v>
                </c:pt>
                <c:pt idx="34">
                  <c:v>2024-11</c:v>
                </c:pt>
                <c:pt idx="35">
                  <c:v>2024-12</c:v>
                </c:pt>
                <c:pt idx="36">
                  <c:v>2025-01</c:v>
                </c:pt>
                <c:pt idx="37">
                  <c:v>2025-02</c:v>
                </c:pt>
                <c:pt idx="38">
                  <c:v>2025-03</c:v>
                </c:pt>
                <c:pt idx="39">
                  <c:v>2025-04</c:v>
                </c:pt>
                <c:pt idx="40">
                  <c:v>2025-05</c:v>
                </c:pt>
                <c:pt idx="41">
                  <c:v>2025-06</c:v>
                </c:pt>
                <c:pt idx="42">
                  <c:v>2025-07</c:v>
                </c:pt>
                <c:pt idx="43">
                  <c:v>2025-08</c:v>
                </c:pt>
                <c:pt idx="44">
                  <c:v>2025-09</c:v>
                </c:pt>
                <c:pt idx="45">
                  <c:v>2025-10</c:v>
                </c:pt>
                <c:pt idx="46">
                  <c:v>2025-11</c:v>
                </c:pt>
                <c:pt idx="47">
                  <c:v>2025-12</c:v>
                </c:pt>
              </c:strCache>
            </c:strRef>
          </c:cat>
          <c:val>
            <c:numRef>
              <c:f>'Chart Data'!$B$2:$B$49</c:f>
              <c:numCache>
                <c:formatCode>0"%"</c:formatCode>
                <c:ptCount val="48"/>
                <c:pt idx="0">
                  <c:v>51.4</c:v>
                </c:pt>
                <c:pt idx="1">
                  <c:v>51.43</c:v>
                </c:pt>
                <c:pt idx="2">
                  <c:v>51.89</c:v>
                </c:pt>
                <c:pt idx="3">
                  <c:v>52.04</c:v>
                </c:pt>
                <c:pt idx="4">
                  <c:v>52.49</c:v>
                </c:pt>
                <c:pt idx="5">
                  <c:v>52.4</c:v>
                </c:pt>
                <c:pt idx="6">
                  <c:v>52.83</c:v>
                </c:pt>
                <c:pt idx="7">
                  <c:v>53.29</c:v>
                </c:pt>
                <c:pt idx="8">
                  <c:v>53.07</c:v>
                </c:pt>
                <c:pt idx="9">
                  <c:v>53.67</c:v>
                </c:pt>
                <c:pt idx="10">
                  <c:v>54.1</c:v>
                </c:pt>
                <c:pt idx="11">
                  <c:v>53.87</c:v>
                </c:pt>
                <c:pt idx="12">
                  <c:v>54.25</c:v>
                </c:pt>
                <c:pt idx="13">
                  <c:v>54.68</c:v>
                </c:pt>
                <c:pt idx="14">
                  <c:v>54.83</c:v>
                </c:pt>
                <c:pt idx="15">
                  <c:v>55.09</c:v>
                </c:pt>
                <c:pt idx="16">
                  <c:v>55.66</c:v>
                </c:pt>
                <c:pt idx="17">
                  <c:v>55.72</c:v>
                </c:pt>
                <c:pt idx="18">
                  <c:v>56.04</c:v>
                </c:pt>
                <c:pt idx="19">
                  <c:v>56.23</c:v>
                </c:pt>
                <c:pt idx="20">
                  <c:v>56.58</c:v>
                </c:pt>
                <c:pt idx="21">
                  <c:v>56.52</c:v>
                </c:pt>
                <c:pt idx="22">
                  <c:v>56.92</c:v>
                </c:pt>
                <c:pt idx="23">
                  <c:v>57.12</c:v>
                </c:pt>
                <c:pt idx="24">
                  <c:v>57.68</c:v>
                </c:pt>
                <c:pt idx="25">
                  <c:v>57.77</c:v>
                </c:pt>
                <c:pt idx="26">
                  <c:v>57.94</c:v>
                </c:pt>
                <c:pt idx="27">
                  <c:v>58.21</c:v>
                </c:pt>
                <c:pt idx="28">
                  <c:v>58.61</c:v>
                </c:pt>
                <c:pt idx="29">
                  <c:v>58.75</c:v>
                </c:pt>
                <c:pt idx="30">
                  <c:v>59.2</c:v>
                </c:pt>
                <c:pt idx="31">
                  <c:v>59.18</c:v>
                </c:pt>
                <c:pt idx="32">
                  <c:v>59.72</c:v>
                </c:pt>
                <c:pt idx="33">
                  <c:v>60</c:v>
                </c:pt>
                <c:pt idx="34">
                  <c:v>59.88</c:v>
                </c:pt>
                <c:pt idx="35">
                  <c:v>60.28</c:v>
                </c:pt>
                <c:pt idx="36">
                  <c:v>60.69</c:v>
                </c:pt>
                <c:pt idx="37">
                  <c:v>60.95</c:v>
                </c:pt>
                <c:pt idx="38">
                  <c:v>60.96</c:v>
                </c:pt>
                <c:pt idx="39">
                  <c:v>61.27</c:v>
                </c:pt>
                <c:pt idx="40">
                  <c:v>61.35</c:v>
                </c:pt>
                <c:pt idx="41">
                  <c:v>61.94</c:v>
                </c:pt>
                <c:pt idx="42">
                  <c:v>62.16</c:v>
                </c:pt>
                <c:pt idx="43">
                  <c:v>62.41</c:v>
                </c:pt>
                <c:pt idx="44">
                  <c:v>62.72</c:v>
                </c:pt>
                <c:pt idx="45">
                  <c:v>62.88</c:v>
                </c:pt>
                <c:pt idx="46">
                  <c:v>63.13</c:v>
                </c:pt>
                <c:pt idx="47">
                  <c:v>63.33</c:v>
                </c:pt>
              </c:numCache>
            </c:numRef>
          </c:val>
        </c:ser>
        <c:ser>
          <c:idx val="1"/>
          <c:order val="1"/>
          <c:tx>
            <c:v>65% target</c:v>
          </c:tx>
          <c:spPr>
            <a:ln xmlns:a="http://schemas.openxmlformats.org/drawingml/2006/main" w="19050">
              <a:solidFill>
                <a:srgbClr val="B45C16"/>
              </a:solidFill>
              <a:prstDash val="dash"/>
            </a:ln>
          </c:spPr>
          <c:marker>
            <c:symbol val="none"/>
          </c:marker>
          <c:dLbls>
            <c:dLbl>
              <c:idx val="5"/>
              <c:tx>
                <c:rich>
                  <a:bodyPr xmlns:a="http://schemas.openxmlformats.org/drawingml/2006/main"/>
                  <a:lstStyle xmlns:a="http://schemas.openxmlformats.org/drawingml/2006/main"/>
                  <a:p xmlns:a="http://schemas.openxmlformats.org/drawingml/2006/main">
                    <a:r>
                      <a:rPr sz="1575" b="1">
                        <a:latin typeface="Arial"/>
                        <a:ea typeface="Arial"/>
                        <a:cs typeface="Arial"/>
                      </a:rPr>
                      <a:t>65% target</a:t>
                    </a:r>
                  </a:p>
                </c:rich>
              </c:tx>
              <c:txPr>
                <a:bodyPr xmlns:a="http://schemas.openxmlformats.org/drawingml/2006/main" anchorCtr="1"/>
                <a:lstStyle xmlns:a="http://schemas.openxmlformats.org/drawingml/2006/main"/>
                <a:p xmlns:a="http://schemas.openxmlformats.org/drawingml/2006/main">
                  <a:pPr>
                    <a:defRPr sz="1575" b="1">
                      <a:latin typeface="Arial"/>
                      <a:ea typeface="Arial"/>
                      <a:cs typeface="Arial"/>
                    </a:defRPr>
                  </a:pPr>
                </a:p>
              </c:txPr>
              <c:showLegendKey val="0"/>
              <c:showVal val="1"/>
              <c:showCatName val="0"/>
              <c:showSerName val="0"/>
              <c:showPercent val="0"/>
              <c:showBubbleSize val="0"/>
            </c:dLbl>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showLegendKey val="0"/>
            <c:showVal val="0"/>
            <c:showCatName val="0"/>
            <c:showSerName val="0"/>
            <c:showPercent val="0"/>
            <c:showBubbleSize val="0"/>
            <c:showLeaderLines val="0"/>
          </c:dLbls>
          <c:cat>
            <c:strRef>
              <c:f>'Chart Data'!$C$2:$C$49</c:f>
              <c:strCache>
                <c:ptCount val="48"/>
                <c:pt idx="0">
                  <c:v>2022-01</c:v>
                </c:pt>
                <c:pt idx="1">
                  <c:v>2022-02</c:v>
                </c:pt>
                <c:pt idx="2">
                  <c:v>2022-03</c:v>
                </c:pt>
                <c:pt idx="3">
                  <c:v>2022-04</c:v>
                </c:pt>
                <c:pt idx="4">
                  <c:v>2022-05</c:v>
                </c:pt>
                <c:pt idx="5">
                  <c:v>2022-06</c:v>
                </c:pt>
                <c:pt idx="6">
                  <c:v>2022-07</c:v>
                </c:pt>
                <c:pt idx="7">
                  <c:v>2022-08</c:v>
                </c:pt>
                <c:pt idx="8">
                  <c:v>2022-09</c:v>
                </c:pt>
                <c:pt idx="9">
                  <c:v>2022-10</c:v>
                </c:pt>
                <c:pt idx="10">
                  <c:v>2022-11</c:v>
                </c:pt>
                <c:pt idx="11">
                  <c:v>2022-12</c:v>
                </c:pt>
                <c:pt idx="12">
                  <c:v>2023-01</c:v>
                </c:pt>
                <c:pt idx="13">
                  <c:v>2023-02</c:v>
                </c:pt>
                <c:pt idx="14">
                  <c:v>2023-03</c:v>
                </c:pt>
                <c:pt idx="15">
                  <c:v>2023-04</c:v>
                </c:pt>
                <c:pt idx="16">
                  <c:v>2023-05</c:v>
                </c:pt>
                <c:pt idx="17">
                  <c:v>2023-06</c:v>
                </c:pt>
                <c:pt idx="18">
                  <c:v>2023-07</c:v>
                </c:pt>
                <c:pt idx="19">
                  <c:v>2023-08</c:v>
                </c:pt>
                <c:pt idx="20">
                  <c:v>2023-09</c:v>
                </c:pt>
                <c:pt idx="21">
                  <c:v>2023-10</c:v>
                </c:pt>
                <c:pt idx="22">
                  <c:v>2023-11</c:v>
                </c:pt>
                <c:pt idx="23">
                  <c:v>2023-12</c:v>
                </c:pt>
                <c:pt idx="24">
                  <c:v>2024-01</c:v>
                </c:pt>
                <c:pt idx="25">
                  <c:v>2024-02</c:v>
                </c:pt>
                <c:pt idx="26">
                  <c:v>2024-03</c:v>
                </c:pt>
                <c:pt idx="27">
                  <c:v>2024-04</c:v>
                </c:pt>
                <c:pt idx="28">
                  <c:v>2024-05</c:v>
                </c:pt>
                <c:pt idx="29">
                  <c:v>2024-06</c:v>
                </c:pt>
                <c:pt idx="30">
                  <c:v>2024-07</c:v>
                </c:pt>
                <c:pt idx="31">
                  <c:v>2024-08</c:v>
                </c:pt>
                <c:pt idx="32">
                  <c:v>2024-09</c:v>
                </c:pt>
                <c:pt idx="33">
                  <c:v>2024-10</c:v>
                </c:pt>
                <c:pt idx="34">
                  <c:v>2024-11</c:v>
                </c:pt>
                <c:pt idx="35">
                  <c:v>2024-12</c:v>
                </c:pt>
                <c:pt idx="36">
                  <c:v>2025-01</c:v>
                </c:pt>
                <c:pt idx="37">
                  <c:v>2025-02</c:v>
                </c:pt>
                <c:pt idx="38">
                  <c:v>2025-03</c:v>
                </c:pt>
                <c:pt idx="39">
                  <c:v>2025-04</c:v>
                </c:pt>
                <c:pt idx="40">
                  <c:v>2025-05</c:v>
                </c:pt>
                <c:pt idx="41">
                  <c:v>2025-06</c:v>
                </c:pt>
                <c:pt idx="42">
                  <c:v>2025-07</c:v>
                </c:pt>
                <c:pt idx="43">
                  <c:v>2025-08</c:v>
                </c:pt>
                <c:pt idx="44">
                  <c:v>2025-09</c:v>
                </c:pt>
                <c:pt idx="45">
                  <c:v>2025-10</c:v>
                </c:pt>
                <c:pt idx="46">
                  <c:v>2025-11</c:v>
                </c:pt>
                <c:pt idx="47">
                  <c:v>2025-12</c:v>
                </c:pt>
              </c:strCache>
            </c:strRef>
          </c:cat>
          <c:val>
            <c:numRef>
              <c:f>'Chart Data'!$D$2:$D$49</c:f>
              <c:numCache>
                <c:formatCode>0"%"</c:formatCode>
                <c:ptCount val="48"/>
                <c:pt idx="0">
                  <c:v>65</c:v>
                </c:pt>
                <c:pt idx="1">
                  <c:v>65</c:v>
                </c:pt>
                <c:pt idx="2">
                  <c:v>65</c:v>
                </c:pt>
                <c:pt idx="3">
                  <c:v>65</c:v>
                </c:pt>
                <c:pt idx="4">
                  <c:v>65</c:v>
                </c:pt>
                <c:pt idx="5">
                  <c:v>65</c:v>
                </c:pt>
                <c:pt idx="6">
                  <c:v>65</c:v>
                </c:pt>
                <c:pt idx="7">
                  <c:v>65</c:v>
                </c:pt>
                <c:pt idx="8">
                  <c:v>65</c:v>
                </c:pt>
                <c:pt idx="9">
                  <c:v>65</c:v>
                </c:pt>
                <c:pt idx="10">
                  <c:v>65</c:v>
                </c:pt>
                <c:pt idx="11">
                  <c:v>65</c:v>
                </c:pt>
                <c:pt idx="12">
                  <c:v>65</c:v>
                </c:pt>
                <c:pt idx="13">
                  <c:v>65</c:v>
                </c:pt>
                <c:pt idx="14">
                  <c:v>65</c:v>
                </c:pt>
                <c:pt idx="15">
                  <c:v>65</c:v>
                </c:pt>
                <c:pt idx="16">
                  <c:v>65</c:v>
                </c:pt>
                <c:pt idx="17">
                  <c:v>65</c:v>
                </c:pt>
                <c:pt idx="18">
                  <c:v>65</c:v>
                </c:pt>
                <c:pt idx="19">
                  <c:v>65</c:v>
                </c:pt>
                <c:pt idx="20">
                  <c:v>65</c:v>
                </c:pt>
                <c:pt idx="21">
                  <c:v>65</c:v>
                </c:pt>
                <c:pt idx="22">
                  <c:v>65</c:v>
                </c:pt>
                <c:pt idx="23">
                  <c:v>65</c:v>
                </c:pt>
                <c:pt idx="24">
                  <c:v>65</c:v>
                </c:pt>
                <c:pt idx="25">
                  <c:v>65</c:v>
                </c:pt>
                <c:pt idx="26">
                  <c:v>65</c:v>
                </c:pt>
                <c:pt idx="27">
                  <c:v>65</c:v>
                </c:pt>
                <c:pt idx="28">
                  <c:v>65</c:v>
                </c:pt>
                <c:pt idx="29">
                  <c:v>65</c:v>
                </c:pt>
                <c:pt idx="30">
                  <c:v>65</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65</c:v>
                </c:pt>
                <c:pt idx="46">
                  <c:v>65</c:v>
                </c:pt>
                <c:pt idx="47">
                  <c:v>65</c:v>
                </c:pt>
              </c:numCache>
            </c:numRef>
          </c:val>
        </c:ser>
        <c:dLbls>
          <c:txPr>
            <a:bodyPr xmlns:a="http://schemas.openxmlformats.org/drawingml/2006/main" anchorCtr="1"/>
            <a:lstStyle xmlns:a="http://schemas.openxmlformats.org/drawingml/2006/main"/>
            <a:p xmlns:a="http://schemas.openxmlformats.org/drawingml/2006/main">
              <a:pPr>
                <a:defRPr sz="1350">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E3E9EA"/>
              </a:solidFill>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majorUnit val="2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Regional adoption</c:v>
          </c:tx>
          <c:spPr>
            <a:solidFill xmlns:a="http://schemas.openxmlformats.org/drawingml/2006/main">
              <a:srgbClr val="D7E5E6"/>
            </a:solidFill>
          </c:spPr>
          <c:dPt>
            <c:idx val="0"/>
            <c:invertIfNegative val="0"/>
            <c:spPr>
              <a:solidFill xmlns:a="http://schemas.openxmlformats.org/drawingml/2006/main">
                <a:srgbClr val="D7E5E6"/>
              </a:solidFill>
            </c:spPr>
          </c:dPt>
          <c:dPt>
            <c:idx val="1"/>
            <c:invertIfNegative val="0"/>
            <c:spPr>
              <a:solidFill xmlns:a="http://schemas.openxmlformats.org/drawingml/2006/main">
                <a:srgbClr val="D7E5E6"/>
              </a:solidFill>
            </c:spPr>
          </c:dPt>
          <c:dPt>
            <c:idx val="2"/>
            <c:invertIfNegative val="0"/>
            <c:spPr>
              <a:solidFill xmlns:a="http://schemas.openxmlformats.org/drawingml/2006/main">
                <a:srgbClr val="D7E5E6"/>
              </a:solidFill>
            </c:spPr>
          </c:dPt>
          <c:dPt>
            <c:idx val="3"/>
            <c:invertIfNegative val="0"/>
            <c:spPr>
              <a:solidFill xmlns:a="http://schemas.openxmlformats.org/drawingml/2006/main">
                <a:srgbClr val="D7E5E6"/>
              </a:solidFill>
            </c:spPr>
          </c:dPt>
          <c:dPt>
            <c:idx val="4"/>
            <c:invertIfNegative val="0"/>
            <c:spPr>
              <a:solidFill xmlns:a="http://schemas.openxmlformats.org/drawingml/2006/main">
                <a:srgbClr val="D7E5E6"/>
              </a:solidFill>
            </c:spPr>
          </c:dPt>
          <c:dPt>
            <c:idx val="5"/>
            <c:invertIfNegative val="0"/>
            <c:spPr>
              <a:solidFill xmlns:a="http://schemas.openxmlformats.org/drawingml/2006/main">
                <a:srgbClr val="D7E5E6"/>
              </a:solidFill>
            </c:spPr>
          </c:dPt>
          <c:dPt>
            <c:idx val="6"/>
            <c:invertIfNegative val="0"/>
            <c:spPr>
              <a:solidFill xmlns:a="http://schemas.openxmlformats.org/drawingml/2006/main">
                <a:srgbClr val="D7E5E6"/>
              </a:solidFill>
            </c:spPr>
          </c:dPt>
          <c:dPt>
            <c:idx val="7"/>
            <c:invertIfNegative val="0"/>
            <c:spPr>
              <a:solidFill xmlns:a="http://schemas.openxmlformats.org/drawingml/2006/main">
                <a:srgbClr val="D7E5E6"/>
              </a:solidFill>
            </c:spPr>
          </c:dPt>
          <c:dPt>
            <c:idx val="8"/>
            <c:invertIfNegative val="0"/>
            <c:spPr>
              <a:solidFill xmlns:a="http://schemas.openxmlformats.org/drawingml/2006/main">
                <a:srgbClr val="D7E5E6"/>
              </a:solidFill>
            </c:spPr>
          </c:dPt>
          <c:dPt>
            <c:idx val="9"/>
            <c:invertIfNegative val="0"/>
            <c:spPr>
              <a:solidFill xmlns:a="http://schemas.openxmlformats.org/drawingml/2006/main">
                <a:srgbClr val="087D82"/>
              </a:solidFill>
            </c:spPr>
          </c:dPt>
          <c:dPt>
            <c:idx val="10"/>
            <c:invertIfNegative val="0"/>
            <c:spPr>
              <a:solidFill xmlns:a="http://schemas.openxmlformats.org/drawingml/2006/main">
                <a:srgbClr val="087D82"/>
              </a:solidFill>
            </c:spPr>
          </c:dPt>
          <c:dPt>
            <c:idx val="11"/>
            <c:invertIfNegative val="0"/>
            <c:spPr>
              <a:solidFill xmlns:a="http://schemas.openxmlformats.org/drawingml/2006/main">
                <a:srgbClr val="D7E5E6"/>
              </a:solidFill>
            </c:spPr>
          </c:dPt>
          <c:dPt>
            <c:idx val="12"/>
            <c:invertIfNegative val="0"/>
            <c:spPr>
              <a:solidFill xmlns:a="http://schemas.openxmlformats.org/drawingml/2006/main">
                <a:srgbClr val="087D82"/>
              </a:solidFill>
            </c:spPr>
          </c:dPt>
          <c:dLbls>
            <c:dLbl>
              <c:idx val="0"/>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69.13%</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68.07%</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66.62%</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65.84%</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4"/>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63.90%</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5"/>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62.54%</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6"/>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62.25%</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7"/>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62.18%</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8"/>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61.79%</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9"/>
              <c:tx>
                <c:rich>
                  <a:bodyPr xmlns:a="http://schemas.openxmlformats.org/drawingml/2006/main"/>
                  <a:lstStyle xmlns:a="http://schemas.openxmlformats.org/drawingml/2006/main"/>
                  <a:p xmlns:a="http://schemas.openxmlformats.org/drawingml/2006/main">
                    <a:r>
                      <a:rPr sz="1425">
                        <a:solidFill>
                          <a:srgbClr val="FFFFFF"/>
                        </a:solidFill>
                        <a:latin typeface="Arial"/>
                        <a:ea typeface="Arial"/>
                        <a:cs typeface="Arial"/>
                      </a:rPr>
                      <a:t>60.91%</a:t>
                    </a:r>
                  </a:p>
                </c:rich>
              </c:tx>
              <c:txPr>
                <a:bodyPr xmlns:a="http://schemas.openxmlformats.org/drawingml/2006/main" anchorCtr="1"/>
                <a:lstStyle xmlns:a="http://schemas.openxmlformats.org/drawingml/2006/main"/>
                <a:p xmlns:a="http://schemas.openxmlformats.org/drawingml/2006/main">
                  <a:pPr>
                    <a:defRPr sz="1425">
                      <a:solidFill>
                        <a:srgbClr val="FFFFFF"/>
                      </a:solidFill>
                      <a:latin typeface="Arial"/>
                      <a:ea typeface="Arial"/>
                      <a:cs typeface="Arial"/>
                    </a:defRPr>
                  </a:pPr>
                </a:p>
              </c:txPr>
              <c:dLblPos val="ctr"/>
              <c:showLegendKey val="0"/>
              <c:showVal val="1"/>
              <c:showCatName val="0"/>
              <c:showSerName val="0"/>
              <c:showPercent val="0"/>
              <c:showBubbleSize val="0"/>
            </c:dLbl>
            <c:dLbl>
              <c:idx val="10"/>
              <c:tx>
                <c:rich>
                  <a:bodyPr xmlns:a="http://schemas.openxmlformats.org/drawingml/2006/main"/>
                  <a:lstStyle xmlns:a="http://schemas.openxmlformats.org/drawingml/2006/main"/>
                  <a:p xmlns:a="http://schemas.openxmlformats.org/drawingml/2006/main">
                    <a:r>
                      <a:rPr sz="1425">
                        <a:solidFill>
                          <a:srgbClr val="FFFFFF"/>
                        </a:solidFill>
                        <a:latin typeface="Arial"/>
                        <a:ea typeface="Arial"/>
                        <a:cs typeface="Arial"/>
                      </a:rPr>
                      <a:t>60.66%</a:t>
                    </a:r>
                  </a:p>
                </c:rich>
              </c:tx>
              <c:txPr>
                <a:bodyPr xmlns:a="http://schemas.openxmlformats.org/drawingml/2006/main" anchorCtr="1"/>
                <a:lstStyle xmlns:a="http://schemas.openxmlformats.org/drawingml/2006/main"/>
                <a:p xmlns:a="http://schemas.openxmlformats.org/drawingml/2006/main">
                  <a:pPr>
                    <a:defRPr sz="1425">
                      <a:solidFill>
                        <a:srgbClr val="FFFFFF"/>
                      </a:solidFill>
                      <a:latin typeface="Arial"/>
                      <a:ea typeface="Arial"/>
                      <a:cs typeface="Arial"/>
                    </a:defRPr>
                  </a:pPr>
                </a:p>
              </c:txPr>
              <c:dLblPos val="ctr"/>
              <c:showLegendKey val="0"/>
              <c:showVal val="1"/>
              <c:showCatName val="0"/>
              <c:showSerName val="0"/>
              <c:showPercent val="0"/>
              <c:showBubbleSize val="0"/>
            </c:dLbl>
            <c:dLbl>
              <c:idx val="11"/>
              <c:tx>
                <c:rich>
                  <a:bodyPr xmlns:a="http://schemas.openxmlformats.org/drawingml/2006/main"/>
                  <a:lstStyle xmlns:a="http://schemas.openxmlformats.org/drawingml/2006/main"/>
                  <a:p xmlns:a="http://schemas.openxmlformats.org/drawingml/2006/main">
                    <a:r>
                      <a:rPr sz="1425">
                        <a:solidFill>
                          <a:srgbClr val="15363D"/>
                        </a:solidFill>
                        <a:latin typeface="Arial"/>
                        <a:ea typeface="Arial"/>
                        <a:cs typeface="Arial"/>
                      </a:rPr>
                      <a:t>60.50%</a:t>
                    </a:r>
                  </a:p>
                </c:rich>
              </c:tx>
              <c:txPr>
                <a:bodyPr xmlns:a="http://schemas.openxmlformats.org/drawingml/2006/main" anchorCtr="1"/>
                <a:lstStyle xmlns:a="http://schemas.openxmlformats.org/drawingml/2006/main"/>
                <a:p xmlns:a="http://schemas.openxmlformats.org/drawingml/2006/main">
                  <a:pPr>
                    <a:defRPr sz="1425">
                      <a:solidFill>
                        <a:srgbClr val="15363D"/>
                      </a:solidFill>
                      <a:latin typeface="Arial"/>
                      <a:ea typeface="Arial"/>
                      <a:cs typeface="Arial"/>
                    </a:defRPr>
                  </a:pPr>
                </a:p>
              </c:txPr>
              <c:dLblPos val="ctr"/>
              <c:showLegendKey val="0"/>
              <c:showVal val="1"/>
              <c:showCatName val="0"/>
              <c:showSerName val="0"/>
              <c:showPercent val="0"/>
              <c:showBubbleSize val="0"/>
            </c:dLbl>
            <c:dLbl>
              <c:idx val="12"/>
              <c:tx>
                <c:rich>
                  <a:bodyPr xmlns:a="http://schemas.openxmlformats.org/drawingml/2006/main"/>
                  <a:lstStyle xmlns:a="http://schemas.openxmlformats.org/drawingml/2006/main"/>
                  <a:p xmlns:a="http://schemas.openxmlformats.org/drawingml/2006/main">
                    <a:r>
                      <a:rPr sz="1425">
                        <a:solidFill>
                          <a:srgbClr val="FFFFFF"/>
                        </a:solidFill>
                        <a:latin typeface="Arial"/>
                        <a:ea typeface="Arial"/>
                        <a:cs typeface="Arial"/>
                      </a:rPr>
                      <a:t>58.89%</a:t>
                    </a:r>
                  </a:p>
                </c:rich>
              </c:tx>
              <c:txPr>
                <a:bodyPr xmlns:a="http://schemas.openxmlformats.org/drawingml/2006/main" anchorCtr="1"/>
                <a:lstStyle xmlns:a="http://schemas.openxmlformats.org/drawingml/2006/main"/>
                <a:p xmlns:a="http://schemas.openxmlformats.org/drawingml/2006/main">
                  <a:pPr>
                    <a:defRPr sz="1425">
                      <a:solidFill>
                        <a:srgbClr val="FFFFFF"/>
                      </a:solidFill>
                      <a:latin typeface="Arial"/>
                      <a:ea typeface="Arial"/>
                      <a:cs typeface="Arial"/>
                    </a:defRPr>
                  </a:pPr>
                </a:p>
              </c:txPr>
              <c:dLblPos val="ctr"/>
              <c:showLegendKey val="0"/>
              <c:showVal val="1"/>
              <c:showCatName val="0"/>
              <c:showSerName val="0"/>
              <c:showPercent val="0"/>
              <c:showBubbleSize val="0"/>
            </c:dLbl>
          </c:dLbls>
          <c:cat>
            <c:strRef>
              <c:f>'Chart Data'!$A$2:$A$14</c:f>
              <c:strCache>
                <c:ptCount val="13"/>
                <c:pt idx="0">
                  <c:v>Riyadh</c:v>
                </c:pt>
                <c:pt idx="1">
                  <c:v>Makkah</c:v>
                </c:pt>
                <c:pt idx="2">
                  <c:v>Eastern Province</c:v>
                </c:pt>
                <c:pt idx="3">
                  <c:v>Madinah</c:v>
                </c:pt>
                <c:pt idx="4">
                  <c:v>Qassim</c:v>
                </c:pt>
                <c:pt idx="5">
                  <c:v>Hail</c:v>
                </c:pt>
                <c:pt idx="6">
                  <c:v>Asir</c:v>
                </c:pt>
                <c:pt idx="7">
                  <c:v>Al-Jouf</c:v>
                </c:pt>
                <c:pt idx="8">
                  <c:v>Tabuk</c:v>
                </c:pt>
                <c:pt idx="9">
                  <c:v>Northern Borders</c:v>
                </c:pt>
                <c:pt idx="10">
                  <c:v>Jazan</c:v>
                </c:pt>
                <c:pt idx="11">
                  <c:v>Al-Baha</c:v>
                </c:pt>
                <c:pt idx="12">
                  <c:v>Najran</c:v>
                </c:pt>
              </c:strCache>
            </c:strRef>
          </c:cat>
          <c:val>
            <c:numRef>
              <c:f>'Chart Data'!$B$2:$B$14</c:f>
              <c:numCache>
                <c:formatCode>0"%"</c:formatCode>
                <c:ptCount val="13"/>
                <c:pt idx="0">
                  <c:v>69.13</c:v>
                </c:pt>
                <c:pt idx="1">
                  <c:v>68.07</c:v>
                </c:pt>
                <c:pt idx="2">
                  <c:v>66.62</c:v>
                </c:pt>
                <c:pt idx="3">
                  <c:v>65.84</c:v>
                </c:pt>
                <c:pt idx="4">
                  <c:v>63.9</c:v>
                </c:pt>
                <c:pt idx="5">
                  <c:v>62.54</c:v>
                </c:pt>
                <c:pt idx="6">
                  <c:v>62.25</c:v>
                </c:pt>
                <c:pt idx="7">
                  <c:v>62.18</c:v>
                </c:pt>
                <c:pt idx="8">
                  <c:v>61.79</c:v>
                </c:pt>
                <c:pt idx="9">
                  <c:v>60.91</c:v>
                </c:pt>
                <c:pt idx="10">
                  <c:v>60.66</c:v>
                </c:pt>
                <c:pt idx="11">
                  <c:v>60.5</c:v>
                </c:pt>
                <c:pt idx="12">
                  <c:v>58.89</c:v>
                </c:pt>
              </c:numCache>
            </c:numRef>
          </c:val>
        </c:ser>
        <c:dLbls>
          <c:txPr>
            <a:bodyPr xmlns:a="http://schemas.openxmlformats.org/drawingml/2006/main" anchorCtr="1"/>
            <a:lstStyle xmlns:a="http://schemas.openxmlformats.org/drawingml/2006/main"/>
            <a:p xmlns:a="http://schemas.openxmlformats.org/drawingml/2006/main">
              <a:pPr>
                <a:defRPr sz="1425">
                  <a:latin typeface="Arial"/>
                  <a:ea typeface="Arial"/>
                  <a:cs typeface="Arial"/>
                </a:defRPr>
              </a:pPr>
            </a:p>
          </c:txPr>
          <c:dLblPos val="ctr"/>
          <c:showLegendKey val="0"/>
          <c:showVal val="1"/>
          <c:showCatName val="0"/>
          <c:showSerName val="0"/>
          <c:showPercent val="0"/>
          <c:showBubbleSize val="0"/>
          <c:showLeaderLines val="0"/>
        </c:dLbls>
        <c:gapWidth val="38"/>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catAx>
      <c:valAx>
        <c:axId val="48672768"/>
        <c:scaling>
          <c:orientation val="minMax"/>
          <c:max val="100"/>
          <c:min val="0"/>
        </c:scaling>
        <c:delete val="0"/>
        <c:axPos val="b"/>
        <c:majorGridlines>
          <c:spPr>
            <a:ln xmlns:a="http://schemas.openxmlformats.org/drawingml/2006/main" w="9525">
              <a:solidFill>
                <a:srgbClr val="E3E9EA"/>
              </a:solidFill>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Gap and activity priority index</c:v>
          </c:tx>
          <c:spPr>
            <a:solidFill xmlns:a="http://schemas.openxmlformats.org/drawingml/2006/main">
              <a:srgbClr val="D7E5E6"/>
            </a:solidFill>
          </c:spPr>
          <c:dPt>
            <c:idx val="0"/>
            <c:invertIfNegative val="0"/>
            <c:spPr>
              <a:solidFill xmlns:a="http://schemas.openxmlformats.org/drawingml/2006/main">
                <a:srgbClr val="D7E5E6"/>
              </a:solidFill>
            </c:spPr>
          </c:dPt>
          <c:dPt>
            <c:idx val="1"/>
            <c:invertIfNegative val="0"/>
            <c:spPr>
              <a:solidFill xmlns:a="http://schemas.openxmlformats.org/drawingml/2006/main">
                <a:srgbClr val="D7E5E6"/>
              </a:solidFill>
            </c:spPr>
          </c:dPt>
          <c:dPt>
            <c:idx val="2"/>
            <c:invertIfNegative val="0"/>
            <c:spPr>
              <a:solidFill xmlns:a="http://schemas.openxmlformats.org/drawingml/2006/main">
                <a:srgbClr val="D7E5E6"/>
              </a:solidFill>
            </c:spPr>
          </c:dPt>
          <c:dPt>
            <c:idx val="3"/>
            <c:invertIfNegative val="0"/>
            <c:spPr>
              <a:solidFill xmlns:a="http://schemas.openxmlformats.org/drawingml/2006/main">
                <a:srgbClr val="D7E5E6"/>
              </a:solidFill>
            </c:spPr>
          </c:dPt>
          <c:dPt>
            <c:idx val="4"/>
            <c:invertIfNegative val="0"/>
            <c:spPr>
              <a:solidFill xmlns:a="http://schemas.openxmlformats.org/drawingml/2006/main">
                <a:srgbClr val="D7E5E6"/>
              </a:solidFill>
            </c:spPr>
          </c:dPt>
          <c:dPt>
            <c:idx val="5"/>
            <c:invertIfNegative val="0"/>
            <c:spPr>
              <a:solidFill xmlns:a="http://schemas.openxmlformats.org/drawingml/2006/main">
                <a:srgbClr val="E6B687"/>
              </a:solidFill>
            </c:spPr>
          </c:dPt>
          <c:dPt>
            <c:idx val="6"/>
            <c:invertIfNegative val="0"/>
            <c:spPr>
              <a:solidFill xmlns:a="http://schemas.openxmlformats.org/drawingml/2006/main">
                <a:srgbClr val="087D82"/>
              </a:solidFill>
            </c:spPr>
          </c:dPt>
          <c:dPt>
            <c:idx val="7"/>
            <c:invertIfNegative val="0"/>
            <c:spPr>
              <a:solidFill xmlns:a="http://schemas.openxmlformats.org/drawingml/2006/main">
                <a:srgbClr val="087D82"/>
              </a:solidFill>
            </c:spPr>
          </c:dPt>
          <c:dPt>
            <c:idx val="8"/>
            <c:invertIfNegative val="0"/>
            <c:spPr>
              <a:solidFill xmlns:a="http://schemas.openxmlformats.org/drawingml/2006/main">
                <a:srgbClr val="087D82"/>
              </a:solidFill>
            </c:spPr>
          </c:dPt>
          <c:dLbls>
            <c:dLbl>
              <c:idx val="0"/>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156.20</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302.17</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327.80</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360.78</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4"/>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388.93</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5"/>
              <c:tx>
                <c:rich>
                  <a:bodyPr xmlns:a="http://schemas.openxmlformats.org/drawingml/2006/main"/>
                  <a:lstStyle xmlns:a="http://schemas.openxmlformats.org/drawingml/2006/main"/>
                  <a:p xmlns:a="http://schemas.openxmlformats.org/drawingml/2006/main">
                    <a:r>
                      <a:rPr sz="1500">
                        <a:solidFill>
                          <a:srgbClr val="15363D"/>
                        </a:solidFill>
                        <a:latin typeface="Arial"/>
                        <a:ea typeface="Arial"/>
                        <a:cs typeface="Arial"/>
                      </a:rPr>
                      <a:t>445.60</a:t>
                    </a:r>
                  </a:p>
                </c:rich>
              </c:tx>
              <c:txPr>
                <a:bodyPr xmlns:a="http://schemas.openxmlformats.org/drawingml/2006/main" anchorCtr="1"/>
                <a:lstStyle xmlns:a="http://schemas.openxmlformats.org/drawingml/2006/main"/>
                <a:p xmlns:a="http://schemas.openxmlformats.org/drawingml/2006/main">
                  <a:pPr>
                    <a:defRPr sz="1500">
                      <a:solidFill>
                        <a:srgbClr val="15363D"/>
                      </a:solidFill>
                      <a:latin typeface="Arial"/>
                      <a:ea typeface="Arial"/>
                      <a:cs typeface="Arial"/>
                    </a:defRPr>
                  </a:pPr>
                </a:p>
              </c:txPr>
              <c:dLblPos val="ctr"/>
              <c:showLegendKey val="0"/>
              <c:showVal val="1"/>
              <c:showCatName val="0"/>
              <c:showSerName val="0"/>
              <c:showPercent val="0"/>
              <c:showBubbleSize val="0"/>
            </c:dLbl>
            <c:dLbl>
              <c:idx val="6"/>
              <c:tx>
                <c:rich>
                  <a:bodyPr xmlns:a="http://schemas.openxmlformats.org/drawingml/2006/main"/>
                  <a:lstStyle xmlns:a="http://schemas.openxmlformats.org/drawingml/2006/main"/>
                  <a:p xmlns:a="http://schemas.openxmlformats.org/drawingml/2006/main">
                    <a:r>
                      <a:rPr sz="1500">
                        <a:solidFill>
                          <a:srgbClr val="FFFFFF"/>
                        </a:solidFill>
                        <a:latin typeface="Arial"/>
                        <a:ea typeface="Arial"/>
                        <a:cs typeface="Arial"/>
                      </a:rPr>
                      <a:t>446.26</a:t>
                    </a:r>
                  </a:p>
                </c:rich>
              </c:tx>
              <c:txPr>
                <a:bodyPr xmlns:a="http://schemas.openxmlformats.org/drawingml/2006/main" anchorCtr="1"/>
                <a:lstStyle xmlns:a="http://schemas.openxmlformats.org/drawingml/2006/main"/>
                <a:p xmlns:a="http://schemas.openxmlformats.org/drawingml/2006/main">
                  <a:pPr>
                    <a:defRPr sz="1500">
                      <a:solidFill>
                        <a:srgbClr val="FFFFFF"/>
                      </a:solidFill>
                      <a:latin typeface="Arial"/>
                      <a:ea typeface="Arial"/>
                      <a:cs typeface="Arial"/>
                    </a:defRPr>
                  </a:pPr>
                </a:p>
              </c:txPr>
              <c:dLblPos val="ctr"/>
              <c:showLegendKey val="0"/>
              <c:showVal val="1"/>
              <c:showCatName val="0"/>
              <c:showSerName val="0"/>
              <c:showPercent val="0"/>
              <c:showBubbleSize val="0"/>
            </c:dLbl>
            <c:dLbl>
              <c:idx val="7"/>
              <c:tx>
                <c:rich>
                  <a:bodyPr xmlns:a="http://schemas.openxmlformats.org/drawingml/2006/main"/>
                  <a:lstStyle xmlns:a="http://schemas.openxmlformats.org/drawingml/2006/main"/>
                  <a:p xmlns:a="http://schemas.openxmlformats.org/drawingml/2006/main">
                    <a:r>
                      <a:rPr sz="1500">
                        <a:solidFill>
                          <a:srgbClr val="FFFFFF"/>
                        </a:solidFill>
                        <a:latin typeface="Arial"/>
                        <a:ea typeface="Arial"/>
                        <a:cs typeface="Arial"/>
                      </a:rPr>
                      <a:t>455.08</a:t>
                    </a:r>
                  </a:p>
                </c:rich>
              </c:tx>
              <c:txPr>
                <a:bodyPr xmlns:a="http://schemas.openxmlformats.org/drawingml/2006/main" anchorCtr="1"/>
                <a:lstStyle xmlns:a="http://schemas.openxmlformats.org/drawingml/2006/main"/>
                <a:p xmlns:a="http://schemas.openxmlformats.org/drawingml/2006/main">
                  <a:pPr>
                    <a:defRPr sz="1500">
                      <a:solidFill>
                        <a:srgbClr val="FFFFFF"/>
                      </a:solidFill>
                      <a:latin typeface="Arial"/>
                      <a:ea typeface="Arial"/>
                      <a:cs typeface="Arial"/>
                    </a:defRPr>
                  </a:pPr>
                </a:p>
              </c:txPr>
              <c:dLblPos val="ctr"/>
              <c:showLegendKey val="0"/>
              <c:showVal val="1"/>
              <c:showCatName val="0"/>
              <c:showSerName val="0"/>
              <c:showPercent val="0"/>
              <c:showBubbleSize val="0"/>
            </c:dLbl>
            <c:dLbl>
              <c:idx val="8"/>
              <c:tx>
                <c:rich>
                  <a:bodyPr xmlns:a="http://schemas.openxmlformats.org/drawingml/2006/main"/>
                  <a:lstStyle xmlns:a="http://schemas.openxmlformats.org/drawingml/2006/main"/>
                  <a:p xmlns:a="http://schemas.openxmlformats.org/drawingml/2006/main">
                    <a:r>
                      <a:rPr sz="1500">
                        <a:solidFill>
                          <a:srgbClr val="FFFFFF"/>
                        </a:solidFill>
                        <a:latin typeface="Arial"/>
                        <a:ea typeface="Arial"/>
                        <a:cs typeface="Arial"/>
                      </a:rPr>
                      <a:t>570.12</a:t>
                    </a:r>
                  </a:p>
                </c:rich>
              </c:tx>
              <c:txPr>
                <a:bodyPr xmlns:a="http://schemas.openxmlformats.org/drawingml/2006/main" anchorCtr="1"/>
                <a:lstStyle xmlns:a="http://schemas.openxmlformats.org/drawingml/2006/main"/>
                <a:p xmlns:a="http://schemas.openxmlformats.org/drawingml/2006/main">
                  <a:pPr>
                    <a:defRPr sz="1500">
                      <a:solidFill>
                        <a:srgbClr val="FFFFFF"/>
                      </a:solidFill>
                      <a:latin typeface="Arial"/>
                      <a:ea typeface="Arial"/>
                      <a:cs typeface="Arial"/>
                    </a:defRPr>
                  </a:pPr>
                </a:p>
              </c:txPr>
              <c:dLblPos val="ctr"/>
              <c:showLegendKey val="0"/>
              <c:showVal val="1"/>
              <c:showCatName val="0"/>
              <c:showSerName val="0"/>
              <c:showPercent val="0"/>
              <c:showBubbleSize val="0"/>
            </c:dLbl>
          </c:dLbls>
          <c:cat>
            <c:strRef>
              <c:f>'Chart Data'!$A$2:$A$10</c:f>
              <c:strCache>
                <c:ptCount val="9"/>
                <c:pt idx="0">
                  <c:v>Qassim</c:v>
                </c:pt>
                <c:pt idx="1">
                  <c:v>Hail</c:v>
                </c:pt>
                <c:pt idx="2">
                  <c:v>Al-Jouf</c:v>
                </c:pt>
                <c:pt idx="3">
                  <c:v>Asir</c:v>
                </c:pt>
                <c:pt idx="4">
                  <c:v>Tabuk</c:v>
                </c:pt>
                <c:pt idx="5">
                  <c:v>Al-Baha</c:v>
                </c:pt>
                <c:pt idx="6">
                  <c:v>Northern Borders</c:v>
                </c:pt>
                <c:pt idx="7">
                  <c:v>Jazan</c:v>
                </c:pt>
                <c:pt idx="8">
                  <c:v>Najran</c:v>
                </c:pt>
              </c:strCache>
            </c:strRef>
          </c:cat>
          <c:val>
            <c:numRef>
              <c:f>'Chart Data'!$B$2:$B$10</c:f>
              <c:numCache>
                <c:formatCode>0</c:formatCode>
                <c:ptCount val="9"/>
                <c:pt idx="0">
                  <c:v>156.2</c:v>
                </c:pt>
                <c:pt idx="1">
                  <c:v>302.17</c:v>
                </c:pt>
                <c:pt idx="2">
                  <c:v>327.8</c:v>
                </c:pt>
                <c:pt idx="3">
                  <c:v>360.78</c:v>
                </c:pt>
                <c:pt idx="4">
                  <c:v>388.93</c:v>
                </c:pt>
                <c:pt idx="5">
                  <c:v>445.6</c:v>
                </c:pt>
                <c:pt idx="6">
                  <c:v>446.26</c:v>
                </c:pt>
                <c:pt idx="7">
                  <c:v>455.08</c:v>
                </c:pt>
                <c:pt idx="8">
                  <c:v>570.12</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ctr"/>
          <c:showLegendKey val="0"/>
          <c:showVal val="1"/>
          <c:showCatName val="0"/>
          <c:showSerName val="0"/>
          <c:showPercent val="0"/>
          <c:showBubbleSize val="0"/>
          <c:showLeaderLines val="0"/>
        </c:dLbls>
        <c:gapWidth val="4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catAx>
      <c:valAx>
        <c:axId val="48672768"/>
        <c:scaling>
          <c:orientation val="minMax"/>
          <c:max val="600"/>
          <c:min val="0"/>
        </c:scaling>
        <c:delete val="0"/>
        <c:axPos val="b"/>
        <c:majorGridlines>
          <c:spPr>
            <a:ln xmlns:a="http://schemas.openxmlformats.org/drawingml/2006/main" w="9525">
              <a:solidFill>
                <a:srgbClr val="E3E9EA"/>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3435A2-C523-43FC-843E-F16F04A7EF45}"/>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Trial funding focuses on three regions</a:t>
            </a:r>
          </a:p>
        </p:txBody>
      </p:sp>
      <p:sp>
        <p:nvSpPr>
          <p:cNvPr id="2" name="">
            <a:extLst xmlns:a="http://schemas.openxmlformats.org/drawingml/2006/main">
              <a:ext uri="{FF2B5EF4-FFF2-40B4-BE49-F238E27FC236}">
                <a16:creationId xmlns:a16="http://schemas.microsoft.com/office/drawing/2014/main" id="{D25B4271-B454-42D5-91B1-98B01D357B55}"/>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1 / 7</a:t>
            </a:r>
          </a:p>
        </p:txBody>
      </p:sp>
      <p:sp>
        <p:nvSpPr>
          <p:cNvPr id="3" name="">
            <a:extLst xmlns:a="http://schemas.openxmlformats.org/drawingml/2006/main">
              <a:ext uri="{FF2B5EF4-FFF2-40B4-BE49-F238E27FC236}">
                <a16:creationId xmlns:a16="http://schemas.microsoft.com/office/drawing/2014/main" id="{66ADBBAE-672D-4FD9-854A-E5EF448F5505}"/>
              </a:ext>
            </a:extLst>
          </p:cNvPr>
          <p:cNvSpPr>
            <a:spLocks xmlns:a="http://schemas.openxmlformats.org/drawingml/2006/main" noGrp="1"/>
          </p:cNvSpPr>
          <p:nvPr/>
        </p:nvSpPr>
        <p:spPr>
          <a:xfrm xmlns:a="http://schemas.openxmlformats.org/drawingml/2006/main">
            <a:off x="666750" y="1676400"/>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6225" b="1">
                <a:solidFill>
                  <a:srgbClr val="087D82"/>
                </a:solidFill>
                <a:latin typeface="Arial"/>
                <a:ea typeface="Arial"/>
                <a:cs typeface="Arial"/>
              </a:defRPr>
            </a:pPr>
            <a:r>
              <a:rPr sz="6225" b="1">
                <a:solidFill>
                  <a:srgbClr val="087D82"/>
                </a:solidFill>
                <a:latin typeface="Arial"/>
                <a:ea typeface="Arial"/>
                <a:cs typeface="Arial"/>
              </a:rPr>
              <a:t>SAR 40 million</a:t>
            </a:r>
          </a:p>
        </p:txBody>
      </p:sp>
      <p:sp>
        <p:nvSpPr>
          <p:cNvPr id="4" name="">
            <a:extLst xmlns:a="http://schemas.openxmlformats.org/drawingml/2006/main">
              <a:ext uri="{FF2B5EF4-FFF2-40B4-BE49-F238E27FC236}">
                <a16:creationId xmlns:a16="http://schemas.microsoft.com/office/drawing/2014/main" id="{40C18432-6342-4596-A63B-D38ED0937173}"/>
              </a:ext>
            </a:extLst>
          </p:cNvPr>
          <p:cNvSpPr>
            <a:spLocks xmlns:a="http://schemas.openxmlformats.org/drawingml/2006/main" noGrp="1"/>
          </p:cNvSpPr>
          <p:nvPr/>
        </p:nvSpPr>
        <p:spPr>
          <a:xfrm xmlns:a="http://schemas.openxmlformats.org/drawingml/2006/main">
            <a:off x="666750" y="29241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325" b="0">
                <a:solidFill>
                  <a:srgbClr val="15363D"/>
                </a:solidFill>
                <a:latin typeface="Arial"/>
                <a:ea typeface="Arial"/>
                <a:cs typeface="Arial"/>
              </a:defRPr>
            </a:pPr>
            <a:r>
              <a:rPr sz="2325" b="0">
                <a:solidFill>
                  <a:srgbClr val="15363D"/>
                </a:solidFill>
                <a:latin typeface="Arial"/>
                <a:ea typeface="Arial"/>
                <a:cs typeface="Arial"/>
              </a:rPr>
              <a:t>Najran, Jazan and Northern Borders</a:t>
            </a:r>
          </a:p>
        </p:txBody>
      </p:sp>
      <p:sp>
        <p:nvSpPr>
          <p:cNvPr id="5" name="">
            <a:extLst xmlns:a="http://schemas.openxmlformats.org/drawingml/2006/main">
              <a:ext uri="{FF2B5EF4-FFF2-40B4-BE49-F238E27FC236}">
                <a16:creationId xmlns:a16="http://schemas.microsoft.com/office/drawing/2014/main" id="{571C0AFC-D72E-414E-A6D2-B9CAC86237F5}"/>
              </a:ext>
            </a:extLst>
          </p:cNvPr>
          <p:cNvSpPr>
            <a:spLocks xmlns:a="http://schemas.openxmlformats.org/drawingml/2006/main" noGrp="1"/>
          </p:cNvSpPr>
          <p:nvPr/>
        </p:nvSpPr>
        <p:spPr>
          <a:xfrm xmlns:a="http://schemas.openxmlformats.org/drawingml/2006/main">
            <a:off x="666750" y="387667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625" b="1">
                <a:solidFill>
                  <a:srgbClr val="15363D"/>
                </a:solidFill>
                <a:latin typeface="Arial"/>
                <a:ea typeface="Arial"/>
                <a:cs typeface="Arial"/>
              </a:defRPr>
            </a:pPr>
            <a:r>
              <a:rPr sz="2625" b="1">
                <a:solidFill>
                  <a:srgbClr val="15363D"/>
                </a:solidFill>
                <a:latin typeface="Arial"/>
                <a:ea typeface="Arial"/>
                <a:cs typeface="Arial"/>
              </a:rPr>
              <a:t>First SAR 10M after trial plan approval.
Hold SAR 30M for review.</a:t>
            </a:r>
          </a:p>
        </p:txBody>
      </p:sp>
      <p:sp>
        <p:nvSpPr>
          <p:cNvPr id="6" name="">
            <a:extLst xmlns:a="http://schemas.openxmlformats.org/drawingml/2006/main">
              <a:ext uri="{FF2B5EF4-FFF2-40B4-BE49-F238E27FC236}">
                <a16:creationId xmlns:a16="http://schemas.microsoft.com/office/drawing/2014/main" id="{91D7EA40-7CFE-4F8E-9CFA-0185C9096D33}"/>
              </a:ext>
            </a:extLst>
          </p:cNvPr>
          <p:cNvSpPr>
            <a:spLocks xmlns:a="http://schemas.openxmlformats.org/drawingml/2006/main" noGrp="1"/>
          </p:cNvSpPr>
          <p:nvPr/>
        </p:nvSpPr>
        <p:spPr>
          <a:xfrm xmlns:a="http://schemas.openxmlformats.org/drawingml/2006/main">
            <a:off x="666750" y="49339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0">
                <a:solidFill>
                  <a:srgbClr val="15363D"/>
                </a:solidFill>
                <a:latin typeface="Arial"/>
                <a:ea typeface="Arial"/>
                <a:cs typeface="Arial"/>
              </a:defRPr>
            </a:pPr>
            <a:r>
              <a:rPr sz="2100" b="0">
                <a:solidFill>
                  <a:srgbClr val="15363D"/>
                </a:solidFill>
                <a:latin typeface="Arial"/>
                <a:ea typeface="Arial"/>
                <a:cs typeface="Arial"/>
              </a:rPr>
              <a:t>Target 65%. Fund large gaps and test before expanding.</a:t>
            </a:r>
          </a:p>
        </p:txBody>
      </p:sp>
      <p:sp>
        <p:nvSpPr>
          <p:cNvPr id="7" name="">
            <a:extLst xmlns:a="http://schemas.openxmlformats.org/drawingml/2006/main">
              <a:ext uri="{FF2B5EF4-FFF2-40B4-BE49-F238E27FC236}">
                <a16:creationId xmlns:a16="http://schemas.microsoft.com/office/drawing/2014/main" id="{1377F319-9EB0-45B7-A49D-1EAC2F625F2E}"/>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SDAIA Academy SDA-DSC-112. Synthetic training data.</a:t>
            </a:r>
          </a:p>
        </p:txBody>
      </p:sp>
    </p:spTree>
    <p:extLst>
      <p:ext uri="{BB962C8B-B14F-4D97-AF65-F5344CB8AC3E}">
        <p14:creationId xmlns:p14="http://schemas.microsoft.com/office/powerpoint/2010/main" val="17117569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B0D458-4220-43CD-996E-5DD473C5CB51}"/>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Adoption improved but is still below 65%</a:t>
            </a:r>
          </a:p>
        </p:txBody>
      </p:sp>
      <p:sp>
        <p:nvSpPr>
          <p:cNvPr id="2" name="">
            <a:extLst xmlns:a="http://schemas.openxmlformats.org/drawingml/2006/main">
              <a:ext uri="{FF2B5EF4-FFF2-40B4-BE49-F238E27FC236}">
                <a16:creationId xmlns:a16="http://schemas.microsoft.com/office/drawing/2014/main" id="{5078F6C4-3A09-4EA2-AE6B-4B8252B1CA9A}"/>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2 / 7</a:t>
            </a:r>
          </a:p>
        </p:txBody>
      </p:sp>
      <p:sp>
        <p:nvSpPr>
          <p:cNvPr id="3" name="">
            <a:extLst xmlns:a="http://schemas.openxmlformats.org/drawingml/2006/main">
              <a:ext uri="{FF2B5EF4-FFF2-40B4-BE49-F238E27FC236}">
                <a16:creationId xmlns:a16="http://schemas.microsoft.com/office/drawing/2014/main" id="{960F33D8-684A-4BE9-8524-89E9E8AA1EB7}"/>
              </a:ext>
            </a:extLst>
          </p:cNvPr>
          <p:cNvSpPr>
            <a:spLocks xmlns:a="http://schemas.openxmlformats.org/drawingml/2006/main" noGrp="1"/>
          </p:cNvSpPr>
          <p:nvPr/>
        </p:nvSpPr>
        <p:spPr>
          <a:xfrm xmlns:a="http://schemas.openxmlformats.org/drawingml/2006/main">
            <a:off x="7667625" y="155257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875" b="1">
                <a:solidFill>
                  <a:srgbClr val="087D82"/>
                </a:solidFill>
                <a:latin typeface="Arial"/>
                <a:ea typeface="Arial"/>
                <a:cs typeface="Arial"/>
              </a:defRPr>
            </a:pPr>
            <a:r>
              <a:rPr sz="4875" b="1">
                <a:solidFill>
                  <a:srgbClr val="087D82"/>
                </a:solidFill>
                <a:latin typeface="Arial"/>
                <a:ea typeface="Arial"/>
                <a:cs typeface="Arial"/>
              </a:rPr>
              <a:t>63.33%</a:t>
            </a:r>
          </a:p>
        </p:txBody>
      </p:sp>
      <p:sp>
        <p:nvSpPr>
          <p:cNvPr id="4" name="">
            <a:extLst xmlns:a="http://schemas.openxmlformats.org/drawingml/2006/main">
              <a:ext uri="{FF2B5EF4-FFF2-40B4-BE49-F238E27FC236}">
                <a16:creationId xmlns:a16="http://schemas.microsoft.com/office/drawing/2014/main" id="{F15E59C1-CDA0-438D-AF24-5DD38AB43172}"/>
              </a:ext>
            </a:extLst>
          </p:cNvPr>
          <p:cNvSpPr>
            <a:spLocks xmlns:a="http://schemas.openxmlformats.org/drawingml/2006/main" noGrp="1"/>
          </p:cNvSpPr>
          <p:nvPr/>
        </p:nvSpPr>
        <p:spPr>
          <a:xfrm xmlns:a="http://schemas.openxmlformats.org/drawingml/2006/main">
            <a:off x="666750" y="1628775"/>
            <a:ext cx="6905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75" b="0">
                <a:solidFill>
                  <a:srgbClr val="15363D"/>
                </a:solidFill>
                <a:latin typeface="Arial"/>
                <a:ea typeface="Arial"/>
                <a:cs typeface="Arial"/>
              </a:defRPr>
            </a:pPr>
            <a:r>
              <a:rPr sz="2175" b="0">
                <a:solidFill>
                  <a:srgbClr val="15363D"/>
                </a:solidFill>
                <a:latin typeface="Arial"/>
                <a:ea typeface="Arial"/>
                <a:cs typeface="Arial"/>
              </a:rPr>
              <a:t>December 2025. Gap: 1.67 percentage points</a:t>
            </a:r>
          </a:p>
        </p:txBody>
      </p:sp>
      <p:sp>
        <p:nvSpPr>
          <p:cNvPr id="6" name="">
            <a:extLst xmlns:a="http://schemas.openxmlformats.org/drawingml/2006/main">
              <a:ext uri="{FF2B5EF4-FFF2-40B4-BE49-F238E27FC236}">
                <a16:creationId xmlns:a16="http://schemas.microsoft.com/office/drawing/2014/main" id="{2DA525BC-39E1-49D8-9AB6-FD32E5B773C9}"/>
              </a:ext>
            </a:extLst>
          </p:cNvPr>
          <p:cNvSpPr>
            <a:spLocks xmlns:a="http://schemas.openxmlformats.org/drawingml/2006/main" noGrp="1"/>
          </p:cNvSpPr>
          <p:nvPr/>
        </p:nvSpPr>
        <p:spPr>
          <a:xfrm xmlns:a="http://schemas.openxmlformats.org/drawingml/2006/main">
            <a:off x="876300" y="5686425"/>
            <a:ext cx="190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425" b="0">
                <a:solidFill>
                  <a:srgbClr val="56666B"/>
                </a:solidFill>
                <a:latin typeface="Arial"/>
                <a:ea typeface="Arial"/>
                <a:cs typeface="Arial"/>
              </a:defRPr>
            </a:pPr>
            <a:r>
              <a:rPr sz="1425" b="0">
                <a:solidFill>
                  <a:srgbClr val="56666B"/>
                </a:solidFill>
                <a:latin typeface="Arial"/>
                <a:ea typeface="Arial"/>
                <a:cs typeface="Arial"/>
              </a:rPr>
              <a:t>Jan 2022</a:t>
            </a:r>
          </a:p>
        </p:txBody>
      </p:sp>
      <p:sp>
        <p:nvSpPr>
          <p:cNvPr id="7" name="">
            <a:extLst xmlns:a="http://schemas.openxmlformats.org/drawingml/2006/main">
              <a:ext uri="{FF2B5EF4-FFF2-40B4-BE49-F238E27FC236}">
                <a16:creationId xmlns:a16="http://schemas.microsoft.com/office/drawing/2014/main" id="{64B37636-1D28-4B31-9A78-6BA237C3B74C}"/>
              </a:ext>
            </a:extLst>
          </p:cNvPr>
          <p:cNvSpPr>
            <a:spLocks xmlns:a="http://schemas.openxmlformats.org/drawingml/2006/main" noGrp="1"/>
          </p:cNvSpPr>
          <p:nvPr/>
        </p:nvSpPr>
        <p:spPr>
          <a:xfrm xmlns:a="http://schemas.openxmlformats.org/drawingml/2006/main">
            <a:off x="4905375" y="5686425"/>
            <a:ext cx="190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0">
                <a:solidFill>
                  <a:srgbClr val="56666B"/>
                </a:solidFill>
                <a:latin typeface="Arial"/>
                <a:ea typeface="Arial"/>
                <a:cs typeface="Arial"/>
              </a:defRPr>
            </a:pPr>
            <a:r>
              <a:rPr sz="1425" b="0">
                <a:solidFill>
                  <a:srgbClr val="56666B"/>
                </a:solidFill>
                <a:latin typeface="Arial"/>
                <a:ea typeface="Arial"/>
                <a:cs typeface="Arial"/>
              </a:rPr>
              <a:t>Dec 2023</a:t>
            </a:r>
          </a:p>
        </p:txBody>
      </p:sp>
      <p:sp>
        <p:nvSpPr>
          <p:cNvPr id="8" name="">
            <a:extLst xmlns:a="http://schemas.openxmlformats.org/drawingml/2006/main">
              <a:ext uri="{FF2B5EF4-FFF2-40B4-BE49-F238E27FC236}">
                <a16:creationId xmlns:a16="http://schemas.microsoft.com/office/drawing/2014/main" id="{519DA8E5-0DDE-480B-9395-CD500A766BF8}"/>
              </a:ext>
            </a:extLst>
          </p:cNvPr>
          <p:cNvSpPr>
            <a:spLocks xmlns:a="http://schemas.openxmlformats.org/drawingml/2006/main" noGrp="1"/>
          </p:cNvSpPr>
          <p:nvPr/>
        </p:nvSpPr>
        <p:spPr>
          <a:xfrm xmlns:a="http://schemas.openxmlformats.org/drawingml/2006/main">
            <a:off x="9486900" y="5686425"/>
            <a:ext cx="190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1425" b="0">
                <a:solidFill>
                  <a:srgbClr val="56666B"/>
                </a:solidFill>
                <a:latin typeface="Arial"/>
                <a:ea typeface="Arial"/>
                <a:cs typeface="Arial"/>
              </a:defRPr>
            </a:pPr>
            <a:r>
              <a:rPr sz="1425" b="0">
                <a:solidFill>
                  <a:srgbClr val="56666B"/>
                </a:solidFill>
                <a:latin typeface="Arial"/>
                <a:ea typeface="Arial"/>
                <a:cs typeface="Arial"/>
              </a:rPr>
              <a:t>Dec 2025</a:t>
            </a:r>
          </a:p>
        </p:txBody>
      </p:sp>
      <p:sp>
        <p:nvSpPr>
          <p:cNvPr id="9" name="">
            <a:extLst xmlns:a="http://schemas.openxmlformats.org/drawingml/2006/main">
              <a:ext uri="{FF2B5EF4-FFF2-40B4-BE49-F238E27FC236}">
                <a16:creationId xmlns:a16="http://schemas.microsoft.com/office/drawing/2014/main" id="{A15AE02C-27D6-4DEA-81E4-7D8DB3BE2BF0}"/>
              </a:ext>
            </a:extLst>
          </p:cNvPr>
          <p:cNvSpPr>
            <a:spLocks xmlns:a="http://schemas.openxmlformats.org/drawingml/2006/main" noGrp="1"/>
          </p:cNvSpPr>
          <p:nvPr/>
        </p:nvSpPr>
        <p:spPr>
          <a:xfrm xmlns:a="http://schemas.openxmlformats.org/drawingml/2006/main">
            <a:off x="1952625" y="6000750"/>
            <a:ext cx="962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B45C16"/>
                </a:solidFill>
                <a:latin typeface="Arial"/>
                <a:ea typeface="Arial"/>
                <a:cs typeface="Arial"/>
              </a:defRPr>
            </a:pPr>
            <a:r>
              <a:rPr sz="1275" b="0">
                <a:solidFill>
                  <a:srgbClr val="B45C16"/>
                </a:solidFill>
                <a:latin typeface="Arial"/>
                <a:ea typeface="Arial"/>
                <a:cs typeface="Arial"/>
              </a:rPr>
              <a:t>Using transaction counts as weights gives 66.12%, above 65%.</a:t>
            </a:r>
          </a:p>
        </p:txBody>
      </p:sp>
      <p:sp>
        <p:nvSpPr>
          <p:cNvPr id="10" name="">
            <a:extLst xmlns:a="http://schemas.openxmlformats.org/drawingml/2006/main">
              <a:ext uri="{FF2B5EF4-FFF2-40B4-BE49-F238E27FC236}">
                <a16:creationId xmlns:a16="http://schemas.microsoft.com/office/drawing/2014/main" id="{CD6D9C59-2A69-4648-9F72-824C48C5A028}"/>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Course measure: simple average of adoption percentages. Synthetic training data.</a:t>
            </a:r>
          </a:p>
        </p:txBody>
      </p:sp>
      <p:graphicFrame>
        <p:nvGraphicFramePr>
          <p:cNvPr id="22" name="Chart"/>
          <p:cNvGraphicFramePr/>
          <p:nvPr/>
        </p:nvGraphicFramePr>
        <p:xfrm>
          <a:off xmlns:a="http://schemas.openxmlformats.org/drawingml/2006/main" x="619125" y="2581275"/>
          <a:ext xmlns:a="http://schemas.openxmlformats.org/drawingml/2006/main" cx="10953750" cy="3086100"/>
        </p:xfrm>
        <a:graphic xmlns:a="http://schemas.openxmlformats.org/drawingml/2006/main">
          <a:graphicData uri="http://schemas.openxmlformats.org/drawingml/2006/chart">
            <c:chart xmlns:r="http://schemas.openxmlformats.org/officeDocument/2006/relationships" xmlns:c="http://schemas.openxmlformats.org/drawingml/2006/chart" r:id="R207862d0300849b7"/>
          </a:graphicData>
        </a:graphic>
      </p:graphicFrame>
    </p:spTree>
    <p:extLst>
      <p:ext uri="{BB962C8B-B14F-4D97-AF65-F5344CB8AC3E}">
        <p14:creationId xmlns:p14="http://schemas.microsoft.com/office/powerpoint/2010/main" val="20845694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4F2EFD-E967-4B22-A9BE-B554DC299FDE}"/>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Nine regions are below 65% in December 2025</a:t>
            </a:r>
          </a:p>
        </p:txBody>
      </p:sp>
      <p:sp>
        <p:nvSpPr>
          <p:cNvPr id="2" name="">
            <a:extLst xmlns:a="http://schemas.openxmlformats.org/drawingml/2006/main">
              <a:ext uri="{FF2B5EF4-FFF2-40B4-BE49-F238E27FC236}">
                <a16:creationId xmlns:a16="http://schemas.microsoft.com/office/drawing/2014/main" id="{044AC3F7-BDA9-4CC0-A3B1-BD7118C3DE83}"/>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3 / 7</a:t>
            </a:r>
          </a:p>
        </p:txBody>
      </p:sp>
      <p:sp>
        <p:nvSpPr>
          <p:cNvPr id="6" name="">
            <a:extLst xmlns:a="http://schemas.openxmlformats.org/drawingml/2006/main">
              <a:ext uri="{FF2B5EF4-FFF2-40B4-BE49-F238E27FC236}">
                <a16:creationId xmlns:a16="http://schemas.microsoft.com/office/drawing/2014/main" id="{37D76AD0-B40A-4847-953B-6257CBBE100B}"/>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Dark teal shows proposed trial regions. Orange marks the 65% target.</a:t>
            </a:r>
          </a:p>
        </p:txBody>
      </p:sp>
      <p:graphicFrame>
        <p:nvGraphicFramePr>
          <p:cNvPr id="17" name="Chart"/>
          <p:cNvGraphicFramePr/>
          <p:nvPr/>
        </p:nvGraphicFramePr>
        <p:xfrm>
          <a:off xmlns:a="http://schemas.openxmlformats.org/drawingml/2006/main" x="609600" y="1600200"/>
          <a:ext xmlns:a="http://schemas.openxmlformats.org/drawingml/2006/main" cx="10972800" cy="4267200"/>
        </p:xfrm>
        <a:graphic xmlns:a="http://schemas.openxmlformats.org/drawingml/2006/main">
          <a:graphicData uri="http://schemas.openxmlformats.org/drawingml/2006/chart">
            <c:chart xmlns:r="http://schemas.openxmlformats.org/officeDocument/2006/relationships" xmlns:c="http://schemas.openxmlformats.org/drawingml/2006/chart" r:id="R0ce5e154f6e04a59"/>
          </a:graphicData>
        </a:graphic>
      </p:graphicFrame>
      <p:sp>
        <p:nvSpPr>
          <p:cNvPr id="12" name="">
            <a:extLst xmlns:a="http://schemas.openxmlformats.org/drawingml/2006/main">
              <a:ext uri="{FF2B5EF4-FFF2-40B4-BE49-F238E27FC236}">
                <a16:creationId xmlns:a16="http://schemas.microsoft.com/office/drawing/2014/main" id="{404714D3-3E63-4B56-8B9F-68FD39ABE57D}"/>
              </a:ext>
            </a:extLst>
          </p:cNvPr>
          <p:cNvSpPr>
            <a:spLocks xmlns:a="http://schemas.openxmlformats.org/drawingml/2006/main" noGrp="1"/>
          </p:cNvSpPr>
          <p:nvPr/>
        </p:nvSpPr>
        <p:spPr>
          <a:xfrm xmlns:a="http://schemas.openxmlformats.org/drawingml/2006/main">
            <a:off x="8036243" y="1781175"/>
            <a:ext cx="19050" cy="3657600"/>
          </a:xfrm>
          <a:prstGeom xmlns:a="http://schemas.openxmlformats.org/drawingml/2006/main" prst="rect">
            <a:avLst/>
          </a:prstGeom>
          <a:solidFill xmlns:a="http://schemas.openxmlformats.org/drawingml/2006/main">
            <a:srgbClr val="B45C16"/>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24EB86B-7286-46A1-95EF-B3BE41F197BD}"/>
              </a:ext>
            </a:extLst>
          </p:cNvPr>
          <p:cNvSpPr>
            <a:spLocks xmlns:a="http://schemas.openxmlformats.org/drawingml/2006/main" noGrp="1"/>
          </p:cNvSpPr>
          <p:nvPr/>
        </p:nvSpPr>
        <p:spPr>
          <a:xfrm xmlns:a="http://schemas.openxmlformats.org/drawingml/2006/main">
            <a:off x="7877175" y="1524000"/>
            <a:ext cx="1657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B45C16"/>
                </a:solidFill>
                <a:latin typeface="Arial"/>
                <a:ea typeface="Arial"/>
                <a:cs typeface="Arial"/>
              </a:defRPr>
            </a:pPr>
            <a:r>
              <a:rPr sz="1500" b="1">
                <a:solidFill>
                  <a:srgbClr val="B45C16"/>
                </a:solidFill>
                <a:latin typeface="Arial"/>
                <a:ea typeface="Arial"/>
                <a:cs typeface="Arial"/>
              </a:rPr>
              <a:t>65% target</a:t>
            </a:r>
          </a:p>
        </p:txBody>
      </p:sp>
    </p:spTree>
    <p:extLst>
      <p:ext uri="{BB962C8B-B14F-4D97-AF65-F5344CB8AC3E}">
        <p14:creationId xmlns:p14="http://schemas.microsoft.com/office/powerpoint/2010/main" val="6823130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A38DB9-44B6-4A59-B4EA-3AEB3B821F8F}"/>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Najran ranks first. Third place is almost a tie</a:t>
            </a:r>
          </a:p>
        </p:txBody>
      </p:sp>
      <p:sp>
        <p:nvSpPr>
          <p:cNvPr id="2" name="">
            <a:extLst xmlns:a="http://schemas.openxmlformats.org/drawingml/2006/main">
              <a:ext uri="{FF2B5EF4-FFF2-40B4-BE49-F238E27FC236}">
                <a16:creationId xmlns:a16="http://schemas.microsoft.com/office/drawing/2014/main" id="{0EE4637F-FE4E-410D-8C69-E3E9781A1A3E}"/>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4 / 7</a:t>
            </a:r>
          </a:p>
        </p:txBody>
      </p:sp>
      <p:sp>
        <p:nvSpPr>
          <p:cNvPr id="3" name="">
            <a:extLst xmlns:a="http://schemas.openxmlformats.org/drawingml/2006/main">
              <a:ext uri="{FF2B5EF4-FFF2-40B4-BE49-F238E27FC236}">
                <a16:creationId xmlns:a16="http://schemas.microsoft.com/office/drawing/2014/main" id="{7779D0CE-AD6C-4126-A15A-EE4F03592062}"/>
              </a:ext>
            </a:extLst>
          </p:cNvPr>
          <p:cNvSpPr>
            <a:spLocks xmlns:a="http://schemas.openxmlformats.org/drawingml/2006/main" noGrp="1"/>
          </p:cNvSpPr>
          <p:nvPr/>
        </p:nvSpPr>
        <p:spPr>
          <a:xfrm xmlns:a="http://schemas.openxmlformats.org/drawingml/2006/main">
            <a:off x="666750" y="13144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500" b="0">
                <a:solidFill>
                  <a:srgbClr val="56666B"/>
                </a:solidFill>
                <a:latin typeface="Arial"/>
                <a:ea typeface="Arial"/>
                <a:cs typeface="Arial"/>
              </a:defRPr>
            </a:pPr>
            <a:r>
              <a:rPr sz="1500" b="0">
                <a:solidFill>
                  <a:srgbClr val="56666B"/>
                </a:solidFill>
                <a:latin typeface="Arial"/>
                <a:ea typeface="Arial"/>
                <a:cs typeface="Arial"/>
              </a:rPr>
              <a:t>December 2025. Dark teal: trial regions. Orange: Al-Baha.</a:t>
            </a:r>
          </a:p>
        </p:txBody>
      </p:sp>
      <p:sp>
        <p:nvSpPr>
          <p:cNvPr id="5" name="">
            <a:extLst xmlns:a="http://schemas.openxmlformats.org/drawingml/2006/main">
              <a:ext uri="{FF2B5EF4-FFF2-40B4-BE49-F238E27FC236}">
                <a16:creationId xmlns:a16="http://schemas.microsoft.com/office/drawing/2014/main" id="{D71339BB-BE3E-48DF-A9EF-7DD881E533AA}"/>
              </a:ext>
            </a:extLst>
          </p:cNvPr>
          <p:cNvSpPr>
            <a:spLocks xmlns:a="http://schemas.openxmlformats.org/drawingml/2006/main" noGrp="1"/>
          </p:cNvSpPr>
          <p:nvPr/>
        </p:nvSpPr>
        <p:spPr>
          <a:xfrm xmlns:a="http://schemas.openxmlformats.org/drawingml/2006/main">
            <a:off x="8258175" y="178117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4500" b="1">
                <a:solidFill>
                  <a:srgbClr val="087D82"/>
                </a:solidFill>
                <a:latin typeface="Arial"/>
                <a:ea typeface="Arial"/>
                <a:cs typeface="Arial"/>
              </a:defRPr>
            </a:pPr>
            <a:r>
              <a:rPr sz="4500" b="1">
                <a:solidFill>
                  <a:srgbClr val="087D82"/>
                </a:solidFill>
                <a:latin typeface="Arial"/>
                <a:ea typeface="Arial"/>
                <a:cs typeface="Arial"/>
              </a:rPr>
              <a:t>42.61%</a:t>
            </a:r>
          </a:p>
        </p:txBody>
      </p:sp>
      <p:sp>
        <p:nvSpPr>
          <p:cNvPr id="6" name="">
            <a:extLst xmlns:a="http://schemas.openxmlformats.org/drawingml/2006/main">
              <a:ext uri="{FF2B5EF4-FFF2-40B4-BE49-F238E27FC236}">
                <a16:creationId xmlns:a16="http://schemas.microsoft.com/office/drawing/2014/main" id="{0D40724E-0987-494B-8C67-4DF6E240454B}"/>
              </a:ext>
            </a:extLst>
          </p:cNvPr>
          <p:cNvSpPr>
            <a:spLocks xmlns:a="http://schemas.openxmlformats.org/drawingml/2006/main" noGrp="1"/>
          </p:cNvSpPr>
          <p:nvPr/>
        </p:nvSpPr>
        <p:spPr>
          <a:xfrm xmlns:a="http://schemas.openxmlformats.org/drawingml/2006/main">
            <a:off x="8258175" y="2714625"/>
            <a:ext cx="32670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1">
                <a:solidFill>
                  <a:srgbClr val="15363D"/>
                </a:solidFill>
                <a:latin typeface="Arial"/>
                <a:ea typeface="Arial"/>
                <a:cs typeface="Arial"/>
              </a:defRPr>
            </a:pPr>
            <a:r>
              <a:rPr sz="1950" b="1">
                <a:solidFill>
                  <a:srgbClr val="15363D"/>
                </a:solidFill>
                <a:latin typeface="Arial"/>
                <a:ea typeface="Arial"/>
                <a:cs typeface="Arial"/>
              </a:rPr>
              <a:t>Trial regions' share
of the score for all
9 regions below 65%</a:t>
            </a:r>
          </a:p>
        </p:txBody>
      </p:sp>
      <p:sp>
        <p:nvSpPr>
          <p:cNvPr id="7" name="">
            <a:extLst xmlns:a="http://schemas.openxmlformats.org/drawingml/2006/main">
              <a:ext uri="{FF2B5EF4-FFF2-40B4-BE49-F238E27FC236}">
                <a16:creationId xmlns:a16="http://schemas.microsoft.com/office/drawing/2014/main" id="{FD679BC7-3275-4C69-94C5-B2ABFB2C84C8}"/>
              </a:ext>
            </a:extLst>
          </p:cNvPr>
          <p:cNvSpPr>
            <a:spLocks xmlns:a="http://schemas.openxmlformats.org/drawingml/2006/main" noGrp="1"/>
          </p:cNvSpPr>
          <p:nvPr/>
        </p:nvSpPr>
        <p:spPr>
          <a:xfrm xmlns:a="http://schemas.openxmlformats.org/drawingml/2006/main">
            <a:off x="8258175" y="3743325"/>
            <a:ext cx="32670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1">
                <a:solidFill>
                  <a:srgbClr val="15363D"/>
                </a:solidFill>
                <a:latin typeface="Arial"/>
                <a:ea typeface="Arial"/>
                <a:cs typeface="Arial"/>
              </a:defRPr>
            </a:pPr>
            <a:r>
              <a:rPr sz="1725" b="1">
                <a:solidFill>
                  <a:srgbClr val="15363D"/>
                </a:solidFill>
                <a:latin typeface="Arial"/>
                <a:ea typeface="Arial"/>
                <a:cs typeface="Arial"/>
              </a:rPr>
              <a:t>Gap to 65% (points)</a:t>
            </a:r>
          </a:p>
        </p:txBody>
      </p:sp>
      <p:sp>
        <p:nvSpPr>
          <p:cNvPr id="8" name="">
            <a:extLst xmlns:a="http://schemas.openxmlformats.org/drawingml/2006/main">
              <a:ext uri="{FF2B5EF4-FFF2-40B4-BE49-F238E27FC236}">
                <a16:creationId xmlns:a16="http://schemas.microsoft.com/office/drawing/2014/main" id="{3A8CD12D-9290-43E2-A7F8-218551CF3FDC}"/>
              </a:ext>
            </a:extLst>
          </p:cNvPr>
          <p:cNvSpPr>
            <a:spLocks xmlns:a="http://schemas.openxmlformats.org/drawingml/2006/main" noGrp="1"/>
          </p:cNvSpPr>
          <p:nvPr/>
        </p:nvSpPr>
        <p:spPr>
          <a:xfrm xmlns:a="http://schemas.openxmlformats.org/drawingml/2006/main">
            <a:off x="8258175" y="4162425"/>
            <a:ext cx="32670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0">
                <a:solidFill>
                  <a:srgbClr val="15363D"/>
                </a:solidFill>
                <a:latin typeface="Arial"/>
                <a:ea typeface="Arial"/>
                <a:cs typeface="Arial"/>
              </a:defRPr>
            </a:pPr>
            <a:r>
              <a:rPr sz="1725" b="0">
                <a:solidFill>
                  <a:srgbClr val="15363D"/>
                </a:solidFill>
                <a:latin typeface="Arial"/>
                <a:ea typeface="Arial"/>
                <a:cs typeface="Arial"/>
              </a:rPr>
              <a:t>Najran 6.11</a:t>
            </a:r>
          </a:p>
          <a:p xmlns:a="http://schemas.openxmlformats.org/drawingml/2006/main">
            <a:pPr algn="l">
              <a:buNone/>
              <a:defRPr sz="1725" b="0">
                <a:solidFill>
                  <a:srgbClr val="15363D"/>
                </a:solidFill>
                <a:latin typeface="Arial"/>
                <a:ea typeface="Arial"/>
                <a:cs typeface="Arial"/>
              </a:defRPr>
            </a:pPr>
            <a:r>
              <a:rPr sz="1725" b="0">
                <a:solidFill>
                  <a:srgbClr val="15363D"/>
                </a:solidFill>
                <a:latin typeface="Arial"/>
                <a:ea typeface="Arial"/>
                <a:cs typeface="Arial"/>
              </a:rPr>
              <a:t>Jazan 4.34</a:t>
            </a:r>
          </a:p>
          <a:p xmlns:a="http://schemas.openxmlformats.org/drawingml/2006/main">
            <a:pPr algn="l">
              <a:buNone/>
              <a:defRPr sz="1725" b="0">
                <a:solidFill>
                  <a:srgbClr val="15363D"/>
                </a:solidFill>
                <a:latin typeface="Arial"/>
                <a:ea typeface="Arial"/>
                <a:cs typeface="Arial"/>
              </a:defRPr>
            </a:pPr>
            <a:r>
              <a:rPr sz="1725" b="0">
                <a:solidFill>
                  <a:srgbClr val="15363D"/>
                </a:solidFill>
                <a:latin typeface="Arial"/>
                <a:ea typeface="Arial"/>
                <a:cs typeface="Arial"/>
              </a:rPr>
              <a:t>Northern Borders 4.09</a:t>
            </a:r>
          </a:p>
        </p:txBody>
      </p:sp>
      <p:sp>
        <p:nvSpPr>
          <p:cNvPr id="9" name="">
            <a:extLst xmlns:a="http://schemas.openxmlformats.org/drawingml/2006/main">
              <a:ext uri="{FF2B5EF4-FFF2-40B4-BE49-F238E27FC236}">
                <a16:creationId xmlns:a16="http://schemas.microsoft.com/office/drawing/2014/main" id="{1C777C88-543C-4615-AF81-D3A1C6AC9691}"/>
              </a:ext>
            </a:extLst>
          </p:cNvPr>
          <p:cNvSpPr>
            <a:spLocks xmlns:a="http://schemas.openxmlformats.org/drawingml/2006/main" noGrp="1"/>
          </p:cNvSpPr>
          <p:nvPr/>
        </p:nvSpPr>
        <p:spPr>
          <a:xfrm xmlns:a="http://schemas.openxmlformats.org/drawingml/2006/main">
            <a:off x="666750" y="52197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725" b="0">
                <a:solidFill>
                  <a:srgbClr val="56666B"/>
                </a:solidFill>
                <a:latin typeface="Arial"/>
                <a:ea typeface="Arial"/>
                <a:cs typeface="Arial"/>
              </a:defRPr>
            </a:pPr>
            <a:r>
              <a:rPr sz="1725" b="0">
                <a:solidFill>
                  <a:srgbClr val="56666B"/>
                </a:solidFill>
                <a:latin typeface="Arial"/>
                <a:ea typeface="Arial"/>
                <a:cs typeface="Arial"/>
              </a:rPr>
              <a:t>Priority score = target gap / 100 × December transactions (ranking only)</a:t>
            </a:r>
          </a:p>
        </p:txBody>
      </p:sp>
      <p:sp>
        <p:nvSpPr>
          <p:cNvPr id="10" name="">
            <a:extLst xmlns:a="http://schemas.openxmlformats.org/drawingml/2006/main">
              <a:ext uri="{FF2B5EF4-FFF2-40B4-BE49-F238E27FC236}">
                <a16:creationId xmlns:a16="http://schemas.microsoft.com/office/drawing/2014/main" id="{6AE5554B-CCFB-46DE-B38E-EF7E217EFA39}"/>
              </a:ext>
            </a:extLst>
          </p:cNvPr>
          <p:cNvSpPr>
            <a:spLocks xmlns:a="http://schemas.openxmlformats.org/drawingml/2006/main" noGrp="1"/>
          </p:cNvSpPr>
          <p:nvPr/>
        </p:nvSpPr>
        <p:spPr>
          <a:xfrm xmlns:a="http://schemas.openxmlformats.org/drawingml/2006/main">
            <a:off x="666750" y="56388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025" b="1">
                <a:solidFill>
                  <a:srgbClr val="B45C16"/>
                </a:solidFill>
                <a:latin typeface="Arial"/>
                <a:ea typeface="Arial"/>
                <a:cs typeface="Arial"/>
              </a:defRPr>
            </a:pPr>
            <a:r>
              <a:rPr sz="2025" b="1">
                <a:solidFill>
                  <a:srgbClr val="B45C16"/>
                </a:solidFill>
                <a:latin typeface="Arial"/>
                <a:ea typeface="Arial"/>
                <a:cs typeface="Arial"/>
              </a:rPr>
              <a:t>Almost a tie: Northern Borders 446.26 and Al-Baha 445.60</a:t>
            </a:r>
          </a:p>
        </p:txBody>
      </p:sp>
      <p:sp>
        <p:nvSpPr>
          <p:cNvPr id="11" name="">
            <a:extLst xmlns:a="http://schemas.openxmlformats.org/drawingml/2006/main">
              <a:ext uri="{FF2B5EF4-FFF2-40B4-BE49-F238E27FC236}">
                <a16:creationId xmlns:a16="http://schemas.microsoft.com/office/drawing/2014/main" id="{92DABFDC-024C-4140-90B3-FFC280F6C18F}"/>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Transaction weighting puts Al-Baha ahead of Jazan. Confirm the measure before funding.</a:t>
            </a:r>
          </a:p>
        </p:txBody>
      </p:sp>
      <p:graphicFrame>
        <p:nvGraphicFramePr>
          <p:cNvPr id="24" name="Chart"/>
          <p:cNvGraphicFramePr/>
          <p:nvPr/>
        </p:nvGraphicFramePr>
        <p:xfrm>
          <a:off xmlns:a="http://schemas.openxmlformats.org/drawingml/2006/main" x="609600" y="1695450"/>
          <a:ext xmlns:a="http://schemas.openxmlformats.org/drawingml/2006/main" cx="7286625" cy="3429000"/>
        </p:xfrm>
        <a:graphic xmlns:a="http://schemas.openxmlformats.org/drawingml/2006/main">
          <a:graphicData uri="http://schemas.openxmlformats.org/drawingml/2006/chart">
            <c:chart xmlns:r="http://schemas.openxmlformats.org/officeDocument/2006/relationships" xmlns:c="http://schemas.openxmlformats.org/drawingml/2006/chart" r:id="R7f7e502dc10f4f8f"/>
          </a:graphicData>
        </a:graphic>
      </p:graphicFrame>
    </p:spTree>
    <p:extLst>
      <p:ext uri="{BB962C8B-B14F-4D97-AF65-F5344CB8AC3E}">
        <p14:creationId xmlns:p14="http://schemas.microsoft.com/office/powerpoint/2010/main" val="4415883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FBAB83-6399-4062-9B06-59152EE483EE}"/>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Funding in steps lets us test before spending more</a:t>
            </a:r>
          </a:p>
        </p:txBody>
      </p:sp>
      <p:sp>
        <p:nvSpPr>
          <p:cNvPr id="2" name="">
            <a:extLst xmlns:a="http://schemas.openxmlformats.org/drawingml/2006/main">
              <a:ext uri="{FF2B5EF4-FFF2-40B4-BE49-F238E27FC236}">
                <a16:creationId xmlns:a16="http://schemas.microsoft.com/office/drawing/2014/main" id="{969B43E0-9036-4E42-85A2-0241260476A1}"/>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5 / 7</a:t>
            </a:r>
          </a:p>
        </p:txBody>
      </p:sp>
      <p:graphicFrame>
        <p:nvGraphicFramePr>
          <p:cNvPr id="10" name=""/>
          <p:cNvGraphicFramePr/>
          <p:nvPr/>
        </p:nvGraphicFramePr>
        <p:xfrm>
          <a:off xmlns:a="http://schemas.openxmlformats.org/drawingml/2006/main" x="619125" y="1762125"/>
          <a:ext xmlns:a="http://schemas.openxmlformats.org/drawingml/2006/main" cx="10953750" cy="3609975"/>
        </p:xfrm>
        <a:graphic xmlns:a="http://schemas.openxmlformats.org/drawingml/2006/main">
          <a:graphicData uri="http://schemas.openxmlformats.org/drawingml/2006/table">
            <a:tbl>
              <a:tblPr/>
              <a:tblGrid>
                <a:gridCol w="2190750"/>
                <a:gridCol w="3048000"/>
                <a:gridCol w="2619375"/>
                <a:gridCol w="3095625"/>
              </a:tblGrid>
              <a:tr h="902494">
                <a:tc>
                  <a:txBody>
                    <a:bodyPr/>
                    <a:lstStyle/>
                    <a:p>
                      <a:r>
                        <a:rPr sz="1800" b="1">
                          <a:solidFill>
                            <a:srgbClr val="FFFFFF"/>
                          </a:solidFill>
                          <a:latin typeface="Arial"/>
                          <a:ea typeface="Arial"/>
                          <a:cs typeface="Arial"/>
                        </a:rPr>
                        <a:t>Option</a:t>
                      </a:r>
                    </a:p>
                  </a:txBody>
                  <a:tcPr marL="133350" marR="133350" marT="95250" marB="95250" anchor="ctr">
                    <a:solidFill>
                      <a:srgbClr val="087D82"/>
                    </a:solidFill>
                  </a:tcPr>
                </a:tc>
                <a:tc>
                  <a:txBody>
                    <a:bodyPr/>
                    <a:lstStyle/>
                    <a:p>
                      <a:r>
                        <a:rPr sz="1800" b="1">
                          <a:solidFill>
                            <a:srgbClr val="FFFFFF"/>
                          </a:solidFill>
                          <a:latin typeface="Arial"/>
                          <a:ea typeface="Arial"/>
                          <a:cs typeface="Arial"/>
                        </a:rPr>
                        <a:t>Use of SAR 40M</a:t>
                      </a:r>
                    </a:p>
                  </a:txBody>
                  <a:tcPr marL="133350" marR="133350" marT="95250" marB="95250" anchor="ctr">
                    <a:solidFill>
                      <a:srgbClr val="087D82"/>
                    </a:solidFill>
                  </a:tcPr>
                </a:tc>
                <a:tc>
                  <a:txBody>
                    <a:bodyPr/>
                    <a:lstStyle/>
                    <a:p>
                      <a:r>
                        <a:rPr sz="1800" b="1">
                          <a:solidFill>
                            <a:srgbClr val="FFFFFF"/>
                          </a:solidFill>
                          <a:latin typeface="Arial"/>
                          <a:ea typeface="Arial"/>
                          <a:cs typeface="Arial"/>
                        </a:rPr>
                        <a:t>Main benefit</a:t>
                      </a:r>
                    </a:p>
                  </a:txBody>
                  <a:tcPr marL="133350" marR="133350" marT="95250" marB="95250" anchor="ctr">
                    <a:solidFill>
                      <a:srgbClr val="087D82"/>
                    </a:solidFill>
                  </a:tcPr>
                </a:tc>
                <a:tc>
                  <a:txBody>
                    <a:bodyPr/>
                    <a:lstStyle/>
                    <a:p>
                      <a:r>
                        <a:rPr sz="1800" b="1">
                          <a:solidFill>
                            <a:srgbClr val="FFFFFF"/>
                          </a:solidFill>
                          <a:latin typeface="Arial"/>
                          <a:ea typeface="Arial"/>
                          <a:cs typeface="Arial"/>
                        </a:rPr>
                        <a:t>Main risk</a:t>
                      </a:r>
                    </a:p>
                  </a:txBody>
                  <a:tcPr marL="133350" marR="133350" marT="95250" marB="95250" anchor="ctr">
                    <a:solidFill>
                      <a:srgbClr val="087D82"/>
                    </a:solidFill>
                  </a:tcPr>
                </a:tc>
              </a:tr>
              <a:tr h="902494">
                <a:tc>
                  <a:txBody>
                    <a:bodyPr/>
                    <a:lstStyle/>
                    <a:p>
                      <a:pPr algn="l">
                        <a:buNone/>
                      </a:pPr>
                      <a:r>
                        <a:rPr sz="1800">
                          <a:solidFill>
                            <a:srgbClr val="15363D"/>
                          </a:solidFill>
                          <a:latin typeface="Arial"/>
                          <a:ea typeface="Arial"/>
                          <a:cs typeface="Arial"/>
                        </a:rPr>
                        <a:t>Equal funding</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About SAR 4.44M for each of the 9 regions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Covers all 9 regions below target</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Ignores different gaps and transaction volumes</a:t>
                      </a:r>
                    </a:p>
                  </a:txBody>
                  <a:tcPr marL="133350" marR="133350" marT="95250" marB="95250" anchor="ctr">
                    <a:solidFill>
                      <a:srgbClr val="FFFFFF"/>
                    </a:solidFill>
                  </a:tcPr>
                </a:tc>
              </a:tr>
              <a:tr h="902494">
                <a:tc>
                  <a:txBody>
                    <a:bodyPr/>
                    <a:lstStyle/>
                    <a:p>
                      <a:pPr algn="l">
                        <a:buNone/>
                      </a:pPr>
                      <a:r>
                        <a:rPr sz="1800">
                          <a:solidFill>
                            <a:srgbClr val="15363D"/>
                          </a:solidFill>
                          <a:latin typeface="Arial"/>
                          <a:ea typeface="Arial"/>
                          <a:cs typeface="Arial"/>
                        </a:rPr>
                        <a:t>All funding now</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SAR 40M in the 3 trial regions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Focuses on current priorities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Spends all funding before testing</a:t>
                      </a:r>
                    </a:p>
                  </a:txBody>
                  <a:tcPr marL="133350" marR="133350" marT="95250" marB="95250" anchor="ctr">
                    <a:solidFill>
                      <a:srgbClr val="FFFFFF"/>
                    </a:solidFill>
                  </a:tcPr>
                </a:tc>
              </a:tr>
              <a:tr h="902494">
                <a:tc>
                  <a:txBody>
                    <a:bodyPr/>
                    <a:lstStyle/>
                    <a:p>
                      <a:pPr algn="l">
                        <a:buNone/>
                      </a:pPr>
                      <a:r>
                        <a:rPr sz="1800">
                          <a:solidFill>
                            <a:srgbClr val="15363D"/>
                          </a:solidFill>
                          <a:latin typeface="Arial"/>
                          <a:ea typeface="Arial"/>
                          <a:cs typeface="Arial"/>
                        </a:rPr>
                        <a:t>Funding in steps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SAR 35M for regions and SAR 5M for review</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Tests before full budget release</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Needs agreed measures and review</a:t>
                      </a:r>
                    </a:p>
                  </a:txBody>
                  <a:tcPr marL="133350" marR="133350" marT="95250" marB="952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639BFC4E-81E9-4C87-9A64-13F177E9A276}"/>
              </a:ext>
            </a:extLst>
          </p:cNvPr>
          <p:cNvSpPr>
            <a:spLocks xmlns:a="http://schemas.openxmlformats.org/drawingml/2006/main" noGrp="1"/>
          </p:cNvSpPr>
          <p:nvPr/>
        </p:nvSpPr>
        <p:spPr>
          <a:xfrm xmlns:a="http://schemas.openxmlformats.org/drawingml/2006/main">
            <a:off x="619125" y="55435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1">
                <a:solidFill>
                  <a:srgbClr val="087D82"/>
                </a:solidFill>
                <a:latin typeface="Arial"/>
                <a:ea typeface="Arial"/>
                <a:cs typeface="Arial"/>
              </a:defRPr>
            </a:pPr>
            <a:r>
              <a:rPr sz="2100" b="1">
                <a:solidFill>
                  <a:srgbClr val="087D82"/>
                </a:solidFill>
                <a:latin typeface="Arial"/>
                <a:ea typeface="Arial"/>
                <a:cs typeface="Arial"/>
              </a:rPr>
              <a:t>First SAR 10M after trial plan approval. Hold SAR 30M.</a:t>
            </a:r>
          </a:p>
        </p:txBody>
      </p:sp>
      <p:sp>
        <p:nvSpPr>
          <p:cNvPr id="5" name="">
            <a:extLst xmlns:a="http://schemas.openxmlformats.org/drawingml/2006/main">
              <a:ext uri="{FF2B5EF4-FFF2-40B4-BE49-F238E27FC236}">
                <a16:creationId xmlns:a16="http://schemas.microsoft.com/office/drawing/2014/main" id="{DDBA465C-A62D-4B1F-B164-B9646FFC7A84}"/>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The data cannot show which option gives the highest return.</a:t>
            </a:r>
          </a:p>
        </p:txBody>
      </p:sp>
    </p:spTree>
    <p:extLst>
      <p:ext uri="{BB962C8B-B14F-4D97-AF65-F5344CB8AC3E}">
        <p14:creationId xmlns:p14="http://schemas.microsoft.com/office/powerpoint/2010/main" val="58722256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E4D43F-7CFF-4FF3-A55B-EB9401A01F9D}"/>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SAR 35M for regions and SAR 5M for review</a:t>
            </a:r>
          </a:p>
        </p:txBody>
      </p:sp>
      <p:sp>
        <p:nvSpPr>
          <p:cNvPr id="2" name="">
            <a:extLst xmlns:a="http://schemas.openxmlformats.org/drawingml/2006/main">
              <a:ext uri="{FF2B5EF4-FFF2-40B4-BE49-F238E27FC236}">
                <a16:creationId xmlns:a16="http://schemas.microsoft.com/office/drawing/2014/main" id="{00E62E52-0AE8-4945-ABFB-75D311683033}"/>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6 / 7</a:t>
            </a:r>
          </a:p>
        </p:txBody>
      </p:sp>
      <p:graphicFrame>
        <p:nvGraphicFramePr>
          <p:cNvPr id="12" name=""/>
          <p:cNvGraphicFramePr/>
          <p:nvPr/>
        </p:nvGraphicFramePr>
        <p:xfrm>
          <a:off xmlns:a="http://schemas.openxmlformats.org/drawingml/2006/main" x="619125" y="1685925"/>
          <a:ext xmlns:a="http://schemas.openxmlformats.org/drawingml/2006/main" cx="5610225" cy="3629025"/>
        </p:xfrm>
        <a:graphic xmlns:a="http://schemas.openxmlformats.org/drawingml/2006/main">
          <a:graphicData uri="http://schemas.openxmlformats.org/drawingml/2006/table">
            <a:tbl>
              <a:tblPr/>
              <a:tblGrid>
                <a:gridCol w="3943350"/>
                <a:gridCol w="1666875"/>
              </a:tblGrid>
              <a:tr h="604838">
                <a:tc>
                  <a:txBody>
                    <a:bodyPr/>
                    <a:lstStyle/>
                    <a:p>
                      <a:r>
                        <a:rPr sz="1800" b="1">
                          <a:solidFill>
                            <a:srgbClr val="FFFFFF"/>
                          </a:solidFill>
                          <a:latin typeface="Arial"/>
                          <a:ea typeface="Arial"/>
                          <a:cs typeface="Arial"/>
                        </a:rPr>
                        <a:t>Budget area</a:t>
                      </a:r>
                    </a:p>
                  </a:txBody>
                  <a:tcPr marL="133350" marR="133350" marT="95250" marB="95250" anchor="ctr">
                    <a:solidFill>
                      <a:srgbClr val="087D82"/>
                    </a:solidFill>
                  </a:tcPr>
                </a:tc>
                <a:tc>
                  <a:txBody>
                    <a:bodyPr/>
                    <a:lstStyle/>
                    <a:p>
                      <a:r>
                        <a:rPr sz="1800" b="1">
                          <a:solidFill>
                            <a:srgbClr val="FFFFFF"/>
                          </a:solidFill>
                          <a:latin typeface="Arial"/>
                          <a:ea typeface="Arial"/>
                          <a:cs typeface="Arial"/>
                        </a:rPr>
                        <a:t>SAR million</a:t>
                      </a:r>
                    </a:p>
                  </a:txBody>
                  <a:tcPr marL="133350" marR="133350" marT="95250" marB="95250" anchor="ctr">
                    <a:solidFill>
                      <a:srgbClr val="087D82"/>
                    </a:solidFill>
                  </a:tcPr>
                </a:tc>
              </a:tr>
              <a:tr h="604838">
                <a:tc>
                  <a:txBody>
                    <a:bodyPr/>
                    <a:lstStyle/>
                    <a:p>
                      <a:pPr algn="l">
                        <a:buNone/>
                      </a:pPr>
                      <a:r>
                        <a:rPr sz="1800">
                          <a:solidFill>
                            <a:srgbClr val="15363D"/>
                          </a:solidFill>
                          <a:latin typeface="Arial"/>
                          <a:ea typeface="Arial"/>
                          <a:cs typeface="Arial"/>
                        </a:rPr>
                        <a:t>Najran</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13</a:t>
                      </a:r>
                    </a:p>
                  </a:txBody>
                  <a:tcPr marL="133350" marR="133350" marT="95250" marB="95250" anchor="ctr">
                    <a:solidFill>
                      <a:srgbClr val="FFFFFF"/>
                    </a:solidFill>
                  </a:tcPr>
                </a:tc>
              </a:tr>
              <a:tr h="604838">
                <a:tc>
                  <a:txBody>
                    <a:bodyPr/>
                    <a:lstStyle/>
                    <a:p>
                      <a:pPr algn="l">
                        <a:buNone/>
                      </a:pPr>
                      <a:r>
                        <a:rPr sz="1800">
                          <a:solidFill>
                            <a:srgbClr val="15363D"/>
                          </a:solidFill>
                          <a:latin typeface="Arial"/>
                          <a:ea typeface="Arial"/>
                          <a:cs typeface="Arial"/>
                        </a:rPr>
                        <a:t>Jazan</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11</a:t>
                      </a:r>
                    </a:p>
                  </a:txBody>
                  <a:tcPr marL="133350" marR="133350" marT="95250" marB="95250" anchor="ctr">
                    <a:solidFill>
                      <a:srgbClr val="FFFFFF"/>
                    </a:solidFill>
                  </a:tcPr>
                </a:tc>
              </a:tr>
              <a:tr h="604838">
                <a:tc>
                  <a:txBody>
                    <a:bodyPr/>
                    <a:lstStyle/>
                    <a:p>
                      <a:pPr algn="l">
                        <a:buNone/>
                      </a:pPr>
                      <a:r>
                        <a:rPr sz="1800">
                          <a:solidFill>
                            <a:srgbClr val="15363D"/>
                          </a:solidFill>
                          <a:latin typeface="Arial"/>
                          <a:ea typeface="Arial"/>
                          <a:cs typeface="Arial"/>
                        </a:rPr>
                        <a:t>Northern Borders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11</a:t>
                      </a:r>
                    </a:p>
                  </a:txBody>
                  <a:tcPr marL="133350" marR="133350" marT="95250" marB="95250" anchor="ctr">
                    <a:solidFill>
                      <a:srgbClr val="FFFFFF"/>
                    </a:solidFill>
                  </a:tcPr>
                </a:tc>
              </a:tr>
              <a:tr h="604838">
                <a:tc>
                  <a:txBody>
                    <a:bodyPr/>
                    <a:lstStyle/>
                    <a:p>
                      <a:pPr algn="l">
                        <a:buNone/>
                      </a:pPr>
                      <a:r>
                        <a:rPr sz="1800">
                          <a:solidFill>
                            <a:srgbClr val="15363D"/>
                          </a:solidFill>
                          <a:latin typeface="Arial"/>
                          <a:ea typeface="Arial"/>
                          <a:cs typeface="Arial"/>
                        </a:rPr>
                        <a:t>Review and reserve</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5</a:t>
                      </a:r>
                    </a:p>
                  </a:txBody>
                  <a:tcPr marL="133350" marR="133350" marT="95250" marB="95250" anchor="ctr">
                    <a:solidFill>
                      <a:srgbClr val="FFFFFF"/>
                    </a:solidFill>
                  </a:tcPr>
                </a:tc>
              </a:tr>
              <a:tr h="604838">
                <a:tc>
                  <a:txBody>
                    <a:bodyPr/>
                    <a:lstStyle/>
                    <a:p>
                      <a:pPr algn="l">
                        <a:buNone/>
                      </a:pPr>
                      <a:r>
                        <a:rPr sz="1800">
                          <a:solidFill>
                            <a:srgbClr val="15363D"/>
                          </a:solidFill>
                          <a:latin typeface="Arial"/>
                          <a:ea typeface="Arial"/>
                          <a:cs typeface="Arial"/>
                        </a:rPr>
                        <a:t>Total</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40</a:t>
                      </a:r>
                    </a:p>
                  </a:txBody>
                  <a:tcPr marL="133350" marR="133350" marT="95250" marB="9525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810B9BB-9033-489F-A4B3-5A7CE67F438B}"/>
              </a:ext>
            </a:extLst>
          </p:cNvPr>
          <p:cNvSpPr>
            <a:spLocks xmlns:a="http://schemas.openxmlformats.org/drawingml/2006/main" noGrp="1"/>
          </p:cNvSpPr>
          <p:nvPr/>
        </p:nvSpPr>
        <p:spPr>
          <a:xfrm xmlns:a="http://schemas.openxmlformats.org/drawingml/2006/main">
            <a:off x="6877050" y="2095500"/>
            <a:ext cx="4476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5025" b="1">
                <a:solidFill>
                  <a:srgbClr val="087D82"/>
                </a:solidFill>
                <a:latin typeface="Arial"/>
                <a:ea typeface="Arial"/>
                <a:cs typeface="Arial"/>
              </a:defRPr>
            </a:pPr>
            <a:r>
              <a:rPr sz="5025" b="1">
                <a:solidFill>
                  <a:srgbClr val="087D82"/>
                </a:solidFill>
                <a:latin typeface="Arial"/>
                <a:ea typeface="Arial"/>
                <a:cs typeface="Arial"/>
              </a:rPr>
              <a:t>64.45%</a:t>
            </a:r>
          </a:p>
        </p:txBody>
      </p:sp>
      <p:sp>
        <p:nvSpPr>
          <p:cNvPr id="5" name="">
            <a:extLst xmlns:a="http://schemas.openxmlformats.org/drawingml/2006/main">
              <a:ext uri="{FF2B5EF4-FFF2-40B4-BE49-F238E27FC236}">
                <a16:creationId xmlns:a16="http://schemas.microsoft.com/office/drawing/2014/main" id="{298C6A25-2022-40E8-BA52-95E8A781087B}"/>
              </a:ext>
            </a:extLst>
          </p:cNvPr>
          <p:cNvSpPr>
            <a:spLocks xmlns:a="http://schemas.openxmlformats.org/drawingml/2006/main" noGrp="1"/>
          </p:cNvSpPr>
          <p:nvPr/>
        </p:nvSpPr>
        <p:spPr>
          <a:xfrm xmlns:a="http://schemas.openxmlformats.org/drawingml/2006/main">
            <a:off x="6629400" y="3219450"/>
            <a:ext cx="47625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250" b="1">
                <a:solidFill>
                  <a:srgbClr val="15363D"/>
                </a:solidFill>
                <a:latin typeface="Arial"/>
                <a:ea typeface="Arial"/>
                <a:cs typeface="Arial"/>
              </a:defRPr>
            </a:pPr>
            <a:r>
              <a:rPr sz="2250" b="1">
                <a:solidFill>
                  <a:srgbClr val="15363D"/>
                </a:solidFill>
                <a:latin typeface="Arial"/>
                <a:ea typeface="Arial"/>
                <a:cs typeface="Arial"/>
              </a:rPr>
              <a:t>National average if the 3 regions reach 65% and the other regions stay unchanged</a:t>
            </a:r>
          </a:p>
        </p:txBody>
      </p:sp>
      <p:sp>
        <p:nvSpPr>
          <p:cNvPr id="6" name="">
            <a:extLst xmlns:a="http://schemas.openxmlformats.org/drawingml/2006/main">
              <a:ext uri="{FF2B5EF4-FFF2-40B4-BE49-F238E27FC236}">
                <a16:creationId xmlns:a16="http://schemas.microsoft.com/office/drawing/2014/main" id="{D7C7CD7E-154D-4436-8944-E19DD1E9C17D}"/>
              </a:ext>
            </a:extLst>
          </p:cNvPr>
          <p:cNvSpPr>
            <a:spLocks xmlns:a="http://schemas.openxmlformats.org/drawingml/2006/main" noGrp="1"/>
          </p:cNvSpPr>
          <p:nvPr/>
        </p:nvSpPr>
        <p:spPr>
          <a:xfrm xmlns:a="http://schemas.openxmlformats.org/drawingml/2006/main">
            <a:off x="6629400" y="5010150"/>
            <a:ext cx="4762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950" b="0">
                <a:solidFill>
                  <a:srgbClr val="B45C16"/>
                </a:solidFill>
                <a:latin typeface="Arial"/>
                <a:ea typeface="Arial"/>
                <a:cs typeface="Arial"/>
              </a:defRPr>
            </a:pPr>
            <a:r>
              <a:rPr sz="1950" b="0">
                <a:solidFill>
                  <a:srgbClr val="B45C16"/>
                </a:solidFill>
                <a:latin typeface="Arial"/>
                <a:ea typeface="Arial"/>
                <a:cs typeface="Arial"/>
              </a:rPr>
              <a:t>An example only.
The budget effect is unknown.</a:t>
            </a:r>
          </a:p>
        </p:txBody>
      </p:sp>
      <p:sp>
        <p:nvSpPr>
          <p:cNvPr id="7" name="">
            <a:extLst xmlns:a="http://schemas.openxmlformats.org/drawingml/2006/main">
              <a:ext uri="{FF2B5EF4-FFF2-40B4-BE49-F238E27FC236}">
                <a16:creationId xmlns:a16="http://schemas.microsoft.com/office/drawing/2014/main" id="{2A82CE85-D72F-4010-9E81-0459ED728EC0}"/>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Budget amounts need local cost checks. This example still falls below 65%.</a:t>
            </a:r>
          </a:p>
        </p:txBody>
      </p:sp>
    </p:spTree>
    <p:extLst>
      <p:ext uri="{BB962C8B-B14F-4D97-AF65-F5344CB8AC3E}">
        <p14:creationId xmlns:p14="http://schemas.microsoft.com/office/powerpoint/2010/main" val="18465901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8DB6E4-874F-47B7-BC44-E23AE4B3D05D}"/>
              </a:ext>
            </a:extLst>
          </p:cNvPr>
          <p:cNvSpPr>
            <a:spLocks xmlns:a="http://schemas.openxmlformats.org/drawingml/2006/main" noGrp="1"/>
          </p:cNvSpPr>
          <p:nvPr/>
        </p:nvSpPr>
        <p:spPr>
          <a:xfrm xmlns:a="http://schemas.openxmlformats.org/drawingml/2006/main">
            <a:off x="609600" y="41910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3225" b="1">
                <a:solidFill>
                  <a:srgbClr val="15363D"/>
                </a:solidFill>
                <a:latin typeface="Arial"/>
                <a:ea typeface="Arial"/>
                <a:cs typeface="Arial"/>
              </a:defRPr>
            </a:pPr>
            <a:r>
              <a:rPr sz="3225" b="1">
                <a:solidFill>
                  <a:srgbClr val="15363D"/>
                </a:solidFill>
                <a:latin typeface="Arial"/>
                <a:ea typeface="Arial"/>
                <a:cs typeface="Arial"/>
              </a:rPr>
              <a:t>The 40M proposal starts with 10M in trials</a:t>
            </a:r>
          </a:p>
        </p:txBody>
      </p:sp>
      <p:sp>
        <p:nvSpPr>
          <p:cNvPr id="2" name="">
            <a:extLst xmlns:a="http://schemas.openxmlformats.org/drawingml/2006/main">
              <a:ext uri="{FF2B5EF4-FFF2-40B4-BE49-F238E27FC236}">
                <a16:creationId xmlns:a16="http://schemas.microsoft.com/office/drawing/2014/main" id="{5A41CB70-F7E2-455E-9714-0B663AF240E6}"/>
              </a:ext>
            </a:extLst>
          </p:cNvPr>
          <p:cNvSpPr>
            <a:spLocks xmlns:a="http://schemas.openxmlformats.org/drawingml/2006/main" noGrp="1"/>
          </p:cNvSpPr>
          <p:nvPr/>
        </p:nvSpPr>
        <p:spPr>
          <a:xfrm xmlns:a="http://schemas.openxmlformats.org/drawingml/2006/main">
            <a:off x="609600" y="6419850"/>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275" b="0">
                <a:solidFill>
                  <a:srgbClr val="56666B"/>
                </a:solidFill>
                <a:latin typeface="Arial"/>
                <a:ea typeface="Arial"/>
                <a:cs typeface="Arial"/>
              </a:defRPr>
            </a:pPr>
            <a:r>
              <a:rPr sz="1275" b="0">
                <a:solidFill>
                  <a:srgbClr val="56666B"/>
                </a:solidFill>
                <a:latin typeface="Arial"/>
                <a:ea typeface="Arial"/>
                <a:cs typeface="Arial"/>
              </a:rPr>
              <a:t>7 / 7</a:t>
            </a:r>
          </a:p>
        </p:txBody>
      </p:sp>
      <p:sp>
        <p:nvSpPr>
          <p:cNvPr id="3" name="">
            <a:extLst xmlns:a="http://schemas.openxmlformats.org/drawingml/2006/main">
              <a:ext uri="{FF2B5EF4-FFF2-40B4-BE49-F238E27FC236}">
                <a16:creationId xmlns:a16="http://schemas.microsoft.com/office/drawing/2014/main" id="{F27311E6-2032-4CD2-A46C-4EDADE243500}"/>
              </a:ext>
            </a:extLst>
          </p:cNvPr>
          <p:cNvSpPr>
            <a:spLocks xmlns:a="http://schemas.openxmlformats.org/drawingml/2006/main" noGrp="1"/>
          </p:cNvSpPr>
          <p:nvPr/>
        </p:nvSpPr>
        <p:spPr>
          <a:xfrm xmlns:a="http://schemas.openxmlformats.org/drawingml/2006/main">
            <a:off x="666750" y="1647825"/>
            <a:ext cx="10810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925" b="1">
                <a:solidFill>
                  <a:srgbClr val="087D82"/>
                </a:solidFill>
                <a:latin typeface="Arial"/>
                <a:ea typeface="Arial"/>
                <a:cs typeface="Arial"/>
              </a:defRPr>
            </a:pPr>
            <a:r>
              <a:rPr sz="2925" b="1">
                <a:solidFill>
                  <a:srgbClr val="087D82"/>
                </a:solidFill>
                <a:latin typeface="Arial"/>
                <a:ea typeface="Arial"/>
                <a:cs typeface="Arial"/>
              </a:rPr>
              <a:t>First 10M after trial plan approval. Hold 30M.</a:t>
            </a:r>
          </a:p>
        </p:txBody>
      </p:sp>
      <p:graphicFrame>
        <p:nvGraphicFramePr>
          <p:cNvPr id="12" name=""/>
          <p:cNvGraphicFramePr/>
          <p:nvPr/>
        </p:nvGraphicFramePr>
        <p:xfrm>
          <a:off xmlns:a="http://schemas.openxmlformats.org/drawingml/2006/main" x="619125" y="2828925"/>
          <a:ext xmlns:a="http://schemas.openxmlformats.org/drawingml/2006/main" cx="10953750" cy="2514600"/>
        </p:xfrm>
        <a:graphic xmlns:a="http://schemas.openxmlformats.org/drawingml/2006/main">
          <a:graphicData uri="http://schemas.openxmlformats.org/drawingml/2006/table">
            <a:tbl>
              <a:tblPr/>
              <a:tblGrid>
                <a:gridCol w="3524250"/>
                <a:gridCol w="7429500"/>
              </a:tblGrid>
              <a:tr h="628650">
                <a:tc>
                  <a:txBody>
                    <a:bodyPr/>
                    <a:lstStyle/>
                    <a:p>
                      <a:r>
                        <a:rPr sz="1800" b="1">
                          <a:solidFill>
                            <a:srgbClr val="FFFFFF"/>
                          </a:solidFill>
                          <a:latin typeface="Arial"/>
                          <a:ea typeface="Arial"/>
                          <a:cs typeface="Arial"/>
                        </a:rPr>
                        <a:t>After budget approval</a:t>
                      </a:r>
                    </a:p>
                  </a:txBody>
                  <a:tcPr marL="133350" marR="133350" marT="95250" marB="95250" anchor="ctr">
                    <a:solidFill>
                      <a:srgbClr val="087D82"/>
                    </a:solidFill>
                  </a:tcPr>
                </a:tc>
                <a:tc>
                  <a:txBody>
                    <a:bodyPr/>
                    <a:lstStyle/>
                    <a:p>
                      <a:r>
                        <a:rPr sz="1800" b="1">
                          <a:solidFill>
                            <a:srgbClr val="FFFFFF"/>
                          </a:solidFill>
                          <a:latin typeface="Arial"/>
                          <a:ea typeface="Arial"/>
                          <a:cs typeface="Arial"/>
                        </a:rPr>
                        <a:t>Next step</a:t>
                      </a:r>
                    </a:p>
                  </a:txBody>
                  <a:tcPr marL="133350" marR="133350" marT="95250" marB="95250" anchor="ctr">
                    <a:solidFill>
                      <a:srgbClr val="087D82"/>
                    </a:solidFill>
                  </a:tcPr>
                </a:tc>
              </a:tr>
              <a:tr h="628650">
                <a:tc>
                  <a:txBody>
                    <a:bodyPr/>
                    <a:lstStyle/>
                    <a:p>
                      <a:pPr algn="l">
                        <a:buNone/>
                      </a:pPr>
                      <a:r>
                        <a:rPr sz="1800">
                          <a:solidFill>
                            <a:srgbClr val="15363D"/>
                          </a:solidFill>
                          <a:latin typeface="Arial"/>
                          <a:ea typeface="Arial"/>
                          <a:cs typeface="Arial"/>
                        </a:rPr>
                        <a:t>Day 0</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Approve the 40M budget and choose a lead</a:t>
                      </a:r>
                    </a:p>
                  </a:txBody>
                  <a:tcPr marL="133350" marR="133350" marT="95250" marB="95250" anchor="ctr">
                    <a:solidFill>
                      <a:srgbClr val="FFFFFF"/>
                    </a:solidFill>
                  </a:tcPr>
                </a:tc>
              </a:tr>
              <a:tr h="628650">
                <a:tc>
                  <a:txBody>
                    <a:bodyPr/>
                    <a:lstStyle/>
                    <a:p>
                      <a:pPr algn="l">
                        <a:buNone/>
                      </a:pPr>
                      <a:r>
                        <a:rPr sz="1800">
                          <a:solidFill>
                            <a:srgbClr val="15363D"/>
                          </a:solidFill>
                          <a:latin typeface="Arial"/>
                          <a:ea typeface="Arial"/>
                          <a:cs typeface="Arial"/>
                        </a:rPr>
                        <a:t>Within 30 days</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Approve the trial plan. Start when ready.</a:t>
                      </a:r>
                    </a:p>
                  </a:txBody>
                  <a:tcPr marL="133350" marR="133350" marT="95250" marB="95250" anchor="ctr">
                    <a:solidFill>
                      <a:srgbClr val="FFFFFF"/>
                    </a:solidFill>
                  </a:tcPr>
                </a:tc>
              </a:tr>
              <a:tr h="628650">
                <a:tc>
                  <a:txBody>
                    <a:bodyPr/>
                    <a:lstStyle/>
                    <a:p>
                      <a:pPr algn="l">
                        <a:buNone/>
                      </a:pPr>
                      <a:r>
                        <a:rPr sz="1800">
                          <a:solidFill>
                            <a:srgbClr val="15363D"/>
                          </a:solidFill>
                          <a:latin typeface="Arial"/>
                          <a:ea typeface="Arial"/>
                          <a:cs typeface="Arial"/>
                        </a:rPr>
                        <a:t>Day 90</a:t>
                      </a:r>
                    </a:p>
                  </a:txBody>
                  <a:tcPr marL="133350" marR="133350" marT="95250" marB="95250" anchor="ctr">
                    <a:solidFill>
                      <a:srgbClr val="FFFFFF"/>
                    </a:solidFill>
                  </a:tcPr>
                </a:tc>
                <a:tc>
                  <a:txBody>
                    <a:bodyPr/>
                    <a:lstStyle/>
                    <a:p>
                      <a:pPr algn="l">
                        <a:buNone/>
                      </a:pPr>
                      <a:r>
                        <a:rPr sz="1800">
                          <a:solidFill>
                            <a:srgbClr val="15363D"/>
                          </a:solidFill>
                          <a:latin typeface="Arial"/>
                          <a:ea typeface="Arial"/>
                          <a:cs typeface="Arial"/>
                        </a:rPr>
                        <a:t>Review results and costs before any later release</a:t>
                      </a:r>
                    </a:p>
                  </a:txBody>
                  <a:tcPr marL="133350" marR="133350" marT="95250" marB="9525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65C1333-A65B-43DC-BB8F-63A43C636636}"/>
              </a:ext>
            </a:extLst>
          </p:cNvPr>
          <p:cNvSpPr>
            <a:spLocks xmlns:a="http://schemas.openxmlformats.org/drawingml/2006/main" noGrp="1"/>
          </p:cNvSpPr>
          <p:nvPr/>
        </p:nvSpPr>
        <p:spPr>
          <a:xfrm xmlns:a="http://schemas.openxmlformats.org/drawingml/2006/main">
            <a:off x="666750" y="5562600"/>
            <a:ext cx="10810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2100" b="1">
                <a:solidFill>
                  <a:srgbClr val="15363D"/>
                </a:solidFill>
                <a:latin typeface="Arial"/>
                <a:ea typeface="Arial"/>
                <a:cs typeface="Arial"/>
              </a:defRPr>
            </a:pPr>
            <a:r>
              <a:rPr sz="2100" b="1">
                <a:solidFill>
                  <a:srgbClr val="15363D"/>
                </a:solidFill>
                <a:latin typeface="Arial"/>
                <a:ea typeface="Arial"/>
                <a:cs typeface="Arial"/>
              </a:rPr>
              <a:t>Trial goal: +2 percentage points and steady service quality</a:t>
            </a:r>
          </a:p>
        </p:txBody>
      </p:sp>
      <p:sp>
        <p:nvSpPr>
          <p:cNvPr id="6" name="">
            <a:extLst xmlns:a="http://schemas.openxmlformats.org/drawingml/2006/main">
              <a:ext uri="{FF2B5EF4-FFF2-40B4-BE49-F238E27FC236}">
                <a16:creationId xmlns:a16="http://schemas.microsoft.com/office/drawing/2014/main" id="{DA7B78AD-6CA7-4D98-9690-1E2E8C99AE5F}"/>
              </a:ext>
            </a:extLst>
          </p:cNvPr>
          <p:cNvSpPr>
            <a:spLocks xmlns:a="http://schemas.openxmlformats.org/drawingml/2006/main" noGrp="1"/>
          </p:cNvSpPr>
          <p:nvPr/>
        </p:nvSpPr>
        <p:spPr>
          <a:xfrm xmlns:a="http://schemas.openxmlformats.org/drawingml/2006/main">
            <a:off x="1952625" y="6229350"/>
            <a:ext cx="962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buNone/>
              <a:defRPr sz="1350" b="0">
                <a:solidFill>
                  <a:srgbClr val="56666B"/>
                </a:solidFill>
                <a:latin typeface="Arial"/>
                <a:ea typeface="Arial"/>
                <a:cs typeface="Arial"/>
              </a:defRPr>
            </a:pPr>
            <a:r>
              <a:rPr sz="1350" b="0">
                <a:solidFill>
                  <a:srgbClr val="56666B"/>
                </a:solidFill>
                <a:latin typeface="Arial"/>
                <a:ea typeface="Arial"/>
                <a:cs typeface="Arial"/>
              </a:rPr>
              <a:t>Goal only. Day 90 starts at budget approval. Extend the review if needed.</a:t>
            </a:r>
          </a:p>
        </p:txBody>
      </p:sp>
    </p:spTree>
    <p:extLst>
      <p:ext uri="{BB962C8B-B14F-4D97-AF65-F5344CB8AC3E}">
        <p14:creationId xmlns:p14="http://schemas.microsoft.com/office/powerpoint/2010/main" val="866670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2026-10-06T16:14:23.3110000Z</dcterms:created>
  <dcterms:modified xsi:type="dcterms:W3CDTF">2026-10-06T16:14:23.3110000Z</dcterms:modified>
</coreProperties>
</file>