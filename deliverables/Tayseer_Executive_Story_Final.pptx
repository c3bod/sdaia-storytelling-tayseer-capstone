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National adoption</c:v>
                </c:pt>
              </c:strCache>
            </c:strRef>
          </c:tx>
          <c:spPr>
            <a:solidFill>
              <a:srgbClr val="0B7A75"/>
            </a:solidFill>
            <a:ln w="31750" cap="flat">
              <a:solidFill>
                <a:srgbClr val="0B7A7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7A75"/>
              </a:solidFill>
              <a:ln w="9525" cap="flat">
                <a:solidFill>
                  <a:srgbClr val="0B7A75"/>
                </a:solidFill>
                <a:prstDash val="solid"/>
                <a:round/>
              </a:ln>
              <a:effectLst/>
            </c:spPr>
          </c:marker>
          <c:cat>
            <c:strRef>
              <c:f>Sheet1!$A$2:$A$49</c:f>
              <c:strCache>
                <c:ptCount val="48"/>
                <c:pt idx="0">
                  <c:v>Jan 2022</c:v>
                </c:pt>
                <c:pt idx="1">
                  <c:v>Feb 2022</c:v>
                </c:pt>
                <c:pt idx="2">
                  <c:v>Mar 2022</c:v>
                </c:pt>
                <c:pt idx="3">
                  <c:v>Apr 2022</c:v>
                </c:pt>
                <c:pt idx="4">
                  <c:v>May 2022</c:v>
                </c:pt>
                <c:pt idx="5">
                  <c:v>Jun 2022</c:v>
                </c:pt>
                <c:pt idx="6">
                  <c:v>Jul 2022</c:v>
                </c:pt>
                <c:pt idx="7">
                  <c:v>Aug 2022</c:v>
                </c:pt>
                <c:pt idx="8">
                  <c:v>Sep 2022</c:v>
                </c:pt>
                <c:pt idx="9">
                  <c:v>Oct 2022</c:v>
                </c:pt>
                <c:pt idx="10">
                  <c:v>Nov 2022</c:v>
                </c:pt>
                <c:pt idx="11">
                  <c:v>Dec 2022</c:v>
                </c:pt>
                <c:pt idx="12">
                  <c:v>Jan 2023</c:v>
                </c:pt>
                <c:pt idx="13">
                  <c:v>Feb 2023</c:v>
                </c:pt>
                <c:pt idx="14">
                  <c:v>Mar 2023</c:v>
                </c:pt>
                <c:pt idx="15">
                  <c:v>Apr 2023</c:v>
                </c:pt>
                <c:pt idx="16">
                  <c:v>May 2023</c:v>
                </c:pt>
                <c:pt idx="17">
                  <c:v>Jun 2023</c:v>
                </c:pt>
                <c:pt idx="18">
                  <c:v>Jul 2023</c:v>
                </c:pt>
                <c:pt idx="19">
                  <c:v>Aug 2023</c:v>
                </c:pt>
                <c:pt idx="20">
                  <c:v>Sep 2023</c:v>
                </c:pt>
                <c:pt idx="21">
                  <c:v>Oct 2023</c:v>
                </c:pt>
                <c:pt idx="22">
                  <c:v>Nov 2023</c:v>
                </c:pt>
                <c:pt idx="23">
                  <c:v>Dec 2023</c:v>
                </c:pt>
                <c:pt idx="24">
                  <c:v>Jan 2024</c:v>
                </c:pt>
                <c:pt idx="25">
                  <c:v>Feb 2024</c:v>
                </c:pt>
                <c:pt idx="26">
                  <c:v>Mar 2024</c:v>
                </c:pt>
                <c:pt idx="27">
                  <c:v>Apr 2024</c:v>
                </c:pt>
                <c:pt idx="28">
                  <c:v>May 2024</c:v>
                </c:pt>
                <c:pt idx="29">
                  <c:v>Jun 2024</c:v>
                </c:pt>
                <c:pt idx="30">
                  <c:v>Jul 2024</c:v>
                </c:pt>
                <c:pt idx="31">
                  <c:v>Aug 2024</c:v>
                </c:pt>
                <c:pt idx="32">
                  <c:v>Sep 2024</c:v>
                </c:pt>
                <c:pt idx="33">
                  <c:v>Oct 2024</c:v>
                </c:pt>
                <c:pt idx="34">
                  <c:v>Nov 2024</c:v>
                </c:pt>
                <c:pt idx="35">
                  <c:v>Dec 2024</c:v>
                </c:pt>
                <c:pt idx="36">
                  <c:v>Jan 2025</c:v>
                </c:pt>
                <c:pt idx="37">
                  <c:v>Feb 2025</c:v>
                </c:pt>
                <c:pt idx="38">
                  <c:v>Mar 2025</c:v>
                </c:pt>
                <c:pt idx="39">
                  <c:v>Apr 2025</c:v>
                </c:pt>
                <c:pt idx="40">
                  <c:v>May 2025</c:v>
                </c:pt>
                <c:pt idx="41">
                  <c:v>Jun 2025</c:v>
                </c:pt>
                <c:pt idx="42">
                  <c:v>Jul 2025</c:v>
                </c:pt>
                <c:pt idx="43">
                  <c:v>Aug 2025</c:v>
                </c:pt>
                <c:pt idx="44">
                  <c:v>Sep 2025</c:v>
                </c:pt>
                <c:pt idx="45">
                  <c:v>Oct 2025</c:v>
                </c:pt>
                <c:pt idx="46">
                  <c:v>Nov 2025</c:v>
                </c:pt>
                <c:pt idx="47">
                  <c:v>Dec 2025</c:v>
                </c:pt>
              </c:strCache>
            </c: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54.14</c:v>
                </c:pt>
                <c:pt idx="1">
                  <c:v>54.04</c:v>
                </c:pt>
                <c:pt idx="2">
                  <c:v>54.55</c:v>
                </c:pt>
                <c:pt idx="3">
                  <c:v>54.73</c:v>
                </c:pt>
                <c:pt idx="4">
                  <c:v>55.22</c:v>
                </c:pt>
                <c:pt idx="5">
                  <c:v>55.2</c:v>
                </c:pt>
                <c:pt idx="6">
                  <c:v>55.55</c:v>
                </c:pt>
                <c:pt idx="7">
                  <c:v>56.08</c:v>
                </c:pt>
                <c:pt idx="8">
                  <c:v>55.88</c:v>
                </c:pt>
                <c:pt idx="9">
                  <c:v>56.45</c:v>
                </c:pt>
                <c:pt idx="10">
                  <c:v>56.72</c:v>
                </c:pt>
                <c:pt idx="11">
                  <c:v>56.6</c:v>
                </c:pt>
                <c:pt idx="12">
                  <c:v>57.02</c:v>
                </c:pt>
                <c:pt idx="13">
                  <c:v>57.43</c:v>
                </c:pt>
                <c:pt idx="14">
                  <c:v>57.47</c:v>
                </c:pt>
                <c:pt idx="15">
                  <c:v>58.01</c:v>
                </c:pt>
                <c:pt idx="16">
                  <c:v>58.44</c:v>
                </c:pt>
                <c:pt idx="17">
                  <c:v>58.38</c:v>
                </c:pt>
                <c:pt idx="18">
                  <c:v>58.89</c:v>
                </c:pt>
                <c:pt idx="19">
                  <c:v>59.02</c:v>
                </c:pt>
                <c:pt idx="20">
                  <c:v>59.23</c:v>
                </c:pt>
                <c:pt idx="21">
                  <c:v>59.25</c:v>
                </c:pt>
                <c:pt idx="22">
                  <c:v>59.58</c:v>
                </c:pt>
                <c:pt idx="23">
                  <c:v>59.85</c:v>
                </c:pt>
                <c:pt idx="24">
                  <c:v>60.38</c:v>
                </c:pt>
                <c:pt idx="25">
                  <c:v>60.55</c:v>
                </c:pt>
                <c:pt idx="26">
                  <c:v>60.77</c:v>
                </c:pt>
                <c:pt idx="27">
                  <c:v>60.85</c:v>
                </c:pt>
                <c:pt idx="28">
                  <c:v>61.35</c:v>
                </c:pt>
                <c:pt idx="29">
                  <c:v>61.52</c:v>
                </c:pt>
                <c:pt idx="30">
                  <c:v>62.01</c:v>
                </c:pt>
                <c:pt idx="31">
                  <c:v>61.83</c:v>
                </c:pt>
                <c:pt idx="32">
                  <c:v>62.58</c:v>
                </c:pt>
                <c:pt idx="33">
                  <c:v>62.79</c:v>
                </c:pt>
                <c:pt idx="34">
                  <c:v>62.79</c:v>
                </c:pt>
                <c:pt idx="35">
                  <c:v>63.26</c:v>
                </c:pt>
                <c:pt idx="36">
                  <c:v>63.42</c:v>
                </c:pt>
                <c:pt idx="37">
                  <c:v>63.78</c:v>
                </c:pt>
                <c:pt idx="38">
                  <c:v>63.66</c:v>
                </c:pt>
                <c:pt idx="39">
                  <c:v>64.06</c:v>
                </c:pt>
                <c:pt idx="40">
                  <c:v>64.19</c:v>
                </c:pt>
                <c:pt idx="41">
                  <c:v>64.6</c:v>
                </c:pt>
                <c:pt idx="42">
                  <c:v>64.98</c:v>
                </c:pt>
                <c:pt idx="43">
                  <c:v>65.2</c:v>
                </c:pt>
                <c:pt idx="44">
                  <c:v>65.51</c:v>
                </c:pt>
                <c:pt idx="45">
                  <c:v>65.7</c:v>
                </c:pt>
                <c:pt idx="46">
                  <c:v>65.98</c:v>
                </c:pt>
                <c:pt idx="47">
                  <c:v>66.21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65% target</c:v>
                </c:pt>
              </c:strCache>
            </c:strRef>
          </c:tx>
          <c:spPr>
            <a:solidFill>
              <a:srgbClr val="C2611F"/>
            </a:solidFill>
            <a:ln w="31750" cap="flat">
              <a:solidFill>
                <a:srgbClr val="C2611F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611F"/>
              </a:solidFill>
              <a:ln w="9525" cap="flat">
                <a:solidFill>
                  <a:srgbClr val="C2611F"/>
                </a:solidFill>
                <a:prstDash val="solid"/>
                <a:round/>
              </a:ln>
              <a:effectLst/>
            </c:spPr>
          </c:marker>
          <c:cat>
            <c:strRef>
              <c:f>Sheet1!$A$2:$A$49</c:f>
              <c:strCache>
                <c:ptCount val="48"/>
                <c:pt idx="0">
                  <c:v>Jan 2022</c:v>
                </c:pt>
                <c:pt idx="1">
                  <c:v>Feb 2022</c:v>
                </c:pt>
                <c:pt idx="2">
                  <c:v>Mar 2022</c:v>
                </c:pt>
                <c:pt idx="3">
                  <c:v>Apr 2022</c:v>
                </c:pt>
                <c:pt idx="4">
                  <c:v>May 2022</c:v>
                </c:pt>
                <c:pt idx="5">
                  <c:v>Jun 2022</c:v>
                </c:pt>
                <c:pt idx="6">
                  <c:v>Jul 2022</c:v>
                </c:pt>
                <c:pt idx="7">
                  <c:v>Aug 2022</c:v>
                </c:pt>
                <c:pt idx="8">
                  <c:v>Sep 2022</c:v>
                </c:pt>
                <c:pt idx="9">
                  <c:v>Oct 2022</c:v>
                </c:pt>
                <c:pt idx="10">
                  <c:v>Nov 2022</c:v>
                </c:pt>
                <c:pt idx="11">
                  <c:v>Dec 2022</c:v>
                </c:pt>
                <c:pt idx="12">
                  <c:v>Jan 2023</c:v>
                </c:pt>
                <c:pt idx="13">
                  <c:v>Feb 2023</c:v>
                </c:pt>
                <c:pt idx="14">
                  <c:v>Mar 2023</c:v>
                </c:pt>
                <c:pt idx="15">
                  <c:v>Apr 2023</c:v>
                </c:pt>
                <c:pt idx="16">
                  <c:v>May 2023</c:v>
                </c:pt>
                <c:pt idx="17">
                  <c:v>Jun 2023</c:v>
                </c:pt>
                <c:pt idx="18">
                  <c:v>Jul 2023</c:v>
                </c:pt>
                <c:pt idx="19">
                  <c:v>Aug 2023</c:v>
                </c:pt>
                <c:pt idx="20">
                  <c:v>Sep 2023</c:v>
                </c:pt>
                <c:pt idx="21">
                  <c:v>Oct 2023</c:v>
                </c:pt>
                <c:pt idx="22">
                  <c:v>Nov 2023</c:v>
                </c:pt>
                <c:pt idx="23">
                  <c:v>Dec 2023</c:v>
                </c:pt>
                <c:pt idx="24">
                  <c:v>Jan 2024</c:v>
                </c:pt>
                <c:pt idx="25">
                  <c:v>Feb 2024</c:v>
                </c:pt>
                <c:pt idx="26">
                  <c:v>Mar 2024</c:v>
                </c:pt>
                <c:pt idx="27">
                  <c:v>Apr 2024</c:v>
                </c:pt>
                <c:pt idx="28">
                  <c:v>May 2024</c:v>
                </c:pt>
                <c:pt idx="29">
                  <c:v>Jun 2024</c:v>
                </c:pt>
                <c:pt idx="30">
                  <c:v>Jul 2024</c:v>
                </c:pt>
                <c:pt idx="31">
                  <c:v>Aug 2024</c:v>
                </c:pt>
                <c:pt idx="32">
                  <c:v>Sep 2024</c:v>
                </c:pt>
                <c:pt idx="33">
                  <c:v>Oct 2024</c:v>
                </c:pt>
                <c:pt idx="34">
                  <c:v>Nov 2024</c:v>
                </c:pt>
                <c:pt idx="35">
                  <c:v>Dec 2024</c:v>
                </c:pt>
                <c:pt idx="36">
                  <c:v>Jan 2025</c:v>
                </c:pt>
                <c:pt idx="37">
                  <c:v>Feb 2025</c:v>
                </c:pt>
                <c:pt idx="38">
                  <c:v>Mar 2025</c:v>
                </c:pt>
                <c:pt idx="39">
                  <c:v>Apr 2025</c:v>
                </c:pt>
                <c:pt idx="40">
                  <c:v>May 2025</c:v>
                </c:pt>
                <c:pt idx="41">
                  <c:v>Jun 2025</c:v>
                </c:pt>
                <c:pt idx="42">
                  <c:v>Jul 2025</c:v>
                </c:pt>
                <c:pt idx="43">
                  <c:v>Aug 2025</c:v>
                </c:pt>
                <c:pt idx="44">
                  <c:v>Sep 2025</c:v>
                </c:pt>
                <c:pt idx="45">
                  <c:v>Oct 2025</c:v>
                </c:pt>
                <c:pt idx="46">
                  <c:v>Nov 2025</c:v>
                </c:pt>
                <c:pt idx="47">
                  <c:v>Dec 2025</c:v>
                </c:pt>
              </c:strCache>
            </c: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65</c:v>
                </c:pt>
                <c:pt idx="1">
                  <c:v>65</c:v>
                </c:pt>
                <c:pt idx="2">
                  <c:v>65</c:v>
                </c:pt>
                <c:pt idx="3">
                  <c:v>65</c:v>
                </c:pt>
                <c:pt idx="4">
                  <c:v>65</c:v>
                </c:pt>
                <c:pt idx="5">
                  <c:v>65</c:v>
                </c:pt>
                <c:pt idx="6">
                  <c:v>65</c:v>
                </c:pt>
                <c:pt idx="7">
                  <c:v>65</c:v>
                </c:pt>
                <c:pt idx="8">
                  <c:v>65</c:v>
                </c:pt>
                <c:pt idx="9">
                  <c:v>65</c:v>
                </c:pt>
                <c:pt idx="10">
                  <c:v>65</c:v>
                </c:pt>
                <c:pt idx="11">
                  <c:v>65</c:v>
                </c:pt>
                <c:pt idx="12">
                  <c:v>65</c:v>
                </c:pt>
                <c:pt idx="13">
                  <c:v>65</c:v>
                </c:pt>
                <c:pt idx="14">
                  <c:v>65</c:v>
                </c:pt>
                <c:pt idx="15">
                  <c:v>65</c:v>
                </c:pt>
                <c:pt idx="16">
                  <c:v>65</c:v>
                </c:pt>
                <c:pt idx="17">
                  <c:v>65</c:v>
                </c:pt>
                <c:pt idx="18">
                  <c:v>65</c:v>
                </c:pt>
                <c:pt idx="19">
                  <c:v>65</c:v>
                </c:pt>
                <c:pt idx="20">
                  <c:v>65</c:v>
                </c:pt>
                <c:pt idx="21">
                  <c:v>65</c:v>
                </c:pt>
                <c:pt idx="22">
                  <c:v>65</c:v>
                </c:pt>
                <c:pt idx="23">
                  <c:v>65</c:v>
                </c:pt>
                <c:pt idx="24">
                  <c:v>65</c:v>
                </c:pt>
                <c:pt idx="25">
                  <c:v>65</c:v>
                </c:pt>
                <c:pt idx="26">
                  <c:v>65</c:v>
                </c:pt>
                <c:pt idx="27">
                  <c:v>65</c:v>
                </c:pt>
                <c:pt idx="28">
                  <c:v>65</c:v>
                </c:pt>
                <c:pt idx="29">
                  <c:v>65</c:v>
                </c:pt>
                <c:pt idx="30">
                  <c:v>65</c:v>
                </c:pt>
                <c:pt idx="31">
                  <c:v>65</c:v>
                </c:pt>
                <c:pt idx="32">
                  <c:v>65</c:v>
                </c:pt>
                <c:pt idx="33">
                  <c:v>65</c:v>
                </c:pt>
                <c:pt idx="34">
                  <c:v>65</c:v>
                </c:pt>
                <c:pt idx="35">
                  <c:v>65</c:v>
                </c:pt>
                <c:pt idx="36">
                  <c:v>65</c:v>
                </c:pt>
                <c:pt idx="37">
                  <c:v>65</c:v>
                </c:pt>
                <c:pt idx="38">
                  <c:v>65</c:v>
                </c:pt>
                <c:pt idx="39">
                  <c:v>65</c:v>
                </c:pt>
                <c:pt idx="40">
                  <c:v>65</c:v>
                </c:pt>
                <c:pt idx="41">
                  <c:v>65</c:v>
                </c:pt>
                <c:pt idx="42">
                  <c:v>65</c:v>
                </c:pt>
                <c:pt idx="43">
                  <c:v>65</c:v>
                </c:pt>
                <c:pt idx="44">
                  <c:v>65</c:v>
                </c:pt>
                <c:pt idx="45">
                  <c:v>65</c:v>
                </c:pt>
                <c:pt idx="46">
                  <c:v>65</c:v>
                </c:pt>
                <c:pt idx="47">
                  <c:v>65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E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  <c:tickMarkSkip val="12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3EA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E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E2F3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66"/>
          <c:h val="0.9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Adoption</c:v>
                </c:pt>
              </c:strCache>
            </c:strRef>
          </c:tx>
          <c:spPr>
            <a:solidFill>
              <a:srgbClr val="0B7A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9D9D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D9D6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9D9D6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C9D9D6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C9D9D6"/>
              </a:solidFill>
              <a:effectLst/>
            </c:spPr>
          </c:dPt>
          <c:cat>
            <c:strRef>
              <c:f>Sheet1!$A$2:$A$14</c:f>
              <c:strCache>
                <c:ptCount val="13"/>
                <c:pt idx="0">
                  <c:v>Najran   60.9%</c:v>
                </c:pt>
                <c:pt idx="1">
                  <c:v>Northern Borders   62.7%</c:v>
                </c:pt>
                <c:pt idx="2">
                  <c:v>Al-Baha   62.8%</c:v>
                </c:pt>
                <c:pt idx="3">
                  <c:v>Jazan   63.0%</c:v>
                </c:pt>
                <c:pt idx="4">
                  <c:v>Asir   64.4%</c:v>
                </c:pt>
                <c:pt idx="5">
                  <c:v>Tabuk   64.5%</c:v>
                </c:pt>
                <c:pt idx="6">
                  <c:v>Hail   64.7%</c:v>
                </c:pt>
                <c:pt idx="7">
                  <c:v>Al-Jouf   64.8%</c:v>
                </c:pt>
                <c:pt idx="8">
                  <c:v>Qassim   66.1%</c:v>
                </c:pt>
                <c:pt idx="9">
                  <c:v>Madinah   68.2%</c:v>
                </c:pt>
                <c:pt idx="10">
                  <c:v>Eastern Province   68.7%</c:v>
                </c:pt>
                <c:pt idx="11">
                  <c:v>Makkah   70.7%</c:v>
                </c:pt>
                <c:pt idx="12">
                  <c:v>Riyadh   70.8%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60.86</c:v>
                </c:pt>
                <c:pt idx="1">
                  <c:v>62.7</c:v>
                </c:pt>
                <c:pt idx="2">
                  <c:v>62.78</c:v>
                </c:pt>
                <c:pt idx="3">
                  <c:v>63.03</c:v>
                </c:pt>
                <c:pt idx="4">
                  <c:v>64.36</c:v>
                </c:pt>
                <c:pt idx="5">
                  <c:v>64.48</c:v>
                </c:pt>
                <c:pt idx="6">
                  <c:v>64.74</c:v>
                </c:pt>
                <c:pt idx="7">
                  <c:v>64.82</c:v>
                </c:pt>
                <c:pt idx="8">
                  <c:v>66.11</c:v>
                </c:pt>
                <c:pt idx="9">
                  <c:v>68.23</c:v>
                </c:pt>
                <c:pt idx="10">
                  <c:v>68.7</c:v>
                </c:pt>
                <c:pt idx="11">
                  <c:v>70.7</c:v>
                </c:pt>
                <c:pt idx="12">
                  <c:v>70.75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E2F3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b"/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Gap</c:v>
                </c:pt>
              </c:strCache>
            </c:strRef>
          </c:tx>
          <c:spPr>
            <a:solidFill>
              <a:srgbClr val="0B7A7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E2F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B7A7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9D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9D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9D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9D6"/>
              </a:solidFill>
              <a:effectLst/>
            </c:spPr>
          </c:dPt>
          <c:cat>
            <c:strRef>
              <c:f>Sheet1!$A$2:$A$9</c:f>
              <c:strCache>
                <c:ptCount val="8"/>
                <c:pt idx="0">
                  <c:v>Najran</c:v>
                </c:pt>
                <c:pt idx="1">
                  <c:v>Northern Borders</c:v>
                </c:pt>
                <c:pt idx="2">
                  <c:v>Al-Baha</c:v>
                </c:pt>
                <c:pt idx="3">
                  <c:v>Jazan</c:v>
                </c:pt>
                <c:pt idx="4">
                  <c:v>Asir</c:v>
                </c:pt>
                <c:pt idx="5">
                  <c:v>Tabuk</c:v>
                </c:pt>
                <c:pt idx="6">
                  <c:v>Hail</c:v>
                </c:pt>
                <c:pt idx="7">
                  <c:v>Al-Jouf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4.14</c:v>
                </c:pt>
                <c:pt idx="1">
                  <c:v>2.3</c:v>
                </c:pt>
                <c:pt idx="2">
                  <c:v>2.22</c:v>
                </c:pt>
                <c:pt idx="3">
                  <c:v>1.97</c:v>
                </c:pt>
                <c:pt idx="4">
                  <c:v>0.64</c:v>
                </c:pt>
                <c:pt idx="5">
                  <c:v>0.52</c:v>
                </c:pt>
                <c:pt idx="6">
                  <c:v>0.26</c:v>
                </c:pt>
                <c:pt idx="7">
                  <c:v>0.18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E2F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E2F3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السؤال: أين نوجه الميزانية؟ وما القرار المطلوب؟</a:t>
            </a:r>
          </a:p>
          <a:p>
            <a:r>
              <a:t>نطلب اعتماد 40 مليون ريال للمناطق الثماني الأقل من 65%. نخصص 35 مليونًا لنجران والحدود الشمالية والباحة وجازان، و5 ملايين لعسير وتبوك وحائل والجوف. ندعم الجميع، ونوجه معظم التمويل لأكبر الفجوات.</a:t>
            </a:r>
          </a:p>
          <a:p>
            <a:r>
              <a:t>تذكير: اذكر الطلب خلال أول 30 ثانية.</a:t>
            </a:r>
          </a:p>
          <a:p>
            <a:r>
              <a:t/>
            </a:r>
          </a:p>
          <a:p>
            <a:r>
              <a:t>المصدر: العرض المرفق وبيانات الدورة الاصطناعية.</a:t>
            </a:r>
          </a:p>
          <a:p>
            <a:r>
              <a:t>مرجع المقياس: https://public.tableau.com/views/Dvis_17912834975050/TayseerDigitalAdoption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السؤال: هل وصلنا للهدف وطنيًا؟ وما الاتجاه؟</a:t>
            </a:r>
          </a:p>
          <a:p>
            <a:r>
              <a:t>نعم؛ التبني 66.21%، أعلى من الهدف بـ1.21 نقطة. ارتفع من 54.14% في يناير 2022، بتحسن نحو 12 نقطة. لكن المتوسط الوطني يخفي مناطق متأخرة.</a:t>
            </a:r>
          </a:p>
          <a:p>
            <a:r>
              <a:t>إذا سُئلت عن الحساب: متوسط نسب التبني مرجح بعدد المستخدمين، بنفس تعريف تابلو.</a:t>
            </a:r>
          </a:p>
          <a:p>
            <a:r>
              <a:t/>
            </a:r>
          </a:p>
          <a:p>
            <a:r>
              <a:t>المصدر: العرض المرفق وبيانات الدورة الاصطناعية.</a:t>
            </a:r>
          </a:p>
          <a:p>
            <a:r>
              <a:t>مرجع المقياس: https://public.tableau.com/views/Dvis_17912834975050/TayseerDigitalAdoption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السؤال: ما المناطق المتأخرة؟ وما المشكلة؟</a:t>
            </a:r>
          </a:p>
          <a:p>
            <a:r>
              <a:t>ثماني مناطق تحت الهدف: نجران، الحدود الشمالية، الباحة، جازان، عسير، تبوك، حائل والجوف. نجران الأقل عند 60.9%، بفجوة نحو 4 نقاط. اللون الداكن يعني أقل من 65%، والخط البرتقالي هو الهدف.</a:t>
            </a:r>
          </a:p>
          <a:p>
            <a:r>
              <a:t>إذا سُئلت: ارتفاع المتوسط الوطني لا يعني أن جميع المناطق وصلت للهدف. الباحة مظللة لأنها أقل منه.</a:t>
            </a:r>
          </a:p>
          <a:p>
            <a:r>
              <a:t/>
            </a:r>
          </a:p>
          <a:p>
            <a:r>
              <a:t>المصدر: العرض المرفق وبيانات الدورة الاصطناعية.</a:t>
            </a:r>
          </a:p>
          <a:p>
            <a:r>
              <a:t>مرجع المقياس: https://public.tableau.com/views/Dvis_17912834975050/TayseerDigitalAdoption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السؤال: من له الأولوية؟ ولماذا؟</a:t>
            </a:r>
          </a:p>
          <a:p>
            <a:r>
              <a:t>نجران والحدود الشمالية والباحة وجازان تمثل حوالي 87% من مجموع الفجوات، لذلك تستحق معظم التمويل. نحسب فجوة المنطقة بطرح نسبة تبنيها من 65%.</a:t>
            </a:r>
          </a:p>
          <a:p>
            <a:r>
              <a:t>إذا سُئلت عن 87%: مجموع فجوات الأربع مقسوم على مجموع فجوات الثماني؛ ليست نسبة سكان أو معاملات.</a:t>
            </a:r>
          </a:p>
          <a:p>
            <a:r>
              <a:t/>
            </a:r>
          </a:p>
          <a:p>
            <a:r>
              <a:t>المصدر: العرض المرفق وبيانات الدورة الاصطناعية.</a:t>
            </a:r>
          </a:p>
          <a:p>
            <a:r>
              <a:t>مرجع المقياس: https://public.tableau.com/views/Dvis_17912834975050/TayseerDigitalAdoption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السؤال: ما خيارات توزيع 40 مليونًا؟</a:t>
            </a:r>
          </a:p>
          <a:p>
            <a:r>
              <a:t>الأول: 5 ملايين لكل منطقة؛ بسيط لكنه يتجاهل اختلاف الفجوات. الثاني: 10 ملايين لكل من أكبر أربع فجوات؛ لكنه يترك أربع مناطق بلا تمويل. نوصي بالثالث: 35 مليونًا للأربع الأكبر و5 ملايين للأخرى؛ يغطي الجميع حسب الحاجة.</a:t>
            </a:r>
          </a:p>
          <a:p>
            <a:r>
              <a:t>القيد: نتحقق من التكاليف المحلية قبل الصرف.</a:t>
            </a:r>
          </a:p>
          <a:p>
            <a:r>
              <a:t/>
            </a:r>
          </a:p>
          <a:p>
            <a:r>
              <a:t>المصدر: العرض المرفق وبيانات الدورة الاصطناعية.</a:t>
            </a:r>
          </a:p>
          <a:p>
            <a:r>
              <a:t>مرجع المقياس: https://public.tableau.com/views/Dvis_17912834975050/TayseerDigitalAdoption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السؤال: ما التوزيع المقترح؟ وما أثره؟</a:t>
            </a:r>
          </a:p>
          <a:p>
            <a:r>
              <a:t>نجران 13.5 مليون، الحدود الشمالية 7.5، الباحة 7.5، جازان 6.5. والبقية: عسير 2، تبوك 1.5، حائل 1، والجوف 0.5. الإجمالي 40 مليونًا، كلها للمناطق.</a:t>
            </a:r>
          </a:p>
          <a:p>
            <a:r>
              <a:t>إذا سُئلت عن الحساب: توزيع بحسب الفجوات مع التقريب لنصف مليون وضبط الإجمالي. الهدف رفع التبني نحو 65%؛ مقدار التحسن غير مثبت بهذه البيانات.</a:t>
            </a:r>
          </a:p>
          <a:p>
            <a:r>
              <a:t/>
            </a:r>
          </a:p>
          <a:p>
            <a:r>
              <a:t>المصدر: العرض المرفق وبيانات الدورة الاصطناعية.</a:t>
            </a:r>
          </a:p>
          <a:p>
            <a:r>
              <a:t>مرجع المقياس: https://public.tableau.com/views/Dvis_17912834975050/TayseerDigitalAdoption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السؤال: ما الموافقة المطلوبة؟ وماذا نفعل بعدها؟</a:t>
            </a:r>
          </a:p>
          <a:p>
            <a:r>
              <a:t>نطلب اعتماد الأربعين مليون وتحديد مسؤول التنفيذ. خلال 30 يومًا نراجع خطط الخدمات والتكاليف قبل الصرف. بعد ستة أشهر نراجع التبني والإنفاق وجودة الخدمة، ونعدل خطة أي منطقة لا تتحسن.</a:t>
            </a:r>
          </a:p>
          <a:p>
            <a:r>
              <a:t>إذا سُئلت: هذه مواعيد مقترحة. المراجعة نقطة متابعة، وجميع المبالغ مخصصة للمناطق.</a:t>
            </a:r>
          </a:p>
          <a:p>
            <a:r>
              <a:t/>
            </a:r>
          </a:p>
          <a:p>
            <a:r>
              <a:t>المصدر: العرض المرفق وبيانات الدورة الاصطناعية.</a:t>
            </a:r>
          </a:p>
          <a:p>
            <a:r>
              <a:t>مرجع المقياس: https://public.tableau.com/views/Dvis_17912834975050/TayseerDigitalAdoption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CC5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SAR 40M for the eight regions below 65%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lagging region gets support, and most of the money goes to the widest gaps.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5394960" cy="2331720"/>
          </a:xfrm>
          <a:prstGeom prst="roundRect">
            <a:avLst>
              <a:gd name="adj" fmla="val 4706"/>
            </a:avLst>
          </a:prstGeom>
          <a:solidFill>
            <a:srgbClr val="1C4650"/>
          </a:solidFill>
          <a:ln w="12700">
            <a:solidFill>
              <a:srgbClr val="1C46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7490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6CC5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35M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63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widest gaps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120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 · Northern Borders · Al-Baha · Jazan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3520440"/>
            <a:ext cx="5394960" cy="2331720"/>
          </a:xfrm>
          <a:prstGeom prst="roundRect">
            <a:avLst>
              <a:gd name="adj" fmla="val 4706"/>
            </a:avLst>
          </a:prstGeom>
          <a:solidFill>
            <a:srgbClr val="1C4650"/>
          </a:solidFill>
          <a:ln w="12700">
            <a:solidFill>
              <a:srgbClr val="1C46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37490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0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5M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4663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four regions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5120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Asir · Tabuk · Hail · Al-Jouf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SDAIA Academy · SDA-DSC-112 · Synthetic training data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adoption passed 65%, but the average hides the gaps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291840" cy="4480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AAFB0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2025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66.21%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17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adoption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5760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+1.2 points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the 65% target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 points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January 2022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14800" y="1463040"/>
            <a:ext cx="7525512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AAFB0">
                <a:alpha val="25000"/>
              </a:srgbClr>
            </a:outerShdw>
          </a:effectLst>
        </p:spPr>
      </p:sp>
      <p:graphicFrame>
        <p:nvGraphicFramePr>
          <p:cNvPr id="9" name="Chart 0" descr=""/>
          <p:cNvGraphicFramePr/>
          <p:nvPr/>
        </p:nvGraphicFramePr>
        <p:xfrm>
          <a:off x="4297680" y="1600200"/>
          <a:ext cx="7178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SDAIA Academy · SDA-DSC-112 · Synthetic training data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of 13 regions are still below 65%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863840" cy="4709160"/>
          </a:xfrm>
          <a:prstGeom prst="roundRect">
            <a:avLst>
              <a:gd name="adj" fmla="val 23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AAFB0">
                <a:alpha val="25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731520" y="1508760"/>
          <a:ext cx="749808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001789" y="1596085"/>
            <a:ext cx="0" cy="4125773"/>
          </a:xfrm>
          <a:prstGeom prst="line">
            <a:avLst/>
          </a:prstGeom>
          <a:noFill/>
          <a:ln w="25400">
            <a:solidFill>
              <a:srgbClr val="C2611F"/>
            </a:solidFill>
            <a:prstDash val="dash"/>
          </a:ln>
        </p:spPr>
      </p:sp>
      <p:sp>
        <p:nvSpPr>
          <p:cNvPr id="6" name="Text 3"/>
          <p:cNvSpPr txBox="1"/>
          <p:nvPr/>
        </p:nvSpPr>
        <p:spPr>
          <a:xfrm>
            <a:off x="6361709" y="1417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6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target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1463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26060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below target, shown in dark teal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342900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 is furthest behind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60.9%, about 4 points short.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four lift the average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Riyadh, Makkah, Eastern Province and Madinah sit well above 65%.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SDAIA Academy · SDA-DSC-112 · Synthetic training data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regions hold 87% of the total gap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315200" cy="4709160"/>
          </a:xfrm>
          <a:prstGeom prst="roundRect">
            <a:avLst>
              <a:gd name="adj" fmla="val 23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AAFB0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below the 65% target, December 2025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192024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0" y="137160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80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26060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combined gap sits in Najran, Northern Borders, Al-Baha and Jazan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3886200"/>
            <a:ext cx="3410712" cy="1463040"/>
          </a:xfrm>
          <a:prstGeom prst="roundRect">
            <a:avLst>
              <a:gd name="adj" fmla="val 6250"/>
            </a:avLst>
          </a:prstGeom>
          <a:solidFill>
            <a:srgbClr val="E1EEEC"/>
          </a:solidFill>
          <a:ln w="12700">
            <a:solidFill>
              <a:srgbClr val="E1EE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58200" y="402336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four need most of the money. The other four are close to target and need a smaller push.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SDAIA Academy · SDA-DSC-112 · Synthetic training data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by size of gap covers everyone and follows need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AAFB0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9202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402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funding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5M to each of the 8 regions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9476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and equal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26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a 4-point gap the same as a 0.2-point gap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06824" y="160020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AAFB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26864" y="19202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26864" y="22402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regions only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27889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10M to each of the widest four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79476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focus on the biggest gaps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26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lagging regions get nothing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65008" y="160020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12343B"/>
          </a:solidFill>
          <a:ln w="12700">
            <a:solidFill>
              <a:srgbClr val="12343B"/>
            </a:solidFill>
            <a:prstDash val="solid"/>
          </a:ln>
          <a:effectLst>
            <a:outerShdw sx="100000" sy="100000" kx="0" ky="0" algn="bl" rotWithShape="0" blurRad="76200" dist="25400" dir="5400000">
              <a:srgbClr val="9AAFB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85048" y="1417320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C2611F"/>
          </a:solidFill>
          <a:ln w="12700">
            <a:solidFill>
              <a:srgbClr val="C261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5048" y="14173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85048" y="19202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CC5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85048" y="22402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size of gap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385048" y="27889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35M to the widest four, SAR 5M to the other four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85048" y="379476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CC5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all eight and follows need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0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costs must be checked before spending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SDAIA Academy · SDA-DSC-112 · Synthetic training data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35M to the four widest gaps, SAR 5M to the other four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1645920"/>
              </a:tblGrid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(points)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 million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7A75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23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widest gaps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23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C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Najran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5E6E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Northern Borders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5E6E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Al-Baha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5E6E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Jazan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5E6E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23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four regions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234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C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5E6E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Tabuk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5E6E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5E6E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Al-Jouf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5E6E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E2F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43B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949440" y="1417320"/>
            <a:ext cx="4690872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AAFB0">
                <a:alpha val="2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269480" y="16002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35M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269480" y="2377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Najran, Northern Borders, Al-Baha and Jazan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949440" y="3200400"/>
            <a:ext cx="4690872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AAFB0">
                <a:alpha val="2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269480" y="3383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6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5M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26948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Asir, Tabuk, Hail and Al-Jouf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5074920"/>
            <a:ext cx="4690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split it: </a:t>
            </a:r>
            <a:pPr indent="0" marL="0">
              <a:buNone/>
            </a:pPr>
            <a:r>
              <a:rPr lang="en-US" sz="15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a region's gap, the bigger its share of the SAR 40M. All of it goes to the regions.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SDAIA Academy · SDA-DSC-112 · Synthetic training data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3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CC5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SAR 40M for all eight regions today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005840" y="2788920"/>
            <a:ext cx="7680960" cy="0"/>
          </a:xfrm>
          <a:prstGeom prst="line">
            <a:avLst/>
          </a:prstGeom>
          <a:noFill/>
          <a:ln w="25400">
            <a:solidFill>
              <a:srgbClr val="3E66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514600"/>
            <a:ext cx="548640" cy="548640"/>
          </a:xfrm>
          <a:prstGeom prst="ellipse">
            <a:avLst/>
          </a:prstGeom>
          <a:solidFill>
            <a:srgbClr val="6CC5BF"/>
          </a:solidFill>
          <a:ln w="38100">
            <a:solidFill>
              <a:srgbClr val="1234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CC5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490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allocation and name a delivery lead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0" y="2514600"/>
            <a:ext cx="548640" cy="548640"/>
          </a:xfrm>
          <a:prstGeom prst="ellipse">
            <a:avLst/>
          </a:prstGeom>
          <a:solidFill>
            <a:srgbClr val="6CC5BF"/>
          </a:solidFill>
          <a:ln w="38100">
            <a:solidFill>
              <a:srgbClr val="1234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291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CC5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30 days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37490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local costs and service plans before spending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412480" y="2514600"/>
            <a:ext cx="548640" cy="548640"/>
          </a:xfrm>
          <a:prstGeom prst="ellipse">
            <a:avLst/>
          </a:prstGeom>
          <a:solidFill>
            <a:srgbClr val="F0A96E"/>
          </a:solidFill>
          <a:ln w="38100">
            <a:solidFill>
              <a:srgbClr val="1234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291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 months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37490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regional adoption, spending and service quality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091672" cy="1143000"/>
          </a:xfrm>
          <a:prstGeom prst="roundRect">
            <a:avLst>
              <a:gd name="adj" fmla="val 9600"/>
            </a:avLst>
          </a:prstGeom>
          <a:solidFill>
            <a:srgbClr val="F4F7F6"/>
          </a:solidFill>
          <a:ln w="12700">
            <a:solidFill>
              <a:srgbClr val="F4F7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8463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7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goal: </a:t>
            </a:r>
            <a:pPr indent="0" marL="0">
              <a:buNone/>
            </a:pPr>
            <a:r>
              <a:rPr lang="en-US" sz="190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funded region moves closer to 65%. If a region does not improve, we adjust its plan.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SDAIA Academy · SDA-DSC-112 · Synthetic training data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Tayseer: Directing the Next SAR 40M</dc:title>
  <dc:subject>PptxGenJS Presentation</dc:subject>
  <dc:creator>Tayseer Capstone Team</dc:creator>
  <cp:lastModifiedBy>Tayseer Capstone Team</cp:lastModifiedBy>
  <cp:revision>1</cp:revision>
  <dcterms:created xsi:type="dcterms:W3CDTF">2026-10-06T16:49:49Z</dcterms:created>
  <dcterms:modified xsi:type="dcterms:W3CDTF">2026-10-06T16:49:49Z</dcterms:modified>
</cp:coreProperties>
</file>